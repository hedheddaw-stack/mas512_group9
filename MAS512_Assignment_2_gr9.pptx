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x="12192000" cy="5668963"/>
  <p:notesSz cx="5668963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1" autoAdjust="0"/>
    <p:restoredTop sz="94610"/>
  </p:normalViewPr>
  <p:slideViewPr>
    <p:cSldViewPr snapToGrid="0" snapToObjects="1">
      <p:cViewPr>
        <p:scale>
          <a:sx n="96" d="100"/>
          <a:sy n="96" d="100"/>
        </p:scale>
        <p:origin x="8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1612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320040"/>
            <a:ext cx="1691640" cy="1691640"/>
          </a:xfrm>
          <a:prstGeom prst="ellipse">
            <a:avLst/>
          </a:prstGeom>
          <a:solidFill>
            <a:srgbClr val="E3F3EF"/>
          </a:solidFill>
          <a:ln w="12700">
            <a:solidFill>
              <a:srgbClr val="E3F3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10881360" y="393192"/>
            <a:ext cx="228600" cy="457200"/>
          </a:xfrm>
          <a:prstGeom prst="rect">
            <a:avLst/>
          </a:prstGeom>
          <a:solidFill>
            <a:srgbClr val="66A9DF"/>
          </a:solidFill>
          <a:ln w="12700">
            <a:solidFill>
              <a:srgbClr val="66A9D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Shape 2"/>
          <p:cNvSpPr/>
          <p:nvPr/>
        </p:nvSpPr>
        <p:spPr>
          <a:xfrm>
            <a:off x="10972800" y="54864"/>
            <a:ext cx="91440" cy="91440"/>
          </a:xfrm>
          <a:prstGeom prst="ellipse">
            <a:avLst/>
          </a:prstGeom>
          <a:solidFill>
            <a:srgbClr val="142E53"/>
          </a:solidFill>
          <a:ln w="12700">
            <a:solidFill>
              <a:srgbClr val="142E5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11000232" y="109728"/>
            <a:ext cx="0" cy="310896"/>
          </a:xfrm>
          <a:prstGeom prst="line">
            <a:avLst/>
          </a:prstGeom>
          <a:noFill/>
          <a:ln w="17780">
            <a:solidFill>
              <a:srgbClr val="142E53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 txBox="1"/>
          <p:nvPr/>
        </p:nvSpPr>
        <p:spPr>
          <a:xfrm>
            <a:off x="3931920" y="713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kern="0" spc="12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OF AGDER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152144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MAS512  Assignment 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6916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7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9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0" y="2176272"/>
            <a:ext cx="7059168" cy="493776"/>
          </a:xfrm>
          <a:prstGeom prst="roundRect">
            <a:avLst>
              <a:gd name="adj" fmla="val 24074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2743200" y="2286000"/>
            <a:ext cx="1508760" cy="246888"/>
          </a:xfrm>
          <a:prstGeom prst="roundRect">
            <a:avLst>
              <a:gd name="adj" fmla="val 4814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 txBox="1"/>
          <p:nvPr/>
        </p:nvSpPr>
        <p:spPr>
          <a:xfrm>
            <a:off x="2798064" y="2295144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347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Geometry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407408" y="2286000"/>
            <a:ext cx="1508760" cy="246888"/>
          </a:xfrm>
          <a:prstGeom prst="roundRect">
            <a:avLst>
              <a:gd name="adj" fmla="val 48148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" name="Text 11"/>
          <p:cNvSpPr txBox="1"/>
          <p:nvPr/>
        </p:nvSpPr>
        <p:spPr>
          <a:xfrm>
            <a:off x="4462272" y="2295144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DC57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Tracking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071616" y="2286000"/>
            <a:ext cx="1508760" cy="246888"/>
          </a:xfrm>
          <a:prstGeom prst="roundRect">
            <a:avLst>
              <a:gd name="adj" fmla="val 48148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3"/>
          <p:cNvSpPr txBox="1"/>
          <p:nvPr/>
        </p:nvSpPr>
        <p:spPr>
          <a:xfrm>
            <a:off x="6126480" y="2295144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5A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Fusion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735824" y="2286000"/>
            <a:ext cx="1508760" cy="246888"/>
          </a:xfrm>
          <a:prstGeom prst="roundRect">
            <a:avLst>
              <a:gd name="adj" fmla="val 48148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5"/>
          <p:cNvSpPr txBox="1"/>
          <p:nvPr/>
        </p:nvSpPr>
        <p:spPr>
          <a:xfrm>
            <a:off x="7790688" y="2295144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9B7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Navigation</a:t>
            </a:r>
            <a:endParaRPr lang="en-US" sz="92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063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52928" y="3520440"/>
            <a:ext cx="1700784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7620">
            <a:solidFill>
              <a:srgbClr val="142E53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8"/>
          <p:cNvSpPr txBox="1"/>
          <p:nvPr/>
        </p:nvSpPr>
        <p:spPr>
          <a:xfrm>
            <a:off x="2944368" y="365760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Renwa Hamid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4754880" y="3520440"/>
            <a:ext cx="2688336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7620">
            <a:solidFill>
              <a:srgbClr val="142E53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 txBox="1"/>
          <p:nvPr/>
        </p:nvSpPr>
        <p:spPr>
          <a:xfrm>
            <a:off x="4846320" y="3657600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Sebastian Skogland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7644384" y="3520440"/>
            <a:ext cx="2212848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7620">
            <a:solidFill>
              <a:srgbClr val="142E53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Text 22"/>
          <p:cNvSpPr txBox="1"/>
          <p:nvPr/>
        </p:nvSpPr>
        <p:spPr>
          <a:xfrm>
            <a:off x="7735824" y="3657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Olsen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4370832" y="5074920"/>
            <a:ext cx="3456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11548872" y="164592"/>
            <a:ext cx="228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 txBox="1"/>
          <p:nvPr/>
        </p:nvSpPr>
        <p:spPr>
          <a:xfrm>
            <a:off x="530352" y="173736"/>
            <a:ext cx="11064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Assignment 2 — Our workflow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camera-based tracking to LiDAR, sensor fusion and autonomous control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" y="1344168"/>
            <a:ext cx="2697480" cy="2670048"/>
          </a:xfrm>
          <a:prstGeom prst="roundRect">
            <a:avLst>
              <a:gd name="adj" fmla="val 4452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9" name="Shape 7"/>
          <p:cNvSpPr/>
          <p:nvPr/>
        </p:nvSpPr>
        <p:spPr>
          <a:xfrm>
            <a:off x="1536192" y="1581912"/>
            <a:ext cx="777240" cy="777240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8"/>
          <p:cNvSpPr txBox="1"/>
          <p:nvPr/>
        </p:nvSpPr>
        <p:spPr>
          <a:xfrm>
            <a:off x="1545336" y="176479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25786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" y="3054096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trajectory, camera intrinsics and coordinate mapping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38728" y="1344168"/>
            <a:ext cx="2697480" cy="2670048"/>
          </a:xfrm>
          <a:prstGeom prst="roundRect">
            <a:avLst>
              <a:gd name="adj" fmla="val 4452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Shape 12"/>
          <p:cNvSpPr/>
          <p:nvPr/>
        </p:nvSpPr>
        <p:spPr>
          <a:xfrm>
            <a:off x="4443984" y="1581912"/>
            <a:ext cx="777240" cy="777240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3"/>
          <p:cNvSpPr txBox="1"/>
          <p:nvPr/>
        </p:nvSpPr>
        <p:spPr>
          <a:xfrm>
            <a:off x="4453128" y="176479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3739896" y="25786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39896" y="3054096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Point-cloud clustering, load motion and KISS-ICP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1344168"/>
            <a:ext cx="2697480" cy="2670048"/>
          </a:xfrm>
          <a:prstGeom prst="roundRect">
            <a:avLst>
              <a:gd name="adj" fmla="val 4452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Shape 17"/>
          <p:cNvSpPr/>
          <p:nvPr/>
        </p:nvSpPr>
        <p:spPr>
          <a:xfrm>
            <a:off x="7351776" y="1581912"/>
            <a:ext cx="777240" cy="777240"/>
          </a:xfrm>
          <a:prstGeom prst="ellipse">
            <a:avLst/>
          </a:prstGeom>
          <a:solidFill>
            <a:srgbClr val="DC5791"/>
          </a:solidFill>
          <a:ln w="12700">
            <a:solidFill>
              <a:srgbClr val="DC579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8"/>
          <p:cNvSpPr txBox="1"/>
          <p:nvPr/>
        </p:nvSpPr>
        <p:spPr>
          <a:xfrm>
            <a:off x="7360920" y="176479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25786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Camera–LiDAR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47688" y="3054096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 calibration, 3D ranging and validation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54312" y="1344168"/>
            <a:ext cx="2697480" cy="2670048"/>
          </a:xfrm>
          <a:prstGeom prst="roundRect">
            <a:avLst>
              <a:gd name="adj" fmla="val 4452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Shape 22"/>
          <p:cNvSpPr/>
          <p:nvPr/>
        </p:nvSpPr>
        <p:spPr>
          <a:xfrm>
            <a:off x="10259568" y="1581912"/>
            <a:ext cx="777240" cy="777240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" name="Text 23"/>
          <p:cNvSpPr txBox="1"/>
          <p:nvPr/>
        </p:nvSpPr>
        <p:spPr>
          <a:xfrm>
            <a:off x="10268712" y="176479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2300" dirty="0"/>
          </a:p>
        </p:txBody>
      </p:sp>
      <p:sp>
        <p:nvSpPr>
          <p:cNvPr id="26" name="Text 24"/>
          <p:cNvSpPr txBox="1"/>
          <p:nvPr/>
        </p:nvSpPr>
        <p:spPr>
          <a:xfrm>
            <a:off x="9555480" y="25786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Webots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555480" y="3054096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Waypoint control, wheel slip and sensor logging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51560" y="4389120"/>
            <a:ext cx="10058400" cy="512064"/>
          </a:xfrm>
          <a:prstGeom prst="roundRect">
            <a:avLst>
              <a:gd name="adj" fmla="val 23214"/>
            </a:avLst>
          </a:prstGeom>
          <a:solidFill>
            <a:srgbClr val="ECF4FA"/>
          </a:solidFill>
          <a:ln w="12700">
            <a:solidFill>
              <a:srgbClr val="ECF4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Text 27"/>
          <p:cNvSpPr txBox="1"/>
          <p:nvPr/>
        </p:nvSpPr>
        <p:spPr>
          <a:xfrm>
            <a:off x="1271016" y="4517136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1 models are reused where relevant; results shown in this deck come from the Assignment 2 notebook.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Q1(a) Camera → 3D coordinates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the Assignment 1 YOLO model to reconstruct the swinging-load trajectory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1216152"/>
            <a:ext cx="2670048" cy="1298448"/>
          </a:xfrm>
          <a:prstGeom prst="roundRect">
            <a:avLst>
              <a:gd name="adj" fmla="val 9155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685800" y="1335024"/>
            <a:ext cx="338328" cy="338328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685800" y="1344168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1344168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 + depth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" y="1773936"/>
            <a:ext cx="231343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900 RGB images with their aligned raw depth frames.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364992" y="1216152"/>
            <a:ext cx="2670048" cy="1298448"/>
          </a:xfrm>
          <a:prstGeom prst="roundRect">
            <a:avLst>
              <a:gd name="adj" fmla="val 9155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Shape 14"/>
          <p:cNvSpPr/>
          <p:nvPr/>
        </p:nvSpPr>
        <p:spPr>
          <a:xfrm>
            <a:off x="3483864" y="1335024"/>
            <a:ext cx="338328" cy="338328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5"/>
          <p:cNvSpPr txBox="1"/>
          <p:nvPr/>
        </p:nvSpPr>
        <p:spPr>
          <a:xfrm>
            <a:off x="3483864" y="1344168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344168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 detection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38728" y="1773936"/>
            <a:ext cx="231343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the load bounding box and calculate its center (u, v).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63056" y="1216152"/>
            <a:ext cx="2670048" cy="1298448"/>
          </a:xfrm>
          <a:prstGeom prst="roundRect">
            <a:avLst>
              <a:gd name="adj" fmla="val 9155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Shape 19"/>
          <p:cNvSpPr/>
          <p:nvPr/>
        </p:nvSpPr>
        <p:spPr>
          <a:xfrm>
            <a:off x="6281928" y="1335024"/>
            <a:ext cx="338328" cy="338328"/>
          </a:xfrm>
          <a:prstGeom prst="ellipse">
            <a:avLst/>
          </a:prstGeom>
          <a:solidFill>
            <a:srgbClr val="DC5791"/>
          </a:solidFill>
          <a:ln w="12700">
            <a:solidFill>
              <a:srgbClr val="DC579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 txBox="1"/>
          <p:nvPr/>
        </p:nvSpPr>
        <p:spPr>
          <a:xfrm>
            <a:off x="6281928" y="1344168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711696" y="1344168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sampling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773936"/>
            <a:ext cx="231343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depth at center; use nearest valid pixel in box if missing.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961120" y="1216152"/>
            <a:ext cx="2670048" cy="1298448"/>
          </a:xfrm>
          <a:prstGeom prst="roundRect">
            <a:avLst>
              <a:gd name="adj" fmla="val 9155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6" name="Shape 24"/>
          <p:cNvSpPr/>
          <p:nvPr/>
        </p:nvSpPr>
        <p:spPr>
          <a:xfrm>
            <a:off x="9079992" y="1335024"/>
            <a:ext cx="338328" cy="338328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Text 25"/>
          <p:cNvSpPr txBox="1"/>
          <p:nvPr/>
        </p:nvSpPr>
        <p:spPr>
          <a:xfrm>
            <a:off x="9079992" y="1344168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1344168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conversion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34856" y="1773936"/>
            <a:ext cx="231343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focal lengths and principal point from the intrinsic matrix.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7784" y="2761488"/>
            <a:ext cx="6720840" cy="2203704"/>
          </a:xfrm>
          <a:prstGeom prst="roundRect">
            <a:avLst>
              <a:gd name="adj" fmla="val 5394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1" name="Shape 29"/>
          <p:cNvSpPr/>
          <p:nvPr/>
        </p:nvSpPr>
        <p:spPr>
          <a:xfrm>
            <a:off x="758952" y="2944368"/>
            <a:ext cx="2157984" cy="320040"/>
          </a:xfrm>
          <a:prstGeom prst="roundRect">
            <a:avLst>
              <a:gd name="adj" fmla="val 37143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2" name="Text 30"/>
          <p:cNvSpPr txBox="1"/>
          <p:nvPr/>
        </p:nvSpPr>
        <p:spPr>
          <a:xfrm>
            <a:off x="813816" y="2953512"/>
            <a:ext cx="20482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Pinhole camera model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342900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(u − cₓ) · Z / fₓ</a:t>
            </a:r>
            <a:endParaRPr lang="en-US" sz="21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97764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(v − cᵧ) · Z / fᵧ      Z = depth [m]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59536" y="4626864"/>
            <a:ext cx="6355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Aligned RGB and depth pixels are combined to obtain camera-frame XYZ coordinates.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43800" y="2779776"/>
            <a:ext cx="1920240" cy="1014984"/>
          </a:xfrm>
          <a:prstGeom prst="roundRect">
            <a:avLst>
              <a:gd name="adj" fmla="val 11712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7" name="Text 35"/>
          <p:cNvSpPr txBox="1"/>
          <p:nvPr/>
        </p:nvSpPr>
        <p:spPr>
          <a:xfrm>
            <a:off x="7607808" y="2862072"/>
            <a:ext cx="1792224" cy="4770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900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7626096" y="3398916"/>
            <a:ext cx="1755648" cy="2841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 + depth pairs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9601200" y="2779776"/>
            <a:ext cx="1920240" cy="1014984"/>
          </a:xfrm>
          <a:prstGeom prst="roundRect">
            <a:avLst>
              <a:gd name="adj" fmla="val 11712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0" name="Text 38"/>
          <p:cNvSpPr txBox="1"/>
          <p:nvPr/>
        </p:nvSpPr>
        <p:spPr>
          <a:xfrm>
            <a:off x="9665208" y="2862072"/>
            <a:ext cx="1792224" cy="4770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889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9683496" y="3398916"/>
            <a:ext cx="1755648" cy="2841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detections</a:t>
            </a:r>
            <a:endParaRPr lang="en-US" sz="940" dirty="0"/>
          </a:p>
        </p:txBody>
      </p:sp>
      <p:sp>
        <p:nvSpPr>
          <p:cNvPr id="42" name="Shape 40"/>
          <p:cNvSpPr/>
          <p:nvPr/>
        </p:nvSpPr>
        <p:spPr>
          <a:xfrm>
            <a:off x="7543800" y="4014216"/>
            <a:ext cx="3986784" cy="941832"/>
          </a:xfrm>
          <a:prstGeom prst="roundRect">
            <a:avLst>
              <a:gd name="adj" fmla="val 12621"/>
            </a:avLst>
          </a:prstGeom>
          <a:solidFill>
            <a:srgbClr val="FFF2D4"/>
          </a:solidFill>
          <a:ln w="12700">
            <a:solidFill>
              <a:srgbClr val="FFF2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3" name="Text 41"/>
          <p:cNvSpPr txBox="1"/>
          <p:nvPr/>
        </p:nvSpPr>
        <p:spPr>
          <a:xfrm>
            <a:off x="7772400" y="417880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frames with no YOLO detection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772400" y="4553712"/>
            <a:ext cx="3575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positions were created for detected frames.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Q1(a) Depth handling and filtering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center depth and measurement spikes are handled before 3D reconstruction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9496" y="1252728"/>
            <a:ext cx="7406640" cy="3557016"/>
          </a:xfrm>
          <a:prstGeom prst="roundRect">
            <a:avLst>
              <a:gd name="adj" fmla="val 3342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667512" y="1362456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722376" y="13716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depth vs cleaned depth</a:t>
            </a:r>
            <a:endParaRPr lang="en-US" sz="1000" dirty="0"/>
          </a:p>
        </p:txBody>
      </p:sp>
      <p:pic>
        <p:nvPicPr>
          <p:cNvPr id="13" name="Image 0" descr="/mnt/data/ppt_work/notebook_assets/cell_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77" y="1691640"/>
            <a:ext cx="6434677" cy="30358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119872" y="1252728"/>
            <a:ext cx="3520440" cy="960120"/>
          </a:xfrm>
          <a:prstGeom prst="roundRect">
            <a:avLst>
              <a:gd name="adj" fmla="val 12381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2"/>
          <p:cNvSpPr txBox="1"/>
          <p:nvPr/>
        </p:nvSpPr>
        <p:spPr>
          <a:xfrm>
            <a:off x="8330184" y="1426464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57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336 → 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293608" y="1865376"/>
            <a:ext cx="31638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depths among detected frames¹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19872" y="2386584"/>
            <a:ext cx="3520440" cy="960120"/>
          </a:xfrm>
          <a:prstGeom prst="roundRect">
            <a:avLst>
              <a:gd name="adj" fmla="val 12381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Text 15"/>
          <p:cNvSpPr txBox="1"/>
          <p:nvPr/>
        </p:nvSpPr>
        <p:spPr>
          <a:xfrm>
            <a:off x="8330184" y="2523744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5A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8293608" y="2962656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 depth samples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119872" y="3511296"/>
            <a:ext cx="3520440" cy="1298448"/>
          </a:xfrm>
          <a:prstGeom prst="roundRect">
            <a:avLst>
              <a:gd name="adj" fmla="val 9155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8"/>
          <p:cNvSpPr txBox="1"/>
          <p:nvPr/>
        </p:nvSpPr>
        <p:spPr>
          <a:xfrm>
            <a:off x="8293608" y="3675888"/>
            <a:ext cx="3145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93608" y="3995928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 valid depth in YOLO box → 7-sample local median → flag deviations &gt; 0.5 m → interpolate.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7512" y="498348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¹ For 889 detected frames; undetected frames are not included.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Q1(a–b) 3D trajectories — two camera matrices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detected pixels and cleaned depth values give different XYZ positions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115568"/>
            <a:ext cx="5532120" cy="3575304"/>
          </a:xfrm>
          <a:prstGeom prst="roundRect">
            <a:avLst>
              <a:gd name="adj" fmla="val 3325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676656" y="1225296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731520" y="123444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o₁ using lab matrix M_int</a:t>
            </a:r>
            <a:endParaRPr lang="en-US" sz="1000" dirty="0"/>
          </a:p>
        </p:txBody>
      </p:sp>
      <p:pic>
        <p:nvPicPr>
          <p:cNvPr id="13" name="Image 0" descr="/mnt/data/ppt_work/notebook_assets/cell_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831" y="1554480"/>
            <a:ext cx="3017738" cy="305409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199632" y="1115568"/>
            <a:ext cx="5440680" cy="3575304"/>
          </a:xfrm>
          <a:prstGeom prst="roundRect">
            <a:avLst>
              <a:gd name="adj" fmla="val 3325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Shape 12"/>
          <p:cNvSpPr/>
          <p:nvPr/>
        </p:nvSpPr>
        <p:spPr>
          <a:xfrm>
            <a:off x="6327648" y="1225296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 txBox="1"/>
          <p:nvPr/>
        </p:nvSpPr>
        <p:spPr>
          <a:xfrm>
            <a:off x="6382512" y="123444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o₂ using default matrix M_d</a:t>
            </a:r>
            <a:endParaRPr lang="en-US" sz="1000" dirty="0"/>
          </a:p>
        </p:txBody>
      </p:sp>
      <p:pic>
        <p:nvPicPr>
          <p:cNvPr id="17" name="Image 1" descr="/mnt/data/ppt_work/notebook_assets/cell_19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1103" y="1554480"/>
            <a:ext cx="3017738" cy="305409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41832" y="4882896"/>
            <a:ext cx="4956048" cy="347472"/>
          </a:xfrm>
          <a:prstGeom prst="roundRect">
            <a:avLst>
              <a:gd name="adj" fmla="val 34211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5"/>
          <p:cNvSpPr txBox="1"/>
          <p:nvPr/>
        </p:nvSpPr>
        <p:spPr>
          <a:xfrm>
            <a:off x="996696" y="48920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o₁ = (−1.805, −1.008, 4.384) m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91656" y="4882896"/>
            <a:ext cx="4956048" cy="347472"/>
          </a:xfrm>
          <a:prstGeom prst="roundRect">
            <a:avLst>
              <a:gd name="adj" fmla="val 34211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7"/>
          <p:cNvSpPr txBox="1"/>
          <p:nvPr/>
        </p:nvSpPr>
        <p:spPr>
          <a:xfrm>
            <a:off x="6446520" y="48920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o₂ = (0.265, −0.046, 4.384) m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Q1(c) Which intrinsic matrix fits the frames?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principal points and focal lengths for the 640 × 480 images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133856"/>
            <a:ext cx="5266944" cy="2414016"/>
          </a:xfrm>
          <a:prstGeom prst="roundRect">
            <a:avLst>
              <a:gd name="adj" fmla="val 4924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813816" y="1307592"/>
            <a:ext cx="2834640" cy="301752"/>
          </a:xfrm>
          <a:prstGeom prst="roundRect">
            <a:avLst>
              <a:gd name="adj" fmla="val 3939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868680" y="1316736"/>
            <a:ext cx="2724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M_int  ·  Lab calibration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1856232"/>
            <a:ext cx="4709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[ 1391.7       0        979.1 ]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     0      1388.5    540.2 ]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     0         0          1   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62472" y="1133856"/>
            <a:ext cx="5532120" cy="2414016"/>
          </a:xfrm>
          <a:prstGeom prst="roundRect">
            <a:avLst>
              <a:gd name="adj" fmla="val 4924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Shape 13"/>
          <p:cNvSpPr/>
          <p:nvPr/>
        </p:nvSpPr>
        <p:spPr>
          <a:xfrm>
            <a:off x="6300216" y="1307592"/>
            <a:ext cx="2743200" cy="301752"/>
          </a:xfrm>
          <a:prstGeom prst="roundRect">
            <a:avLst>
              <a:gd name="adj" fmla="val 3939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4"/>
          <p:cNvSpPr txBox="1"/>
          <p:nvPr/>
        </p:nvSpPr>
        <p:spPr>
          <a:xfrm>
            <a:off x="6355080" y="131673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M_d  ·  Default L515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1856232"/>
            <a:ext cx="49560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[ 1342         0        325 ]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    0       1342      235 ]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    0         0         1  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94360" y="3703320"/>
            <a:ext cx="2907792" cy="1051560"/>
          </a:xfrm>
          <a:prstGeom prst="roundRect">
            <a:avLst>
              <a:gd name="adj" fmla="val 11304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7"/>
          <p:cNvSpPr txBox="1"/>
          <p:nvPr/>
        </p:nvSpPr>
        <p:spPr>
          <a:xfrm>
            <a:off x="658368" y="3785616"/>
            <a:ext cx="2779776" cy="4942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(320, 240)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" y="4344772"/>
            <a:ext cx="274320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Approx. frame center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3648456" y="3703320"/>
            <a:ext cx="2907792" cy="1051560"/>
          </a:xfrm>
          <a:prstGeom prst="roundRect">
            <a:avLst>
              <a:gd name="adj" fmla="val 11304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 txBox="1"/>
          <p:nvPr/>
        </p:nvSpPr>
        <p:spPr>
          <a:xfrm>
            <a:off x="3712464" y="3785616"/>
            <a:ext cx="2779776" cy="4942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(979, 540)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3730752" y="4344772"/>
            <a:ext cx="274320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M_int principal point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6702552" y="3703320"/>
            <a:ext cx="2907792" cy="1051560"/>
          </a:xfrm>
          <a:prstGeom prst="roundRect">
            <a:avLst>
              <a:gd name="adj" fmla="val 11304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" name="Text 23"/>
          <p:cNvSpPr txBox="1"/>
          <p:nvPr/>
        </p:nvSpPr>
        <p:spPr>
          <a:xfrm>
            <a:off x="6766560" y="3785616"/>
            <a:ext cx="2779776" cy="4942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(325, 235)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344772"/>
            <a:ext cx="274320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M_d principal point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9756648" y="3703320"/>
            <a:ext cx="1828800" cy="1051560"/>
          </a:xfrm>
          <a:prstGeom prst="roundRect">
            <a:avLst>
              <a:gd name="adj" fmla="val 11304"/>
            </a:avLst>
          </a:prstGeom>
          <a:solidFill>
            <a:srgbClr val="FFF2D4"/>
          </a:solidFill>
          <a:ln w="12700">
            <a:solidFill>
              <a:srgbClr val="FFF2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6"/>
          <p:cNvSpPr txBox="1"/>
          <p:nvPr/>
        </p:nvSpPr>
        <p:spPr>
          <a:xfrm>
            <a:off x="9902952" y="38313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884664" y="4123944"/>
            <a:ext cx="1572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M_d appears more suitable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" y="5020056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Plausibility based on image geometry, not an independent 3D ground-truth test.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Q1(d) Learning the coordinate mapping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regression predicts o₂* from o₁ coordinates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" y="1252728"/>
            <a:ext cx="11009376" cy="1481328"/>
          </a:xfrm>
          <a:prstGeom prst="roundRect">
            <a:avLst>
              <a:gd name="adj" fmla="val 8025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896112" y="1499616"/>
            <a:ext cx="969264" cy="301752"/>
          </a:xfrm>
          <a:prstGeom prst="roundRect">
            <a:avLst>
              <a:gd name="adj" fmla="val 39394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950976" y="1508760"/>
            <a:ext cx="8595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911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o₁ = [X, Y, Z]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183794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47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3986784" y="1499616"/>
            <a:ext cx="1179576" cy="301752"/>
          </a:xfrm>
          <a:prstGeom prst="roundRect">
            <a:avLst>
              <a:gd name="adj" fmla="val 39394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4"/>
          <p:cNvSpPr txBox="1"/>
          <p:nvPr/>
        </p:nvSpPr>
        <p:spPr>
          <a:xfrm>
            <a:off x="4041648" y="1508760"/>
            <a:ext cx="10698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968496" y="1920240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Regression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837944"/>
            <a:ext cx="667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47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7635240" y="1499616"/>
            <a:ext cx="1289304" cy="301752"/>
          </a:xfrm>
          <a:prstGeom prst="roundRect">
            <a:avLst>
              <a:gd name="adj" fmla="val 39394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8"/>
          <p:cNvSpPr txBox="1"/>
          <p:nvPr/>
        </p:nvSpPr>
        <p:spPr>
          <a:xfrm>
            <a:off x="7690104" y="1508760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571232" y="191109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o₂* = predicted XYZ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03504" y="2953512"/>
            <a:ext cx="2670048" cy="1188720"/>
          </a:xfrm>
          <a:prstGeom prst="roundRect">
            <a:avLst>
              <a:gd name="adj" fmla="val 10000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1"/>
          <p:cNvSpPr txBox="1"/>
          <p:nvPr/>
        </p:nvSpPr>
        <p:spPr>
          <a:xfrm>
            <a:off x="667512" y="3035808"/>
            <a:ext cx="2542032" cy="5586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711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678631"/>
            <a:ext cx="2505456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samples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3438144" y="2953512"/>
            <a:ext cx="2670048" cy="1188720"/>
          </a:xfrm>
          <a:prstGeom prst="roundRect">
            <a:avLst>
              <a:gd name="adj" fmla="val 10000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6" name="Text 24"/>
          <p:cNvSpPr txBox="1"/>
          <p:nvPr/>
        </p:nvSpPr>
        <p:spPr>
          <a:xfrm>
            <a:off x="3502152" y="3035808"/>
            <a:ext cx="2542032" cy="5586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178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3520440" y="3678631"/>
            <a:ext cx="2505456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samples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6263640" y="2953512"/>
            <a:ext cx="2670048" cy="1188720"/>
          </a:xfrm>
          <a:prstGeom prst="roundRect">
            <a:avLst>
              <a:gd name="adj" fmla="val 10000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Text 27"/>
          <p:cNvSpPr txBox="1"/>
          <p:nvPr/>
        </p:nvSpPr>
        <p:spPr>
          <a:xfrm>
            <a:off x="6327648" y="3035808"/>
            <a:ext cx="2542032" cy="5586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1.000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45936" y="3678631"/>
            <a:ext cx="2505456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R²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9098280" y="2953512"/>
            <a:ext cx="2468880" cy="1188720"/>
          </a:xfrm>
          <a:prstGeom prst="roundRect">
            <a:avLst>
              <a:gd name="adj" fmla="val 10000"/>
            </a:avLst>
          </a:prstGeom>
          <a:solidFill>
            <a:srgbClr val="E7F5E0"/>
          </a:solidFill>
          <a:ln w="12700">
            <a:solidFill>
              <a:srgbClr val="E7F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2" name="Text 30"/>
          <p:cNvSpPr txBox="1"/>
          <p:nvPr/>
        </p:nvSpPr>
        <p:spPr>
          <a:xfrm>
            <a:off x="9162288" y="3035808"/>
            <a:ext cx="2340864" cy="5586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0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3678631"/>
            <a:ext cx="2304288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(7.61 × 10⁻¹⁶)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024128" y="4443984"/>
            <a:ext cx="10186416" cy="484632"/>
          </a:xfrm>
          <a:prstGeom prst="roundRect">
            <a:avLst>
              <a:gd name="adj" fmla="val 24528"/>
            </a:avLst>
          </a:prstGeom>
          <a:solidFill>
            <a:srgbClr val="FFF2D4"/>
          </a:solidFill>
          <a:ln w="12700">
            <a:solidFill>
              <a:srgbClr val="FFF2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5" name="Text 33"/>
          <p:cNvSpPr txBox="1"/>
          <p:nvPr/>
        </p:nvSpPr>
        <p:spPr>
          <a:xfrm>
            <a:off x="1234440" y="4562856"/>
            <a:ext cx="9784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Near-perfect prediction is expected: both 3D outputs are computed from the same pixels and depths with different matrices.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Q1(e) Euclidean coordinate differences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direct matrix conversion and the regression-predicted coordinates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1289304"/>
            <a:ext cx="7397496" cy="352044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 txBox="1"/>
          <p:nvPr/>
        </p:nvSpPr>
        <p:spPr>
          <a:xfrm>
            <a:off x="923544" y="1527048"/>
            <a:ext cx="6812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Euclidean distance [m]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08483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o₁ vs o₂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61488" y="2176272"/>
            <a:ext cx="4123944" cy="384048"/>
          </a:xfrm>
          <a:prstGeom prst="rect">
            <a:avLst/>
          </a:prstGeom>
          <a:solidFill>
            <a:srgbClr val="EDF2F7"/>
          </a:solidFill>
          <a:ln w="12700">
            <a:solidFill>
              <a:srgbClr val="EDF2F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Shape 12"/>
          <p:cNvSpPr/>
          <p:nvPr/>
        </p:nvSpPr>
        <p:spPr>
          <a:xfrm>
            <a:off x="2761488" y="2176272"/>
            <a:ext cx="3542468" cy="384048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3"/>
          <p:cNvSpPr txBox="1"/>
          <p:nvPr/>
        </p:nvSpPr>
        <p:spPr>
          <a:xfrm>
            <a:off x="7040880" y="217627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1.718 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09544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o₁ vs o₂* (test)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61488" y="3300984"/>
            <a:ext cx="4123944" cy="384048"/>
          </a:xfrm>
          <a:prstGeom prst="rect">
            <a:avLst/>
          </a:prstGeom>
          <a:solidFill>
            <a:srgbClr val="EDF2F7"/>
          </a:solidFill>
          <a:ln w="12700">
            <a:solidFill>
              <a:srgbClr val="EDF2F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Shape 16"/>
          <p:cNvSpPr/>
          <p:nvPr/>
        </p:nvSpPr>
        <p:spPr>
          <a:xfrm>
            <a:off x="2761488" y="3300984"/>
            <a:ext cx="3532158" cy="384048"/>
          </a:xfrm>
          <a:prstGeom prst="rect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7"/>
          <p:cNvSpPr txBox="1"/>
          <p:nvPr/>
        </p:nvSpPr>
        <p:spPr>
          <a:xfrm>
            <a:off x="7040880" y="330098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1.713 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" y="44074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is not necessarily better here: this is a difference between coordinate definitions, not ground-truth position error.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8220456" y="1289304"/>
            <a:ext cx="3374136" cy="969264"/>
          </a:xfrm>
          <a:prstGeom prst="roundRect">
            <a:avLst>
              <a:gd name="adj" fmla="val 12264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 txBox="1"/>
          <p:nvPr/>
        </p:nvSpPr>
        <p:spPr>
          <a:xfrm>
            <a:off x="8375904" y="1453896"/>
            <a:ext cx="3035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1.189–2.610 m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1874520"/>
            <a:ext cx="3008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o₁ versus o₂ · min–max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8220456" y="2450592"/>
            <a:ext cx="3374136" cy="969264"/>
          </a:xfrm>
          <a:prstGeom prst="roundRect">
            <a:avLst>
              <a:gd name="adj" fmla="val 12264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" name="Text 23"/>
          <p:cNvSpPr txBox="1"/>
          <p:nvPr/>
        </p:nvSpPr>
        <p:spPr>
          <a:xfrm>
            <a:off x="8375904" y="2606040"/>
            <a:ext cx="3035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1.293–2.281 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035808"/>
            <a:ext cx="3008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o₁ versus predicted o₂* · min–max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8220456" y="3602736"/>
            <a:ext cx="3374136" cy="1197864"/>
          </a:xfrm>
          <a:prstGeom prst="roundRect">
            <a:avLst>
              <a:gd name="adj" fmla="val 9924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6"/>
          <p:cNvSpPr txBox="1"/>
          <p:nvPr/>
        </p:nvSpPr>
        <p:spPr>
          <a:xfrm>
            <a:off x="8412480" y="378561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409651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two means are similar because regression reproduces o₂ very closely.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Q2(a) LiDAR swinging-load tracking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Ouster OS-1 point clouds → DBSCAN clusters → load centroid trajectory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" y="1188720"/>
            <a:ext cx="4663440" cy="3858768"/>
          </a:xfrm>
          <a:prstGeom prst="roundRect">
            <a:avLst>
              <a:gd name="adj" fmla="val 3081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804672" y="1389888"/>
            <a:ext cx="4261104" cy="740664"/>
          </a:xfrm>
          <a:prstGeom prst="roundRect">
            <a:avLst>
              <a:gd name="adj" fmla="val 160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Shape 10"/>
          <p:cNvSpPr/>
          <p:nvPr/>
        </p:nvSpPr>
        <p:spPr>
          <a:xfrm>
            <a:off x="960120" y="1554480"/>
            <a:ext cx="393192" cy="39319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" name="Text 11"/>
          <p:cNvSpPr txBox="1"/>
          <p:nvPr/>
        </p:nvSpPr>
        <p:spPr>
          <a:xfrm>
            <a:off x="969264" y="1572768"/>
            <a:ext cx="356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17904" y="14904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Decode scans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17904" y="18105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Ouster metadata + complete scans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" y="2276856"/>
            <a:ext cx="4261104" cy="740664"/>
          </a:xfrm>
          <a:prstGeom prst="roundRect">
            <a:avLst>
              <a:gd name="adj" fmla="val 160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Shape 15"/>
          <p:cNvSpPr/>
          <p:nvPr/>
        </p:nvSpPr>
        <p:spPr>
          <a:xfrm>
            <a:off x="960120" y="2441448"/>
            <a:ext cx="393192" cy="39319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Text 16"/>
          <p:cNvSpPr txBox="1"/>
          <p:nvPr/>
        </p:nvSpPr>
        <p:spPr>
          <a:xfrm>
            <a:off x="969264" y="2459736"/>
            <a:ext cx="356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17904" y="2377440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3D region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17904" y="2697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plausible load points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" y="3163824"/>
            <a:ext cx="4261104" cy="740664"/>
          </a:xfrm>
          <a:prstGeom prst="roundRect">
            <a:avLst>
              <a:gd name="adj" fmla="val 160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Shape 20"/>
          <p:cNvSpPr/>
          <p:nvPr/>
        </p:nvSpPr>
        <p:spPr>
          <a:xfrm>
            <a:off x="960120" y="3328416"/>
            <a:ext cx="393192" cy="39319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1"/>
          <p:cNvSpPr txBox="1"/>
          <p:nvPr/>
        </p:nvSpPr>
        <p:spPr>
          <a:xfrm>
            <a:off x="969264" y="3346704"/>
            <a:ext cx="356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517904" y="326440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DBSCAN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517904" y="3584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compact moving cluster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4672" y="4050792"/>
            <a:ext cx="4261104" cy="740664"/>
          </a:xfrm>
          <a:prstGeom prst="roundRect">
            <a:avLst>
              <a:gd name="adj" fmla="val 160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Shape 25"/>
          <p:cNvSpPr/>
          <p:nvPr/>
        </p:nvSpPr>
        <p:spPr>
          <a:xfrm>
            <a:off x="960120" y="4215384"/>
            <a:ext cx="393192" cy="39319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6"/>
          <p:cNvSpPr txBox="1"/>
          <p:nvPr/>
        </p:nvSpPr>
        <p:spPr>
          <a:xfrm>
            <a:off x="969264" y="4233672"/>
            <a:ext cx="356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517904" y="4151376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centroid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517904" y="44714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XYZ across scans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49824" y="1188720"/>
            <a:ext cx="6144768" cy="3858768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2" name="Shape 30"/>
          <p:cNvSpPr/>
          <p:nvPr/>
        </p:nvSpPr>
        <p:spPr>
          <a:xfrm>
            <a:off x="5577840" y="1298448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3" name="Text 31"/>
          <p:cNvSpPr txBox="1"/>
          <p:nvPr/>
        </p:nvSpPr>
        <p:spPr>
          <a:xfrm>
            <a:off x="5632704" y="13075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Tracked load centroid (3D)</a:t>
            </a:r>
            <a:endParaRPr lang="en-US" sz="1000" dirty="0"/>
          </a:p>
        </p:txBody>
      </p:sp>
      <p:pic>
        <p:nvPicPr>
          <p:cNvPr id="34" name="Image 0" descr="/mnt/data/ppt_work/notebook_assets/cell_3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032" y="1627632"/>
            <a:ext cx="3284353" cy="3337560"/>
          </a:xfrm>
          <a:prstGeom prst="rect">
            <a:avLst/>
          </a:prstGeom>
        </p:spPr>
      </p:pic>
      <p:sp>
        <p:nvSpPr>
          <p:cNvPr id="35" name="Shape 32"/>
          <p:cNvSpPr/>
          <p:nvPr/>
        </p:nvSpPr>
        <p:spPr>
          <a:xfrm>
            <a:off x="795528" y="5138928"/>
            <a:ext cx="2176272" cy="219456"/>
          </a:xfrm>
          <a:prstGeom prst="roundRect">
            <a:avLst>
              <a:gd name="adj" fmla="val 5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6" name="Text 33"/>
          <p:cNvSpPr txBox="1"/>
          <p:nvPr/>
        </p:nvSpPr>
        <p:spPr>
          <a:xfrm>
            <a:off x="850392" y="514807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A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 complete scans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035808" y="5138928"/>
            <a:ext cx="2286000" cy="219456"/>
          </a:xfrm>
          <a:prstGeom prst="roundRect">
            <a:avLst>
              <a:gd name="adj" fmla="val 5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8" name="Text 35"/>
          <p:cNvSpPr txBox="1"/>
          <p:nvPr/>
        </p:nvSpPr>
        <p:spPr>
          <a:xfrm>
            <a:off x="3090672" y="514807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A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99/99 clusters detected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Q2(a) Load motion over time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 centroid positions reveal repeated swinging motion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197864"/>
            <a:ext cx="7946136" cy="3849624"/>
          </a:xfrm>
          <a:prstGeom prst="roundRect">
            <a:avLst>
              <a:gd name="adj" fmla="val 3088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676656" y="1307592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731520" y="131673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centroid coordinates</a:t>
            </a:r>
            <a:endParaRPr lang="en-US" sz="1000" dirty="0"/>
          </a:p>
        </p:txBody>
      </p:sp>
      <p:pic>
        <p:nvPicPr>
          <p:cNvPr id="13" name="Image 0" descr="/mnt/data/ppt_work/notebook_assets/cell_3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664" y="1636776"/>
            <a:ext cx="4210088" cy="332841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659368" y="1234440"/>
            <a:ext cx="2935224" cy="923544"/>
          </a:xfrm>
          <a:prstGeom prst="roundRect">
            <a:avLst>
              <a:gd name="adj" fmla="val 12871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2"/>
          <p:cNvSpPr txBox="1"/>
          <p:nvPr/>
        </p:nvSpPr>
        <p:spPr>
          <a:xfrm>
            <a:off x="8723376" y="1316736"/>
            <a:ext cx="2807208" cy="4340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0.785 m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741664" y="1797802"/>
            <a:ext cx="2770632" cy="25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Y-coordinate span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8659368" y="2340864"/>
            <a:ext cx="2935224" cy="2706624"/>
          </a:xfrm>
          <a:prstGeom prst="roundRect">
            <a:avLst>
              <a:gd name="adj" fmla="val 4392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Shape 15"/>
          <p:cNvSpPr/>
          <p:nvPr/>
        </p:nvSpPr>
        <p:spPr>
          <a:xfrm>
            <a:off x="8842248" y="2496312"/>
            <a:ext cx="2587752" cy="310896"/>
          </a:xfrm>
          <a:prstGeom prst="roundRect">
            <a:avLst>
              <a:gd name="adj" fmla="val 38235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 txBox="1"/>
          <p:nvPr/>
        </p:nvSpPr>
        <p:spPr>
          <a:xfrm>
            <a:off x="8897112" y="2505456"/>
            <a:ext cx="2478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ranges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851392" y="3017520"/>
            <a:ext cx="2551176" cy="512064"/>
          </a:xfrm>
          <a:prstGeom prst="roundRect">
            <a:avLst>
              <a:gd name="adj" fmla="val 23214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8"/>
          <p:cNvSpPr txBox="1"/>
          <p:nvPr/>
        </p:nvSpPr>
        <p:spPr>
          <a:xfrm>
            <a:off x="8933688" y="3090672"/>
            <a:ext cx="147968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[m]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0305562" y="3090672"/>
            <a:ext cx="91842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0.643–0.783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851392" y="3611880"/>
            <a:ext cx="2551176" cy="512064"/>
          </a:xfrm>
          <a:prstGeom prst="roundRect">
            <a:avLst>
              <a:gd name="adj" fmla="val 23214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Text 21"/>
          <p:cNvSpPr txBox="1"/>
          <p:nvPr/>
        </p:nvSpPr>
        <p:spPr>
          <a:xfrm>
            <a:off x="8933688" y="3685032"/>
            <a:ext cx="147968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[m]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305562" y="3685032"/>
            <a:ext cx="91842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1.354–2.139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851392" y="4206240"/>
            <a:ext cx="2551176" cy="512064"/>
          </a:xfrm>
          <a:prstGeom prst="roundRect">
            <a:avLst>
              <a:gd name="adj" fmla="val 23214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Text 24"/>
          <p:cNvSpPr txBox="1"/>
          <p:nvPr/>
        </p:nvSpPr>
        <p:spPr>
          <a:xfrm>
            <a:off x="8933688" y="4279392"/>
            <a:ext cx="147968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 [m]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0305562" y="4279392"/>
            <a:ext cx="91842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0.157–0.231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Q2(b) KISS-ICP — sensor motion vs load motion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ICP estimates LiDAR sensor poses; DBSCAN tracks the moving object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12064" y="1078992"/>
            <a:ext cx="5541264" cy="3438144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640080" y="1188720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694944" y="11978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KISS-ICP: sensor trajectory</a:t>
            </a:r>
            <a:endParaRPr lang="en-US" sz="1000" dirty="0"/>
          </a:p>
        </p:txBody>
      </p:sp>
      <p:pic>
        <p:nvPicPr>
          <p:cNvPr id="13" name="Image 0" descr="/mnt/data/ppt_work/notebook_assets/cell_4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455" y="1517904"/>
            <a:ext cx="2908481" cy="291693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135624" y="1078992"/>
            <a:ext cx="5541264" cy="3438144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Shape 12"/>
          <p:cNvSpPr/>
          <p:nvPr/>
        </p:nvSpPr>
        <p:spPr>
          <a:xfrm>
            <a:off x="6263640" y="1188720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 txBox="1"/>
          <p:nvPr/>
        </p:nvSpPr>
        <p:spPr>
          <a:xfrm>
            <a:off x="6318504" y="11978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in first-scan reference frame</a:t>
            </a:r>
            <a:endParaRPr lang="en-US" sz="1000" dirty="0"/>
          </a:p>
        </p:txBody>
      </p:sp>
      <p:pic>
        <p:nvPicPr>
          <p:cNvPr id="17" name="Image 1" descr="/mnt/data/ppt_work/notebook_assets/cell_40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1039" y="1517904"/>
            <a:ext cx="2870434" cy="291693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50976" y="4608576"/>
            <a:ext cx="2807208" cy="640080"/>
          </a:xfrm>
          <a:prstGeom prst="roundRect">
            <a:avLst>
              <a:gd name="adj" fmla="val 18571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5"/>
          <p:cNvSpPr txBox="1"/>
          <p:nvPr/>
        </p:nvSpPr>
        <p:spPr>
          <a:xfrm>
            <a:off x="1014984" y="4690872"/>
            <a:ext cx="267919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0.0046 m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1033272" y="4999025"/>
            <a:ext cx="2642616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sensor translation</a:t>
            </a:r>
            <a:endParaRPr lang="en-US" sz="940" dirty="0"/>
          </a:p>
        </p:txBody>
      </p:sp>
      <p:sp>
        <p:nvSpPr>
          <p:cNvPr id="21" name="Shape 17"/>
          <p:cNvSpPr/>
          <p:nvPr/>
        </p:nvSpPr>
        <p:spPr>
          <a:xfrm>
            <a:off x="3886200" y="4608576"/>
            <a:ext cx="2788920" cy="640080"/>
          </a:xfrm>
          <a:prstGeom prst="roundRect">
            <a:avLst>
              <a:gd name="adj" fmla="val 18571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18"/>
          <p:cNvSpPr txBox="1"/>
          <p:nvPr/>
        </p:nvSpPr>
        <p:spPr>
          <a:xfrm>
            <a:off x="3950208" y="4690872"/>
            <a:ext cx="2660904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0.0191°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3968496" y="4999025"/>
            <a:ext cx="2624328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sensor rotation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6830568" y="4608576"/>
            <a:ext cx="4443984" cy="640080"/>
          </a:xfrm>
          <a:prstGeom prst="roundRect">
            <a:avLst>
              <a:gd name="adj" fmla="val 18571"/>
            </a:avLst>
          </a:prstGeom>
          <a:solidFill>
            <a:srgbClr val="FFF2D4"/>
          </a:solidFill>
          <a:ln w="12700">
            <a:solidFill>
              <a:srgbClr val="FFF2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" name="Text 21"/>
          <p:cNvSpPr txBox="1"/>
          <p:nvPr/>
        </p:nvSpPr>
        <p:spPr>
          <a:xfrm>
            <a:off x="7095744" y="476402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Near-zero sensor motion ≠ stationary load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Q3(a) KITTI dataset and calibration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 synchronized camera images, LiDAR scans and 3D labels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" y="1143000"/>
            <a:ext cx="6099048" cy="265176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685800" y="1252728"/>
            <a:ext cx="2651760" cy="274320"/>
          </a:xfrm>
          <a:prstGeom prst="roundRect">
            <a:avLst>
              <a:gd name="adj" fmla="val 43333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740664" y="12618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annotated KITTI subset</a:t>
            </a:r>
            <a:endParaRPr lang="en-US" sz="1000" dirty="0"/>
          </a:p>
        </p:txBody>
      </p:sp>
      <p:pic>
        <p:nvPicPr>
          <p:cNvPr id="13" name="Image 0" descr="/mnt/data/ppt_work/notebook_assets/cell_4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79069"/>
            <a:ext cx="5897880" cy="1936237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30568" y="1143000"/>
            <a:ext cx="4736592" cy="2651760"/>
          </a:xfrm>
          <a:prstGeom prst="roundRect">
            <a:avLst>
              <a:gd name="adj" fmla="val 4483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2"/>
          <p:cNvSpPr txBox="1"/>
          <p:nvPr/>
        </p:nvSpPr>
        <p:spPr>
          <a:xfrm>
            <a:off x="7059168" y="1353312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aligned by frame ID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077456" y="1764792"/>
            <a:ext cx="4242816" cy="347472"/>
          </a:xfrm>
          <a:prstGeom prst="roundRect">
            <a:avLst>
              <a:gd name="adj" fmla="val 3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 txBox="1"/>
          <p:nvPr/>
        </p:nvSpPr>
        <p:spPr>
          <a:xfrm>
            <a:off x="7178040" y="1801368"/>
            <a:ext cx="1399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image_2/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577072" y="180136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 camera images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7077456" y="2194560"/>
            <a:ext cx="4242816" cy="347472"/>
          </a:xfrm>
          <a:prstGeom prst="roundRect">
            <a:avLst>
              <a:gd name="adj" fmla="val 3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 txBox="1"/>
          <p:nvPr/>
        </p:nvSpPr>
        <p:spPr>
          <a:xfrm>
            <a:off x="7178040" y="2231136"/>
            <a:ext cx="1399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velodyne/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577072" y="2231136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 + reflectance point clouds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7077456" y="2624328"/>
            <a:ext cx="4242816" cy="347472"/>
          </a:xfrm>
          <a:prstGeom prst="roundRect">
            <a:avLst>
              <a:gd name="adj" fmla="val 3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 txBox="1"/>
          <p:nvPr/>
        </p:nvSpPr>
        <p:spPr>
          <a:xfrm>
            <a:off x="7178040" y="2660904"/>
            <a:ext cx="1399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calib/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77072" y="2660904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P2, R0_rect, Tr_velo_to_cam</a:t>
            </a:r>
            <a:endParaRPr lang="en-US" sz="960" dirty="0"/>
          </a:p>
        </p:txBody>
      </p:sp>
      <p:sp>
        <p:nvSpPr>
          <p:cNvPr id="25" name="Shape 22"/>
          <p:cNvSpPr/>
          <p:nvPr/>
        </p:nvSpPr>
        <p:spPr>
          <a:xfrm>
            <a:off x="7077456" y="3054096"/>
            <a:ext cx="4242816" cy="347472"/>
          </a:xfrm>
          <a:prstGeom prst="roundRect">
            <a:avLst>
              <a:gd name="adj" fmla="val 3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6" name="Text 23"/>
          <p:cNvSpPr txBox="1"/>
          <p:nvPr/>
        </p:nvSpPr>
        <p:spPr>
          <a:xfrm>
            <a:off x="7178040" y="3090672"/>
            <a:ext cx="1399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label_2/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577072" y="3090672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labels and 3D locations</a:t>
            </a:r>
            <a:endParaRPr lang="en-US" sz="960" dirty="0"/>
          </a:p>
        </p:txBody>
      </p:sp>
      <p:sp>
        <p:nvSpPr>
          <p:cNvPr id="28" name="Shape 25"/>
          <p:cNvSpPr/>
          <p:nvPr/>
        </p:nvSpPr>
        <p:spPr>
          <a:xfrm>
            <a:off x="566928" y="3977640"/>
            <a:ext cx="11000232" cy="1042416"/>
          </a:xfrm>
          <a:prstGeom prst="roundRect">
            <a:avLst>
              <a:gd name="adj" fmla="val 11404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Shape 26"/>
          <p:cNvSpPr/>
          <p:nvPr/>
        </p:nvSpPr>
        <p:spPr>
          <a:xfrm>
            <a:off x="768096" y="4142232"/>
            <a:ext cx="2542032" cy="246888"/>
          </a:xfrm>
          <a:prstGeom prst="roundRect">
            <a:avLst>
              <a:gd name="adj" fmla="val 48148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0" name="Text 27"/>
          <p:cNvSpPr txBox="1"/>
          <p:nvPr/>
        </p:nvSpPr>
        <p:spPr>
          <a:xfrm>
            <a:off x="822960" y="415137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transformation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50976" y="4526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XYZ   →   Tr_velo_to_cam   →   R0_rect   →   P2   →   image pixel (u, v)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50976" y="5166360"/>
            <a:ext cx="10149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2D YOLO subset: 150 train + 40 val images; 5 separate KITTI 3D frames used for paired sensor fusion.</a:t>
            </a:r>
            <a:endParaRPr lang="en-US" sz="9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Camera–LiDAR fusion in five KITTI frames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Projected LiDAR points are overlaid with YOLO boxes and distance estimates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" y="1216152"/>
            <a:ext cx="5449824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740664" y="1289304"/>
            <a:ext cx="5175504" cy="265176"/>
          </a:xfrm>
          <a:prstGeom prst="roundRect">
            <a:avLst>
              <a:gd name="adj" fmla="val 4482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795528" y="1298448"/>
            <a:ext cx="5065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000004 · IoU 0.93 · 40.06 m</a:t>
            </a:r>
            <a:endParaRPr lang="en-US" sz="1050" dirty="0"/>
          </a:p>
        </p:txBody>
      </p:sp>
      <p:pic>
        <p:nvPicPr>
          <p:cNvPr id="13" name="Image 0" descr="/mnt/data/ppt_work/notebook_assets/q3_fusion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031" y="1627632"/>
            <a:ext cx="4236770" cy="130759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153912" y="1216152"/>
            <a:ext cx="5449824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Shape 12"/>
          <p:cNvSpPr/>
          <p:nvPr/>
        </p:nvSpPr>
        <p:spPr>
          <a:xfrm>
            <a:off x="6291072" y="1289304"/>
            <a:ext cx="5175504" cy="265176"/>
          </a:xfrm>
          <a:prstGeom prst="roundRect">
            <a:avLst>
              <a:gd name="adj" fmla="val 44828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 txBox="1"/>
          <p:nvPr/>
        </p:nvSpPr>
        <p:spPr>
          <a:xfrm>
            <a:off x="6345936" y="1298448"/>
            <a:ext cx="5065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000008 · IoU 0.86 · 32.57 m</a:t>
            </a:r>
            <a:endParaRPr lang="en-US" sz="1050" dirty="0"/>
          </a:p>
        </p:txBody>
      </p:sp>
      <p:pic>
        <p:nvPicPr>
          <p:cNvPr id="17" name="Image 1" descr="/mnt/data/ppt_work/notebook_assets/q3_fusion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590" y="1627632"/>
            <a:ext cx="4232469" cy="130759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03504" y="3218688"/>
            <a:ext cx="5449824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Shape 15"/>
          <p:cNvSpPr/>
          <p:nvPr/>
        </p:nvSpPr>
        <p:spPr>
          <a:xfrm>
            <a:off x="740664" y="3291840"/>
            <a:ext cx="5175504" cy="265176"/>
          </a:xfrm>
          <a:prstGeom prst="roundRect">
            <a:avLst>
              <a:gd name="adj" fmla="val 4482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6"/>
          <p:cNvSpPr txBox="1"/>
          <p:nvPr/>
        </p:nvSpPr>
        <p:spPr>
          <a:xfrm>
            <a:off x="795528" y="3300984"/>
            <a:ext cx="5065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000019 · IoU 0.92 · 8.91 m</a:t>
            </a:r>
            <a:endParaRPr lang="en-US" sz="1050" dirty="0"/>
          </a:p>
        </p:txBody>
      </p:sp>
      <p:pic>
        <p:nvPicPr>
          <p:cNvPr id="21" name="Image 2" descr="/mnt/data/ppt_work/notebook_assets/q3_fusion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732" y="3630168"/>
            <a:ext cx="4195368" cy="1307592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153912" y="3218688"/>
            <a:ext cx="5449824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Shape 18"/>
          <p:cNvSpPr/>
          <p:nvPr/>
        </p:nvSpPr>
        <p:spPr>
          <a:xfrm>
            <a:off x="6291072" y="3291840"/>
            <a:ext cx="5175504" cy="265176"/>
          </a:xfrm>
          <a:prstGeom prst="roundRect">
            <a:avLst>
              <a:gd name="adj" fmla="val 44828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Text 19"/>
          <p:cNvSpPr txBox="1"/>
          <p:nvPr/>
        </p:nvSpPr>
        <p:spPr>
          <a:xfrm>
            <a:off x="6345936" y="3300984"/>
            <a:ext cx="5065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000027 · IoU 0.87 · 12.90 m</a:t>
            </a:r>
            <a:endParaRPr lang="en-US" sz="1050" dirty="0"/>
          </a:p>
        </p:txBody>
      </p:sp>
      <p:pic>
        <p:nvPicPr>
          <p:cNvPr id="25" name="Image 3" descr="/mnt/data/ppt_work/notebook_assets/q3_fusion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269" y="3630168"/>
            <a:ext cx="4191109" cy="130759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3544" y="523036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 = YOLO prediction   ·   Cyan dashed = matched KITTI 2D label   ·   Point colors represent LiDAR range.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42E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Fusion range validation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LiDAR-estimated object range to matched KITTI 3D annotations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" y="1097280"/>
            <a:ext cx="2743200" cy="859536"/>
          </a:xfrm>
          <a:prstGeom prst="roundRect">
            <a:avLst>
              <a:gd name="adj" fmla="val 13830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 txBox="1"/>
          <p:nvPr/>
        </p:nvSpPr>
        <p:spPr>
          <a:xfrm>
            <a:off x="667512" y="1179576"/>
            <a:ext cx="2615184" cy="40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621597"/>
            <a:ext cx="2578608" cy="24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Matched 2D detections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3493008" y="1097280"/>
            <a:ext cx="2743200" cy="859536"/>
          </a:xfrm>
          <a:prstGeom prst="roundRect">
            <a:avLst>
              <a:gd name="adj" fmla="val 13830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2"/>
          <p:cNvSpPr txBox="1"/>
          <p:nvPr/>
        </p:nvSpPr>
        <p:spPr>
          <a:xfrm>
            <a:off x="3557016" y="1179576"/>
            <a:ext cx="2615184" cy="40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1.82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575304" y="1621597"/>
            <a:ext cx="2578608" cy="24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Matched range MAE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6382512" y="1097280"/>
            <a:ext cx="2569464" cy="859536"/>
          </a:xfrm>
          <a:prstGeom prst="roundRect">
            <a:avLst>
              <a:gd name="adj" fmla="val 13830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5"/>
          <p:cNvSpPr txBox="1"/>
          <p:nvPr/>
        </p:nvSpPr>
        <p:spPr>
          <a:xfrm>
            <a:off x="6446520" y="1179576"/>
            <a:ext cx="2441448" cy="40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0.50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1621597"/>
            <a:ext cx="2404872" cy="24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match IoU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03504" y="2093976"/>
            <a:ext cx="8339328" cy="2679192"/>
          </a:xfrm>
          <a:prstGeom prst="roundRect">
            <a:avLst>
              <a:gd name="adj" fmla="val 4437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Shape 18"/>
          <p:cNvSpPr/>
          <p:nvPr/>
        </p:nvSpPr>
        <p:spPr>
          <a:xfrm>
            <a:off x="740664" y="2258568"/>
            <a:ext cx="8037576" cy="448056"/>
          </a:xfrm>
          <a:prstGeom prst="rect">
            <a:avLst/>
          </a:prstGeom>
          <a:solidFill>
            <a:srgbClr val="142E53"/>
          </a:solidFill>
          <a:ln w="12700">
            <a:solidFill>
              <a:srgbClr val="142E5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9"/>
          <p:cNvSpPr txBox="1"/>
          <p:nvPr/>
        </p:nvSpPr>
        <p:spPr>
          <a:xfrm>
            <a:off x="841248" y="2359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139696" y="2359152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Box IoU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611880" y="2359152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[m]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73752" y="2359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 [m]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235915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|Error| [m]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" y="2724912"/>
            <a:ext cx="8010144" cy="356616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Text 25"/>
          <p:cNvSpPr txBox="1"/>
          <p:nvPr/>
        </p:nvSpPr>
        <p:spPr>
          <a:xfrm>
            <a:off x="841248" y="27706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000004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2139696" y="2770632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0.93</a:t>
            </a:r>
            <a:endParaRPr lang="en-US" sz="1040" dirty="0"/>
          </a:p>
        </p:txBody>
      </p:sp>
      <p:sp>
        <p:nvSpPr>
          <p:cNvPr id="29" name="Text 27"/>
          <p:cNvSpPr txBox="1"/>
          <p:nvPr/>
        </p:nvSpPr>
        <p:spPr>
          <a:xfrm>
            <a:off x="3611880" y="2770632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40.06</a:t>
            </a:r>
            <a:endParaRPr lang="en-US" sz="1040" dirty="0"/>
          </a:p>
        </p:txBody>
      </p:sp>
      <p:sp>
        <p:nvSpPr>
          <p:cNvPr id="30" name="Text 28"/>
          <p:cNvSpPr txBox="1"/>
          <p:nvPr/>
        </p:nvSpPr>
        <p:spPr>
          <a:xfrm>
            <a:off x="4873752" y="27706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41.67</a:t>
            </a:r>
            <a:endParaRPr lang="en-US" sz="1040" dirty="0"/>
          </a:p>
        </p:txBody>
      </p:sp>
      <p:sp>
        <p:nvSpPr>
          <p:cNvPr id="31" name="Text 29"/>
          <p:cNvSpPr txBox="1"/>
          <p:nvPr/>
        </p:nvSpPr>
        <p:spPr>
          <a:xfrm>
            <a:off x="6464808" y="277063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49808" y="3099816"/>
            <a:ext cx="8010144" cy="356616"/>
          </a:xfrm>
          <a:prstGeom prst="rect">
            <a:avLst/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3" name="Text 31"/>
          <p:cNvSpPr txBox="1"/>
          <p:nvPr/>
        </p:nvSpPr>
        <p:spPr>
          <a:xfrm>
            <a:off x="841248" y="31455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000008</a:t>
            </a:r>
            <a:endParaRPr lang="en-US" sz="1040" dirty="0"/>
          </a:p>
        </p:txBody>
      </p:sp>
      <p:sp>
        <p:nvSpPr>
          <p:cNvPr id="34" name="Text 32"/>
          <p:cNvSpPr txBox="1"/>
          <p:nvPr/>
        </p:nvSpPr>
        <p:spPr>
          <a:xfrm>
            <a:off x="2139696" y="3145536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0.86</a:t>
            </a:r>
            <a:endParaRPr lang="en-US" sz="1040" dirty="0"/>
          </a:p>
        </p:txBody>
      </p:sp>
      <p:sp>
        <p:nvSpPr>
          <p:cNvPr id="35" name="Text 33"/>
          <p:cNvSpPr txBox="1"/>
          <p:nvPr/>
        </p:nvSpPr>
        <p:spPr>
          <a:xfrm>
            <a:off x="3611880" y="3145536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32.57</a:t>
            </a:r>
            <a:endParaRPr lang="en-US" sz="1040" dirty="0"/>
          </a:p>
        </p:txBody>
      </p:sp>
      <p:sp>
        <p:nvSpPr>
          <p:cNvPr id="36" name="Text 34"/>
          <p:cNvSpPr txBox="1"/>
          <p:nvPr/>
        </p:nvSpPr>
        <p:spPr>
          <a:xfrm>
            <a:off x="4873752" y="31455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34.29</a:t>
            </a:r>
            <a:endParaRPr lang="en-US" sz="104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314553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" y="3474720"/>
            <a:ext cx="8010144" cy="356616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9" name="Text 37"/>
          <p:cNvSpPr txBox="1"/>
          <p:nvPr/>
        </p:nvSpPr>
        <p:spPr>
          <a:xfrm>
            <a:off x="841248" y="3520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000019</a:t>
            </a:r>
            <a:endParaRPr lang="en-US" sz="1040" dirty="0"/>
          </a:p>
        </p:txBody>
      </p:sp>
      <p:sp>
        <p:nvSpPr>
          <p:cNvPr id="40" name="Text 38"/>
          <p:cNvSpPr txBox="1"/>
          <p:nvPr/>
        </p:nvSpPr>
        <p:spPr>
          <a:xfrm>
            <a:off x="2139696" y="3520440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0.92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3611880" y="3520440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8.91</a:t>
            </a:r>
            <a:endParaRPr lang="en-US" sz="1040" dirty="0"/>
          </a:p>
        </p:txBody>
      </p:sp>
      <p:sp>
        <p:nvSpPr>
          <p:cNvPr id="42" name="Text 40"/>
          <p:cNvSpPr txBox="1"/>
          <p:nvPr/>
        </p:nvSpPr>
        <p:spPr>
          <a:xfrm>
            <a:off x="4873752" y="3520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10.53</a:t>
            </a:r>
            <a:endParaRPr lang="en-US" sz="104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352044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1.62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49808" y="3849624"/>
            <a:ext cx="8010144" cy="356616"/>
          </a:xfrm>
          <a:prstGeom prst="rect">
            <a:avLst/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5" name="Text 43"/>
          <p:cNvSpPr txBox="1"/>
          <p:nvPr/>
        </p:nvSpPr>
        <p:spPr>
          <a:xfrm>
            <a:off x="841248" y="3895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000027</a:t>
            </a:r>
            <a:endParaRPr lang="en-US" sz="1040" dirty="0"/>
          </a:p>
        </p:txBody>
      </p:sp>
      <p:sp>
        <p:nvSpPr>
          <p:cNvPr id="46" name="Text 44"/>
          <p:cNvSpPr txBox="1"/>
          <p:nvPr/>
        </p:nvSpPr>
        <p:spPr>
          <a:xfrm>
            <a:off x="2139696" y="3895344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0.87</a:t>
            </a:r>
            <a:endParaRPr lang="en-US" sz="1040" dirty="0"/>
          </a:p>
        </p:txBody>
      </p:sp>
      <p:sp>
        <p:nvSpPr>
          <p:cNvPr id="47" name="Text 45"/>
          <p:cNvSpPr txBox="1"/>
          <p:nvPr/>
        </p:nvSpPr>
        <p:spPr>
          <a:xfrm>
            <a:off x="3611880" y="3895344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12.90</a:t>
            </a:r>
            <a:endParaRPr lang="en-US" sz="1040" dirty="0"/>
          </a:p>
        </p:txBody>
      </p:sp>
      <p:sp>
        <p:nvSpPr>
          <p:cNvPr id="48" name="Text 46"/>
          <p:cNvSpPr txBox="1"/>
          <p:nvPr/>
        </p:nvSpPr>
        <p:spPr>
          <a:xfrm>
            <a:off x="4873752" y="3895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15.24</a:t>
            </a:r>
            <a:endParaRPr lang="en-US" sz="1040" dirty="0"/>
          </a:p>
        </p:txBody>
      </p:sp>
      <p:sp>
        <p:nvSpPr>
          <p:cNvPr id="49" name="Text 47"/>
          <p:cNvSpPr txBox="1"/>
          <p:nvPr/>
        </p:nvSpPr>
        <p:spPr>
          <a:xfrm>
            <a:off x="6464808" y="389534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2.34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49808" y="4224528"/>
            <a:ext cx="8010144" cy="356616"/>
          </a:xfrm>
          <a:prstGeom prst="rect">
            <a:avLst/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1" name="Text 49"/>
          <p:cNvSpPr txBox="1"/>
          <p:nvPr/>
        </p:nvSpPr>
        <p:spPr>
          <a:xfrm>
            <a:off x="841248" y="42702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b="1" dirty="0">
                <a:solidFill>
                  <a:srgbClr val="D75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000029</a:t>
            </a:r>
            <a:endParaRPr lang="en-US" sz="1040" dirty="0"/>
          </a:p>
        </p:txBody>
      </p:sp>
      <p:sp>
        <p:nvSpPr>
          <p:cNvPr id="52" name="Text 50"/>
          <p:cNvSpPr txBox="1"/>
          <p:nvPr/>
        </p:nvSpPr>
        <p:spPr>
          <a:xfrm>
            <a:off x="2139696" y="427024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D75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0.00</a:t>
            </a:r>
            <a:endParaRPr lang="en-US" sz="1040" dirty="0"/>
          </a:p>
        </p:txBody>
      </p:sp>
      <p:sp>
        <p:nvSpPr>
          <p:cNvPr id="53" name="Text 51"/>
          <p:cNvSpPr txBox="1"/>
          <p:nvPr/>
        </p:nvSpPr>
        <p:spPr>
          <a:xfrm>
            <a:off x="3611880" y="4270248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D75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22.77</a:t>
            </a:r>
            <a:endParaRPr lang="en-US" sz="1040" dirty="0"/>
          </a:p>
        </p:txBody>
      </p:sp>
      <p:sp>
        <p:nvSpPr>
          <p:cNvPr id="54" name="Text 52"/>
          <p:cNvSpPr txBox="1"/>
          <p:nvPr/>
        </p:nvSpPr>
        <p:spPr>
          <a:xfrm>
            <a:off x="4873752" y="42702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D75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1040" dirty="0"/>
          </a:p>
        </p:txBody>
      </p:sp>
      <p:sp>
        <p:nvSpPr>
          <p:cNvPr id="55" name="Text 53"/>
          <p:cNvSpPr txBox="1"/>
          <p:nvPr/>
        </p:nvSpPr>
        <p:spPr>
          <a:xfrm>
            <a:off x="6464808" y="427024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75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107424" y="2103120"/>
            <a:ext cx="2496312" cy="2670048"/>
          </a:xfrm>
          <a:prstGeom prst="roundRect">
            <a:avLst>
              <a:gd name="adj" fmla="val 4762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7" name="Shape 55"/>
          <p:cNvSpPr/>
          <p:nvPr/>
        </p:nvSpPr>
        <p:spPr>
          <a:xfrm>
            <a:off x="9272016" y="2249424"/>
            <a:ext cx="2148840" cy="27432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8" name="Text 56"/>
          <p:cNvSpPr txBox="1"/>
          <p:nvPr/>
        </p:nvSpPr>
        <p:spPr>
          <a:xfrm>
            <a:off x="9326880" y="225856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Unmatched example</a:t>
            </a:r>
            <a:endParaRPr lang="en-US" sz="1000" dirty="0"/>
          </a:p>
        </p:txBody>
      </p:sp>
      <p:pic>
        <p:nvPicPr>
          <p:cNvPr id="59" name="Image 0" descr="/mnt/data/ppt_work/notebook_assets/q3_fusion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28" y="2760968"/>
            <a:ext cx="2203704" cy="686840"/>
          </a:xfrm>
          <a:prstGeom prst="rect">
            <a:avLst/>
          </a:prstGeom>
        </p:spPr>
      </p:pic>
      <p:sp>
        <p:nvSpPr>
          <p:cNvPr id="60" name="Text 57"/>
          <p:cNvSpPr txBox="1"/>
          <p:nvPr/>
        </p:nvSpPr>
        <p:spPr>
          <a:xfrm>
            <a:off x="9345168" y="3685032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 000029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317736" y="4059936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from error average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722376" y="4946904"/>
            <a:ext cx="10771632" cy="329184"/>
          </a:xfrm>
          <a:prstGeom prst="roundRect">
            <a:avLst>
              <a:gd name="adj" fmla="val 36111"/>
            </a:avLst>
          </a:prstGeom>
          <a:solidFill>
            <a:srgbClr val="FFF2D4"/>
          </a:solidFill>
          <a:ln w="12700">
            <a:solidFill>
              <a:srgbClr val="FFF2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3" name="Text 60"/>
          <p:cNvSpPr txBox="1"/>
          <p:nvPr/>
        </p:nvSpPr>
        <p:spPr>
          <a:xfrm>
            <a:off x="841248" y="4992624"/>
            <a:ext cx="10533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estimate = 20th percentile of projected LiDAR points in the YOLO box; GT range is to the labeled 3D object location.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600" b="1">
                <a:solidFill>
                  <a:srgbClr val="191F2C"/>
                </a:solidFill>
                <a:latin typeface="Aptos"/>
              </a:rPr>
              <a:t>Q4(a) Webots navigation setup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400" b="0">
                <a:solidFill>
                  <a:srgbClr val="5D6778"/>
                </a:solidFill>
                <a:latin typeface="Aptos"/>
              </a:rPr>
              <a:t>A Supervisor controller follows a fixed route and records repeatable friction experiments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1216152"/>
            <a:ext cx="6665976" cy="3822192"/>
          </a:xfrm>
          <a:prstGeom prst="roundRect">
            <a:avLst>
              <a:gd name="adj" fmla="val 3110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832104" y="1399032"/>
            <a:ext cx="3044952" cy="310896"/>
          </a:xfrm>
          <a:prstGeom prst="roundRect">
            <a:avLst>
              <a:gd name="adj" fmla="val 38235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 txBox="1"/>
          <p:nvPr/>
        </p:nvSpPr>
        <p:spPr>
          <a:xfrm>
            <a:off x="886968" y="1408176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waypoint route (XY)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0432" y="2112264"/>
            <a:ext cx="0" cy="251460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Shape 12"/>
          <p:cNvSpPr/>
          <p:nvPr/>
        </p:nvSpPr>
        <p:spPr>
          <a:xfrm>
            <a:off x="2269488" y="2112264"/>
            <a:ext cx="0" cy="251460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Shape 13"/>
          <p:cNvSpPr/>
          <p:nvPr/>
        </p:nvSpPr>
        <p:spPr>
          <a:xfrm>
            <a:off x="3368543" y="2112264"/>
            <a:ext cx="0" cy="251460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Shape 14"/>
          <p:cNvSpPr/>
          <p:nvPr/>
        </p:nvSpPr>
        <p:spPr>
          <a:xfrm>
            <a:off x="4467599" y="2112264"/>
            <a:ext cx="0" cy="251460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Shape 15"/>
          <p:cNvSpPr/>
          <p:nvPr/>
        </p:nvSpPr>
        <p:spPr>
          <a:xfrm>
            <a:off x="5566654" y="2112264"/>
            <a:ext cx="0" cy="251460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Shape 16"/>
          <p:cNvSpPr/>
          <p:nvPr/>
        </p:nvSpPr>
        <p:spPr>
          <a:xfrm>
            <a:off x="6665710" y="2112264"/>
            <a:ext cx="0" cy="251460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Shape 17"/>
          <p:cNvSpPr/>
          <p:nvPr/>
        </p:nvSpPr>
        <p:spPr>
          <a:xfrm>
            <a:off x="1051560" y="4355940"/>
            <a:ext cx="5861304" cy="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Shape 18"/>
          <p:cNvSpPr/>
          <p:nvPr/>
        </p:nvSpPr>
        <p:spPr>
          <a:xfrm>
            <a:off x="1051560" y="3666221"/>
            <a:ext cx="5861304" cy="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Shape 19"/>
          <p:cNvSpPr/>
          <p:nvPr/>
        </p:nvSpPr>
        <p:spPr>
          <a:xfrm>
            <a:off x="1051560" y="2976503"/>
            <a:ext cx="5861304" cy="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Shape 20"/>
          <p:cNvSpPr/>
          <p:nvPr/>
        </p:nvSpPr>
        <p:spPr>
          <a:xfrm>
            <a:off x="1051560" y="2286784"/>
            <a:ext cx="5861304" cy="0"/>
          </a:xfrm>
          <a:prstGeom prst="line">
            <a:avLst/>
          </a:prstGeom>
          <a:noFill/>
          <a:ln w="6350">
            <a:solidFill>
              <a:srgbClr val="ECF1F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Shape 21"/>
          <p:cNvSpPr/>
          <p:nvPr/>
        </p:nvSpPr>
        <p:spPr>
          <a:xfrm>
            <a:off x="1170432" y="4355940"/>
            <a:ext cx="1648583" cy="0"/>
          </a:xfrm>
          <a:prstGeom prst="line">
            <a:avLst/>
          </a:prstGeom>
          <a:noFill/>
          <a:ln w="50800">
            <a:solidFill>
              <a:srgbClr val="3477E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Shape 22"/>
          <p:cNvSpPr/>
          <p:nvPr/>
        </p:nvSpPr>
        <p:spPr>
          <a:xfrm>
            <a:off x="2819015" y="4355940"/>
            <a:ext cx="0" cy="0"/>
          </a:xfrm>
          <a:prstGeom prst="line">
            <a:avLst/>
          </a:prstGeom>
          <a:noFill/>
          <a:ln w="50800">
            <a:solidFill>
              <a:srgbClr val="3477E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" name="Shape 23"/>
          <p:cNvSpPr/>
          <p:nvPr/>
        </p:nvSpPr>
        <p:spPr>
          <a:xfrm>
            <a:off x="2819015" y="2424728"/>
            <a:ext cx="3297167" cy="0"/>
          </a:xfrm>
          <a:prstGeom prst="line">
            <a:avLst/>
          </a:prstGeom>
          <a:noFill/>
          <a:ln w="50800">
            <a:solidFill>
              <a:srgbClr val="3477E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6" name="Shape 24"/>
          <p:cNvSpPr/>
          <p:nvPr/>
        </p:nvSpPr>
        <p:spPr>
          <a:xfrm>
            <a:off x="6116182" y="2424728"/>
            <a:ext cx="0" cy="1931213"/>
          </a:xfrm>
          <a:prstGeom prst="line">
            <a:avLst/>
          </a:prstGeom>
          <a:noFill/>
          <a:ln w="50800">
            <a:solidFill>
              <a:srgbClr val="3477E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Shape 25"/>
          <p:cNvSpPr/>
          <p:nvPr/>
        </p:nvSpPr>
        <p:spPr>
          <a:xfrm>
            <a:off x="6116182" y="4355940"/>
            <a:ext cx="714386" cy="0"/>
          </a:xfrm>
          <a:prstGeom prst="line">
            <a:avLst/>
          </a:prstGeom>
          <a:noFill/>
          <a:ln w="50800">
            <a:solidFill>
              <a:srgbClr val="3477E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Shape 26"/>
          <p:cNvSpPr/>
          <p:nvPr/>
        </p:nvSpPr>
        <p:spPr>
          <a:xfrm>
            <a:off x="1083564" y="4269072"/>
            <a:ext cx="173736" cy="173736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Text 27"/>
          <p:cNvSpPr txBox="1"/>
          <p:nvPr/>
        </p:nvSpPr>
        <p:spPr>
          <a:xfrm>
            <a:off x="841248" y="448395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32147" y="4269072"/>
            <a:ext cx="173736" cy="173736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1" name="Text 29"/>
          <p:cNvSpPr txBox="1"/>
          <p:nvPr/>
        </p:nvSpPr>
        <p:spPr>
          <a:xfrm>
            <a:off x="2489831" y="448395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32147" y="2337860"/>
            <a:ext cx="173736" cy="173736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3" name="Text 31"/>
          <p:cNvSpPr txBox="1"/>
          <p:nvPr/>
        </p:nvSpPr>
        <p:spPr>
          <a:xfrm>
            <a:off x="2489831" y="2058968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29314" y="2337860"/>
            <a:ext cx="173736" cy="173736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5" name="Text 33"/>
          <p:cNvSpPr txBox="1"/>
          <p:nvPr/>
        </p:nvSpPr>
        <p:spPr>
          <a:xfrm>
            <a:off x="5786998" y="2058968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29314" y="4269072"/>
            <a:ext cx="173736" cy="173736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7" name="Text 35"/>
          <p:cNvSpPr txBox="1"/>
          <p:nvPr/>
        </p:nvSpPr>
        <p:spPr>
          <a:xfrm>
            <a:off x="5786998" y="448395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3700" y="4269072"/>
            <a:ext cx="173736" cy="173736"/>
          </a:xfrm>
          <a:prstGeom prst="ellipse">
            <a:avLst/>
          </a:prstGeom>
          <a:solidFill>
            <a:srgbClr val="DC5791"/>
          </a:solidFill>
          <a:ln w="12700">
            <a:solidFill>
              <a:srgbClr val="DC579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9" name="Text 37"/>
          <p:cNvSpPr txBox="1"/>
          <p:nvPr/>
        </p:nvSpPr>
        <p:spPr>
          <a:xfrm>
            <a:off x="6501384" y="448395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42416" y="4745736"/>
            <a:ext cx="5934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 starts at (−3.0, 0) and follows 5 waypoints toward (2.15, 0).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7498080" y="1216152"/>
            <a:ext cx="4041648" cy="3822192"/>
          </a:xfrm>
          <a:prstGeom prst="roundRect">
            <a:avLst>
              <a:gd name="adj" fmla="val 3110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2" name="Shape 40"/>
          <p:cNvSpPr/>
          <p:nvPr/>
        </p:nvSpPr>
        <p:spPr>
          <a:xfrm>
            <a:off x="7717536" y="1426464"/>
            <a:ext cx="3602736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3" name="Shape 41"/>
          <p:cNvSpPr/>
          <p:nvPr/>
        </p:nvSpPr>
        <p:spPr>
          <a:xfrm>
            <a:off x="7854696" y="1563624"/>
            <a:ext cx="283464" cy="283464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4" name="Text 42"/>
          <p:cNvSpPr txBox="1"/>
          <p:nvPr/>
        </p:nvSpPr>
        <p:spPr>
          <a:xfrm>
            <a:off x="7854696" y="1563624"/>
            <a:ext cx="28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247888" y="148132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4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GPS + encoders</a:t>
            </a:r>
            <a:endParaRPr lang="en-US" sz="1140" dirty="0"/>
          </a:p>
        </p:txBody>
      </p:sp>
      <p:sp>
        <p:nvSpPr>
          <p:cNvPr id="46" name="Text 44"/>
          <p:cNvSpPr txBox="1"/>
          <p:nvPr/>
        </p:nvSpPr>
        <p:spPr>
          <a:xfrm>
            <a:off x="8247888" y="1737360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position and wheel motion</a:t>
            </a:r>
            <a:endParaRPr lang="en-US" sz="940" dirty="0"/>
          </a:p>
        </p:txBody>
      </p:sp>
      <p:sp>
        <p:nvSpPr>
          <p:cNvPr id="47" name="Shape 45"/>
          <p:cNvSpPr/>
          <p:nvPr/>
        </p:nvSpPr>
        <p:spPr>
          <a:xfrm>
            <a:off x="7717536" y="2093976"/>
            <a:ext cx="3602736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8" name="Shape 46"/>
          <p:cNvSpPr/>
          <p:nvPr/>
        </p:nvSpPr>
        <p:spPr>
          <a:xfrm>
            <a:off x="7854696" y="2231136"/>
            <a:ext cx="283464" cy="283464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9" name="Text 47"/>
          <p:cNvSpPr txBox="1"/>
          <p:nvPr/>
        </p:nvSpPr>
        <p:spPr>
          <a:xfrm>
            <a:off x="7854696" y="2231136"/>
            <a:ext cx="28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2148840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4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Waypoint heading</a:t>
            </a:r>
            <a:endParaRPr lang="en-US" sz="1140" dirty="0"/>
          </a:p>
        </p:txBody>
      </p:sp>
      <p:sp>
        <p:nvSpPr>
          <p:cNvPr id="51" name="Text 49"/>
          <p:cNvSpPr txBox="1"/>
          <p:nvPr/>
        </p:nvSpPr>
        <p:spPr>
          <a:xfrm>
            <a:off x="8247888" y="2404872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target angle and speed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7717536" y="2761488"/>
            <a:ext cx="3602736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3" name="Shape 51"/>
          <p:cNvSpPr/>
          <p:nvPr/>
        </p:nvSpPr>
        <p:spPr>
          <a:xfrm>
            <a:off x="7854696" y="2898648"/>
            <a:ext cx="283464" cy="283464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4" name="Text 52"/>
          <p:cNvSpPr txBox="1"/>
          <p:nvPr/>
        </p:nvSpPr>
        <p:spPr>
          <a:xfrm>
            <a:off x="7854696" y="2898648"/>
            <a:ext cx="28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8247888" y="2816352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4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obstacle check</a:t>
            </a:r>
            <a:endParaRPr lang="en-US" sz="1140" dirty="0"/>
          </a:p>
        </p:txBody>
      </p:sp>
      <p:sp>
        <p:nvSpPr>
          <p:cNvPr id="56" name="Text 54"/>
          <p:cNvSpPr txBox="1"/>
          <p:nvPr/>
        </p:nvSpPr>
        <p:spPr>
          <a:xfrm>
            <a:off x="8247888" y="3072384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if front range &lt; 0.65 m</a:t>
            </a:r>
            <a:endParaRPr lang="en-US" sz="940" dirty="0"/>
          </a:p>
        </p:txBody>
      </p:sp>
      <p:sp>
        <p:nvSpPr>
          <p:cNvPr id="57" name="Shape 55"/>
          <p:cNvSpPr/>
          <p:nvPr/>
        </p:nvSpPr>
        <p:spPr>
          <a:xfrm>
            <a:off x="7717536" y="3429000"/>
            <a:ext cx="3602736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8" name="Shape 56"/>
          <p:cNvSpPr/>
          <p:nvPr/>
        </p:nvSpPr>
        <p:spPr>
          <a:xfrm>
            <a:off x="7854696" y="3566160"/>
            <a:ext cx="283464" cy="283464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9" name="Text 57"/>
          <p:cNvSpPr txBox="1"/>
          <p:nvPr/>
        </p:nvSpPr>
        <p:spPr>
          <a:xfrm>
            <a:off x="7854696" y="3566160"/>
            <a:ext cx="28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8247888" y="3483864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4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commands</a:t>
            </a:r>
            <a:endParaRPr lang="en-US" sz="1140" dirty="0"/>
          </a:p>
        </p:txBody>
      </p:sp>
      <p:sp>
        <p:nvSpPr>
          <p:cNvPr id="61" name="Text 59"/>
          <p:cNvSpPr txBox="1"/>
          <p:nvPr/>
        </p:nvSpPr>
        <p:spPr>
          <a:xfrm>
            <a:off x="8247888" y="3739896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Differential-drive wheel speeds</a:t>
            </a:r>
            <a:endParaRPr lang="en-US" sz="940" dirty="0"/>
          </a:p>
        </p:txBody>
      </p:sp>
      <p:sp>
        <p:nvSpPr>
          <p:cNvPr id="62" name="Shape 60"/>
          <p:cNvSpPr/>
          <p:nvPr/>
        </p:nvSpPr>
        <p:spPr>
          <a:xfrm>
            <a:off x="7717536" y="4096512"/>
            <a:ext cx="3602736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3" name="Shape 61"/>
          <p:cNvSpPr/>
          <p:nvPr/>
        </p:nvSpPr>
        <p:spPr>
          <a:xfrm>
            <a:off x="7854696" y="4233672"/>
            <a:ext cx="283464" cy="283464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4" name="Text 62"/>
          <p:cNvSpPr txBox="1"/>
          <p:nvPr/>
        </p:nvSpPr>
        <p:spPr>
          <a:xfrm>
            <a:off x="7854696" y="4233672"/>
            <a:ext cx="28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8247888" y="4151376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4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</a:t>
            </a:r>
            <a:endParaRPr lang="en-US" sz="1140" dirty="0"/>
          </a:p>
        </p:txBody>
      </p:sp>
      <p:sp>
        <p:nvSpPr>
          <p:cNvPr id="66" name="Text 64"/>
          <p:cNvSpPr txBox="1"/>
          <p:nvPr/>
        </p:nvSpPr>
        <p:spPr>
          <a:xfrm>
            <a:off x="8247888" y="4407408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all sensors and camera frames</a:t>
            </a:r>
            <a:endParaRPr lang="en-US" sz="9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600" b="1">
                <a:solidFill>
                  <a:srgbClr val="191F2C"/>
                </a:solidFill>
                <a:latin typeface="Aptos"/>
              </a:rPr>
              <a:t>Q4(a) Slip estimation and experiment logs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400" b="0">
                <a:solidFill>
                  <a:srgbClr val="5D6778"/>
                </a:solidFill>
                <a:latin typeface="Aptos"/>
              </a:rPr>
              <a:t>Longitudinal slip is computed from encoder and GPS velocity; every trial saves synchronized sensor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261872"/>
            <a:ext cx="5715000" cy="2112264"/>
          </a:xfrm>
          <a:prstGeom prst="roundRect">
            <a:avLst>
              <a:gd name="adj" fmla="val 562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 txBox="1"/>
          <p:nvPr/>
        </p:nvSpPr>
        <p:spPr>
          <a:xfrm>
            <a:off x="868680" y="1490472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 slip estimate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029968"/>
            <a:ext cx="5102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slip = (v_enc − v_x) / v_x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697480"/>
            <a:ext cx="5129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v_enc = 0.1 · (ω_left + ω_right) / 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063240"/>
            <a:ext cx="5102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Computed only when |v_x| ≥ 0.05 m/s.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519672" y="1261872"/>
            <a:ext cx="5065776" cy="2112264"/>
          </a:xfrm>
          <a:prstGeom prst="roundRect">
            <a:avLst>
              <a:gd name="adj" fmla="val 5628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4"/>
          <p:cNvSpPr txBox="1"/>
          <p:nvPr/>
        </p:nvSpPr>
        <p:spPr>
          <a:xfrm>
            <a:off x="6812280" y="1472184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Recorded devices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821424" y="1920240"/>
            <a:ext cx="118872" cy="11887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Text 16"/>
          <p:cNvSpPr txBox="1"/>
          <p:nvPr/>
        </p:nvSpPr>
        <p:spPr>
          <a:xfrm>
            <a:off x="7059168" y="1874520"/>
            <a:ext cx="4215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GPS · accelerometer · gyro · IMU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821424" y="2221992"/>
            <a:ext cx="118872" cy="11887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8"/>
          <p:cNvSpPr txBox="1"/>
          <p:nvPr/>
        </p:nvSpPr>
        <p:spPr>
          <a:xfrm>
            <a:off x="7059168" y="2176272"/>
            <a:ext cx="4215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Left/right encoders · left/right motors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821424" y="2523744"/>
            <a:ext cx="118872" cy="11887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 txBox="1"/>
          <p:nvPr/>
        </p:nvSpPr>
        <p:spPr>
          <a:xfrm>
            <a:off x="7059168" y="2478024"/>
            <a:ext cx="4215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snapshots every 12 steps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6821424" y="2825496"/>
            <a:ext cx="118872" cy="11887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Text 22"/>
          <p:cNvSpPr txBox="1"/>
          <p:nvPr/>
        </p:nvSpPr>
        <p:spPr>
          <a:xfrm>
            <a:off x="7059168" y="2779776"/>
            <a:ext cx="4215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range array every simulation step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612648" y="3547872"/>
            <a:ext cx="10972800" cy="1481328"/>
          </a:xfrm>
          <a:prstGeom prst="roundRect">
            <a:avLst>
              <a:gd name="adj" fmla="val 8025"/>
            </a:avLst>
          </a:prstGeom>
          <a:solidFill>
            <a:srgbClr val="FFFFFF"/>
          </a:solidFill>
          <a:ln w="762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6" name="Shape 24"/>
          <p:cNvSpPr/>
          <p:nvPr/>
        </p:nvSpPr>
        <p:spPr>
          <a:xfrm>
            <a:off x="832104" y="3730752"/>
            <a:ext cx="3328416" cy="292608"/>
          </a:xfrm>
          <a:prstGeom prst="roundRect">
            <a:avLst>
              <a:gd name="adj" fmla="val 40625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Text 25"/>
          <p:cNvSpPr txBox="1"/>
          <p:nvPr/>
        </p:nvSpPr>
        <p:spPr>
          <a:xfrm>
            <a:off x="886968" y="3739896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per friction condition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4169664"/>
            <a:ext cx="2523744" cy="676656"/>
          </a:xfrm>
          <a:prstGeom prst="roundRect">
            <a:avLst>
              <a:gd name="adj" fmla="val 1756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Text 27"/>
          <p:cNvSpPr txBox="1"/>
          <p:nvPr/>
        </p:nvSpPr>
        <p:spPr>
          <a:xfrm>
            <a:off x="896112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sensors.csv</a:t>
            </a:r>
            <a:endParaRPr lang="en-US" sz="1170" dirty="0"/>
          </a:p>
        </p:txBody>
      </p:sp>
      <p:sp>
        <p:nvSpPr>
          <p:cNvPr id="30" name="Text 28"/>
          <p:cNvSpPr txBox="1"/>
          <p:nvPr/>
        </p:nvSpPr>
        <p:spPr>
          <a:xfrm>
            <a:off x="905256" y="452628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GPS XY, distance, wheel speed, slip, IMU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3493008" y="4169664"/>
            <a:ext cx="2523744" cy="676656"/>
          </a:xfrm>
          <a:prstGeom prst="roundRect">
            <a:avLst>
              <a:gd name="adj" fmla="val 17568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2" name="Text 30"/>
          <p:cNvSpPr txBox="1"/>
          <p:nvPr/>
        </p:nvSpPr>
        <p:spPr>
          <a:xfrm>
            <a:off x="3566160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lidar.jsonl</a:t>
            </a:r>
            <a:endParaRPr lang="en-US" sz="1170" dirty="0"/>
          </a:p>
        </p:txBody>
      </p:sp>
      <p:sp>
        <p:nvSpPr>
          <p:cNvPr id="33" name="Text 31"/>
          <p:cNvSpPr txBox="1"/>
          <p:nvPr/>
        </p:nvSpPr>
        <p:spPr>
          <a:xfrm>
            <a:off x="3575304" y="452628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Timestamped LiDAR ranges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6163056" y="4169664"/>
            <a:ext cx="2523744" cy="676656"/>
          </a:xfrm>
          <a:prstGeom prst="roundRect">
            <a:avLst>
              <a:gd name="adj" fmla="val 1756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5" name="Text 33"/>
          <p:cNvSpPr txBox="1"/>
          <p:nvPr/>
        </p:nvSpPr>
        <p:spPr>
          <a:xfrm>
            <a:off x="6236208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camera/</a:t>
            </a:r>
            <a:endParaRPr lang="en-US" sz="1170" dirty="0"/>
          </a:p>
        </p:txBody>
      </p:sp>
      <p:sp>
        <p:nvSpPr>
          <p:cNvPr id="36" name="Text 34"/>
          <p:cNvSpPr txBox="1"/>
          <p:nvPr/>
        </p:nvSpPr>
        <p:spPr>
          <a:xfrm>
            <a:off x="6245352" y="452628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Recorded PNG images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8833104" y="4169664"/>
            <a:ext cx="2523744" cy="676656"/>
          </a:xfrm>
          <a:prstGeom prst="roundRect">
            <a:avLst>
              <a:gd name="adj" fmla="val 17568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8" name="Text 36"/>
          <p:cNvSpPr txBox="1"/>
          <p:nvPr/>
        </p:nvSpPr>
        <p:spPr>
          <a:xfrm>
            <a:off x="8906256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summary.json</a:t>
            </a:r>
            <a:endParaRPr lang="en-US" sz="1170" dirty="0"/>
          </a:p>
        </p:txBody>
      </p:sp>
      <p:sp>
        <p:nvSpPr>
          <p:cNvPr id="39" name="Text 37"/>
          <p:cNvSpPr txBox="1"/>
          <p:nvPr/>
        </p:nvSpPr>
        <p:spPr>
          <a:xfrm>
            <a:off x="8915400" y="452628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reached, time, distance, clearance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502920" y="228600"/>
            <a:ext cx="694944" cy="338328"/>
          </a:xfrm>
          <a:prstGeom prst="roundRect">
            <a:avLst>
              <a:gd name="adj" fmla="val 35135"/>
            </a:avLst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557784" y="237744"/>
            <a:ext cx="585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"/>
            <a:ext cx="9646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600" b="1">
                <a:solidFill>
                  <a:srgbClr val="191F2C"/>
                </a:solidFill>
                <a:latin typeface="Aptos"/>
              </a:rPr>
              <a:t>Q4(b–c) Friction experiment results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400" b="0">
                <a:solidFill>
                  <a:srgbClr val="5D6778"/>
                </a:solidFill>
                <a:latin typeface="Aptos"/>
              </a:rPr>
              <a:t>Higher wheel–floor friction greatly reduces measured longitudinal slip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100" dirty="0"/>
          </a:p>
        </p:txBody>
      </p:sp>
      <p:sp>
        <p:nvSpPr>
          <p:cNvPr id="10" name="Rounded Rectangle 9"/>
          <p:cNvSpPr/>
          <p:nvPr/>
        </p:nvSpPr>
        <p:spPr>
          <a:xfrm>
            <a:off x="621792" y="1298448"/>
            <a:ext cx="3246120" cy="1993392"/>
          </a:xfrm>
          <a:prstGeom prst="roundRect">
            <a:avLst>
              <a:gd name="adj" fmla="val 8000"/>
            </a:avLst>
          </a:prstGeom>
          <a:solidFill>
            <a:srgbClr val="FFF2D4"/>
          </a:solidFill>
          <a:ln>
            <a:solidFill>
              <a:srgbClr val="FFF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140817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38100" rtlCol="0" anchor="ctr"/>
          <a:lstStyle/>
          <a:p>
            <a:pPr algn="ctr"/>
            <a:r>
              <a:rPr sz="1450" b="1">
                <a:solidFill>
                  <a:srgbClr val="191F2C"/>
                </a:solidFill>
                <a:latin typeface="Aptos"/>
              </a:rPr>
              <a:t>Key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792224"/>
            <a:ext cx="260604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91F2C"/>
                </a:solidFill>
                <a:latin typeface="Aptos"/>
              </a:defRPr>
            </a:pPr>
            <a:r>
              <a:t>3 baseline trials (μ = 0.12) and 3 higher-friction trials (μ = 1.0).</a:t>
            </a:r>
          </a:p>
          <a:p>
            <a:pPr>
              <a:spcAft>
                <a:spcPts val="500"/>
              </a:spcAft>
              <a:defRPr sz="1300">
                <a:solidFill>
                  <a:srgbClr val="191F2C"/>
                </a:solidFill>
                <a:latin typeface="Aptos"/>
              </a:defRPr>
            </a:pPr>
            <a:r>
              <a:t>6/6 runs reached the stopping area near the target.</a:t>
            </a:r>
          </a:p>
          <a:p>
            <a:pPr>
              <a:spcAft>
                <a:spcPts val="500"/>
              </a:spcAft>
              <a:defRPr sz="1300">
                <a:solidFill>
                  <a:srgbClr val="191F2C"/>
                </a:solidFill>
                <a:latin typeface="Aptos"/>
              </a:defRPr>
            </a:pPr>
            <a:r>
              <a:t>Mean |slip| dropped by 94.8%.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1298448"/>
            <a:ext cx="7498079" cy="1993392"/>
          </a:xfrm>
          <a:prstGeom prst="roundRect">
            <a:avLst>
              <a:gd name="adj" fmla="val 8000"/>
            </a:avLst>
          </a:prstGeom>
          <a:solidFill>
            <a:srgbClr val="FBE6F0"/>
          </a:solidFill>
          <a:ln>
            <a:solidFill>
              <a:srgbClr val="FB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178808" y="1408176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38100" rtlCol="0" anchor="ctr"/>
          <a:lstStyle/>
          <a:p>
            <a:pPr algn="ctr"/>
            <a:r>
              <a:rPr sz="1450" b="1">
                <a:solidFill>
                  <a:srgbClr val="191F2C"/>
                </a:solidFill>
                <a:latin typeface="Aptos"/>
              </a:rPr>
              <a:t>Condition 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1828800"/>
            <a:ext cx="1417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5D6778"/>
                </a:solidFill>
                <a:latin typeface="Aptos"/>
              </a:rPr>
              <a:t>Condition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1828800"/>
            <a:ext cx="1417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5D6778"/>
                </a:solidFill>
                <a:latin typeface="Aptos"/>
              </a:rPr>
              <a:t>Mean |slip|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2088" y="1828800"/>
            <a:ext cx="1417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5D6778"/>
                </a:solidFill>
                <a:latin typeface="Aptos"/>
              </a:rPr>
              <a:t>Duration [s]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828800"/>
            <a:ext cx="1417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5D6778"/>
                </a:solidFill>
                <a:latin typeface="Aptos"/>
              </a:rPr>
              <a:t>Distance [m]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011680"/>
            <a:ext cx="6839712" cy="16510"/>
          </a:xfrm>
          <a:prstGeom prst="rect">
            <a:avLst/>
          </a:prstGeom>
          <a:solidFill>
            <a:srgbClr val="5D6778"/>
          </a:solidFill>
          <a:ln>
            <a:solidFill>
              <a:srgbClr val="5D6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07408" y="2176272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176272"/>
            <a:ext cx="1325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6.7622%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2176272"/>
            <a:ext cx="1234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28.3520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176272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7.248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2487168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High friction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1888" y="2487168"/>
            <a:ext cx="1325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0.3515%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2487168"/>
            <a:ext cx="1234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27.9093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487168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91F2C"/>
                </a:solidFill>
                <a:latin typeface="Aptos"/>
              </a:rPr>
              <a:t>7.176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2706624"/>
            <a:ext cx="15544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sz="1200" b="1">
                <a:solidFill>
                  <a:srgbClr val="191F2C"/>
                </a:solidFill>
                <a:latin typeface="Aptos"/>
              </a:rPr>
              <a:t>94.8% reduction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" y="3493008"/>
            <a:ext cx="10954512" cy="2240280"/>
          </a:xfrm>
          <a:prstGeom prst="roundRect">
            <a:avLst>
              <a:gd name="adj" fmla="val 8000"/>
            </a:avLst>
          </a:prstGeom>
          <a:solidFill>
            <a:srgbClr val="E4EEFF"/>
          </a:solidFill>
          <a:ln>
            <a:solidFill>
              <a:srgbClr val="E4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31520" y="3602736"/>
            <a:ext cx="288036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38100" rtlCol="0" anchor="ctr"/>
          <a:lstStyle/>
          <a:p>
            <a:pPr algn="ctr"/>
            <a:r>
              <a:rPr sz="1450" b="1">
                <a:solidFill>
                  <a:srgbClr val="191F2C"/>
                </a:solidFill>
                <a:latin typeface="Aptos"/>
              </a:rPr>
              <a:t>Trajectory coloured by slip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858768"/>
            <a:ext cx="10012680" cy="24350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 txBox="1"/>
          <p:nvPr/>
        </p:nvSpPr>
        <p:spPr>
          <a:xfrm>
            <a:off x="530352" y="173736"/>
            <a:ext cx="11064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600" b="1">
                <a:solidFill>
                  <a:srgbClr val="191F2C"/>
                </a:solidFill>
                <a:latin typeface="Aptos"/>
              </a:rPr>
              <a:t>Assignment 2 — Summary and conclusions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6583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400" b="0">
                <a:solidFill>
                  <a:srgbClr val="5D6778"/>
                </a:solidFill>
                <a:latin typeface="Aptos"/>
              </a:rPr>
              <a:t>What we implemented and measured across camera, LiDAR, fusion and Webots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1208" y="5440680"/>
            <a:ext cx="11137392" cy="0"/>
          </a:xfrm>
          <a:prstGeom prst="line">
            <a:avLst/>
          </a:prstGeom>
          <a:noFill/>
          <a:ln w="635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 txBox="1"/>
          <p:nvPr/>
        </p:nvSpPr>
        <p:spPr>
          <a:xfrm>
            <a:off x="576072" y="5468112"/>
            <a:ext cx="6035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A9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2  |  Group 9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1475720" y="17373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152144"/>
            <a:ext cx="10981944" cy="850392"/>
          </a:xfrm>
          <a:prstGeom prst="roundRect">
            <a:avLst>
              <a:gd name="adj" fmla="val 13978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9" name="Shape 7"/>
          <p:cNvSpPr/>
          <p:nvPr/>
        </p:nvSpPr>
        <p:spPr>
          <a:xfrm>
            <a:off x="822960" y="1362456"/>
            <a:ext cx="438912" cy="438912"/>
          </a:xfrm>
          <a:prstGeom prst="ellipse">
            <a:avLst/>
          </a:prstGeom>
          <a:solidFill>
            <a:srgbClr val="3477EF"/>
          </a:solidFill>
          <a:ln w="12700">
            <a:solidFill>
              <a:srgbClr val="3477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8"/>
          <p:cNvSpPr txBox="1"/>
          <p:nvPr/>
        </p:nvSpPr>
        <p:spPr>
          <a:xfrm>
            <a:off x="832104" y="1426464"/>
            <a:ext cx="411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126187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geometry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127101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889/900 YOLO detections; 70 depth corrections; R² = 1.0 mapping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1261872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intrinsics need correct image resolution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1792" y="2157984"/>
            <a:ext cx="10981944" cy="850392"/>
          </a:xfrm>
          <a:prstGeom prst="roundRect">
            <a:avLst>
              <a:gd name="adj" fmla="val 13978"/>
            </a:avLst>
          </a:prstGeom>
          <a:solidFill>
            <a:srgbClr val="E1F5EF"/>
          </a:solidFill>
          <a:ln w="12700">
            <a:solidFill>
              <a:srgbClr val="E1F5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Shape 13"/>
          <p:cNvSpPr/>
          <p:nvPr/>
        </p:nvSpPr>
        <p:spPr>
          <a:xfrm>
            <a:off x="822960" y="2368296"/>
            <a:ext cx="438912" cy="438912"/>
          </a:xfrm>
          <a:prstGeom prst="ellipse">
            <a:avLst/>
          </a:prstGeom>
          <a:solidFill>
            <a:srgbClr val="15A68C"/>
          </a:solidFill>
          <a:ln w="12700">
            <a:solidFill>
              <a:srgbClr val="15A6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4"/>
          <p:cNvSpPr txBox="1"/>
          <p:nvPr/>
        </p:nvSpPr>
        <p:spPr>
          <a:xfrm>
            <a:off x="832104" y="2432304"/>
            <a:ext cx="411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22677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motion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57016" y="227685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99/99 load centroids; 0.785 m Y span; ≈ 0 sensor motion</a:t>
            </a:r>
            <a:endParaRPr lang="en-US" sz="116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2267712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KISS-ICP tracks sensor pose, not the moving load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621792" y="3163824"/>
            <a:ext cx="10981944" cy="850392"/>
          </a:xfrm>
          <a:prstGeom prst="roundRect">
            <a:avLst>
              <a:gd name="adj" fmla="val 13978"/>
            </a:avLst>
          </a:prstGeom>
          <a:solidFill>
            <a:srgbClr val="FBE6F0"/>
          </a:solidFill>
          <a:ln w="12700">
            <a:solidFill>
              <a:srgbClr val="FBE6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Shape 19"/>
          <p:cNvSpPr/>
          <p:nvPr/>
        </p:nvSpPr>
        <p:spPr>
          <a:xfrm>
            <a:off x="822960" y="3374136"/>
            <a:ext cx="438912" cy="438912"/>
          </a:xfrm>
          <a:prstGeom prst="ellipse">
            <a:avLst/>
          </a:prstGeom>
          <a:solidFill>
            <a:srgbClr val="DC5791"/>
          </a:solidFill>
          <a:ln w="12700">
            <a:solidFill>
              <a:srgbClr val="DC579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 txBox="1"/>
          <p:nvPr/>
        </p:nvSpPr>
        <p:spPr>
          <a:xfrm>
            <a:off x="832104" y="3438144"/>
            <a:ext cx="411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99616" y="327355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2E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fusion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57016" y="328269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dirty="0">
                <a:solidFill>
                  <a:srgbClr val="243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4/5 KITTI box associations; mean range difference 1.82 m</a:t>
            </a:r>
            <a:endParaRPr lang="en-US" sz="1160" dirty="0"/>
          </a:p>
        </p:txBody>
      </p:sp>
      <p:sp>
        <p:nvSpPr>
          <p:cNvPr id="25" name="Text 23"/>
          <p:cNvSpPr txBox="1"/>
          <p:nvPr/>
        </p:nvSpPr>
        <p:spPr>
          <a:xfrm>
            <a:off x="8339328" y="3273552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868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five-frame sample; range surfaces differ</a:t>
            </a:r>
            <a:endParaRPr lang="en-US" sz="1040" dirty="0"/>
          </a:p>
        </p:txBody>
      </p:sp>
      <p:sp>
        <p:nvSpPr>
          <p:cNvPr id="26" name="Shape 24"/>
          <p:cNvSpPr/>
          <p:nvPr/>
        </p:nvSpPr>
        <p:spPr>
          <a:xfrm>
            <a:off x="621792" y="4169664"/>
            <a:ext cx="10981944" cy="850392"/>
          </a:xfrm>
          <a:prstGeom prst="roundRect">
            <a:avLst>
              <a:gd name="adj" fmla="val 13978"/>
            </a:avLst>
          </a:prstGeom>
          <a:solidFill>
            <a:srgbClr val="EFE8FA"/>
          </a:solidFill>
          <a:ln w="12700">
            <a:solidFill>
              <a:srgbClr val="EFE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Shape 25"/>
          <p:cNvSpPr/>
          <p:nvPr/>
        </p:nvSpPr>
        <p:spPr>
          <a:xfrm>
            <a:off x="822960" y="4379976"/>
            <a:ext cx="438912" cy="438912"/>
          </a:xfrm>
          <a:prstGeom prst="ellipse">
            <a:avLst/>
          </a:prstGeom>
          <a:solidFill>
            <a:srgbClr val="9B73C8"/>
          </a:solidFill>
          <a:ln w="12700">
            <a:solidFill>
              <a:srgbClr val="9B73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6"/>
          <p:cNvSpPr txBox="1"/>
          <p:nvPr/>
        </p:nvSpPr>
        <p:spPr>
          <a:xfrm>
            <a:off x="832104" y="4443984"/>
            <a:ext cx="411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499616" y="427939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600" b="0">
                <a:solidFill>
                  <a:srgbClr val="191F2C"/>
                </a:solidFill>
                <a:latin typeface="Aptos"/>
              </a:rPr>
              <a:t>Webots experiments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57016" y="428853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500" b="0">
                <a:solidFill>
                  <a:srgbClr val="191F2C"/>
                </a:solidFill>
                <a:latin typeface="Aptos"/>
              </a:rPr>
              <a:t>6 successful Webots runs; mean absolute slip fell from 6.76% to 0.35%</a:t>
            </a:r>
            <a:endParaRPr lang="en-US" sz="116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4279392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sz="1500" b="0">
                <a:solidFill>
                  <a:srgbClr val="191F2C"/>
                </a:solidFill>
                <a:latin typeface="Aptos"/>
              </a:rPr>
              <a:t>Higher friction reduced slip by 94.8% while keeping path length and duration almost unchanged</a:t>
            </a:r>
            <a:endParaRPr lang="en-US" sz="1040" dirty="0"/>
          </a:p>
        </p:txBody>
      </p:sp>
      <p:sp>
        <p:nvSpPr>
          <p:cNvPr id="32" name="Shape 30"/>
          <p:cNvSpPr/>
          <p:nvPr/>
        </p:nvSpPr>
        <p:spPr>
          <a:xfrm>
            <a:off x="804672" y="5239512"/>
            <a:ext cx="10552176" cy="128016"/>
          </a:xfrm>
          <a:prstGeom prst="roundRect">
            <a:avLst>
              <a:gd name="adj" fmla="val 92857"/>
            </a:avLst>
          </a:prstGeom>
          <a:solidFill>
            <a:srgbClr val="E4EEFF"/>
          </a:solidFill>
          <a:ln w="12700">
            <a:solidFill>
              <a:srgbClr val="E4E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E21095A403984F8B2CDC03F4F04DC9" ma:contentTypeVersion="13" ma:contentTypeDescription="Create a new document." ma:contentTypeScope="" ma:versionID="229887b30d860afe8efe46fb4193a4b9">
  <xsd:schema xmlns:xsd="http://www.w3.org/2001/XMLSchema" xmlns:xs="http://www.w3.org/2001/XMLSchema" xmlns:p="http://schemas.microsoft.com/office/2006/metadata/properties" xmlns:ns3="33706226-0a30-4d53-a2fe-a398e0596b1f" xmlns:ns4="bf58510d-6325-4495-b2b7-1786a70f58ca" targetNamespace="http://schemas.microsoft.com/office/2006/metadata/properties" ma:root="true" ma:fieldsID="1375df6261dfbb336c5b2e9d06f1d5f2" ns3:_="" ns4:_="">
    <xsd:import namespace="33706226-0a30-4d53-a2fe-a398e0596b1f"/>
    <xsd:import namespace="bf58510d-6325-4495-b2b7-1786a70f58c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706226-0a30-4d53-a2fe-a398e0596b1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58510d-6325-4495-b2b7-1786a70f58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3706226-0a30-4d53-a2fe-a398e0596b1f" xsi:nil="true"/>
  </documentManagement>
</p:properties>
</file>

<file path=customXml/itemProps1.xml><?xml version="1.0" encoding="utf-8"?>
<ds:datastoreItem xmlns:ds="http://schemas.openxmlformats.org/officeDocument/2006/customXml" ds:itemID="{D3A7D2EA-F679-4053-8514-CF88423EA9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3706226-0a30-4d53-a2fe-a398e0596b1f"/>
    <ds:schemaRef ds:uri="bf58510d-6325-4495-b2b7-1786a70f58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87A5AEA-FDD6-4992-A86F-6E1E8B2F34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0A27E58-5D5F-4E41-B872-4A62E5978D34}">
  <ds:schemaRefs>
    <ds:schemaRef ds:uri="http://schemas.microsoft.com/office/2006/documentManagement/types"/>
    <ds:schemaRef ds:uri="http://purl.org/dc/terms/"/>
    <ds:schemaRef ds:uri="http://purl.org/dc/dcmitype/"/>
    <ds:schemaRef ds:uri="http://www.w3.org/XML/1998/namespace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http://schemas.microsoft.com/office/infopath/2007/PartnerControls"/>
    <ds:schemaRef ds:uri="bf58510d-6325-4495-b2b7-1786a70f58ca"/>
    <ds:schemaRef ds:uri="33706226-0a30-4d53-a2fe-a398e0596b1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1725</Words>
  <Application>Microsoft Office PowerPoint</Application>
  <PresentationFormat>Egendefinert</PresentationFormat>
  <Paragraphs>373</Paragraphs>
  <Slides>18</Slides>
  <Notes>18</Notes>
  <HiddenSlides>0</HiddenSlides>
  <MMClips>0</MMClips>
  <ScaleCrop>false</ScaleCrop>
  <HeadingPairs>
    <vt:vector size="6" baseType="variant">
      <vt:variant>
        <vt:lpstr>Brukte skrifter</vt:lpstr>
      </vt:variant>
      <vt:variant>
        <vt:i4>4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Aptos Mono</vt:lpstr>
      <vt:lpstr>Arial</vt:lpstr>
      <vt:lpstr>Office Theme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Company>University of Agder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MAS512 Assignment 2 | Group 9</dc:title>
  <dc:subject>MAS512 Assignment 2 - Camera, LiDAR, Sensor Fusion and Autonomous Navigation</dc:subject>
  <dc:creator>MAS512 Group 9</dc:creator>
  <cp:lastModifiedBy>Renwa Hamid</cp:lastModifiedBy>
  <cp:revision>2</cp:revision>
  <dcterms:created xsi:type="dcterms:W3CDTF">2026-10-22T09:27:23Z</dcterms:created>
  <dcterms:modified xsi:type="dcterms:W3CDTF">2026-10-25T09:37:42Z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2026-10-25T09:37:06Z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102cb0f4-aeb2-43ca-b583-0c81ca36ab1b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  <property fmtid="{D5CDD505-2E9C-101B-9397-08002B2CF9AE}" pid="10" name="ContentTypeId">
    <vt:lpwstr>0x01010084E21095A403984F8B2CDC03F4F04DC9</vt:lpwstr>
  </property>
</Properties>
</file>