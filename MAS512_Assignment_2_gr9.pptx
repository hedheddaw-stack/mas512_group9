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64" r:id="rId13"/>
    <p:sldId id="265" r:id="rId14"/>
    <p:sldId id="274" r:id="rId15"/>
    <p:sldId id="266" r:id="rId16"/>
    <p:sldId id="267" r:id="rId17"/>
    <p:sldId id="268" r:id="rId18"/>
    <p:sldId id="269" r:id="rId19"/>
    <p:sldId id="270" r:id="rId20"/>
    <p:sldId id="271" r:id="rId21"/>
    <p:sldId id="272" r:id="rId22"/>
  </p:sldIdLst>
  <p:sldSz cx="12192000" cy="5668963"/>
  <p:notesSz cx="5668963"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1" autoAdjust="0"/>
    <p:restoredTop sz="87418" autoAdjust="0"/>
  </p:normalViewPr>
  <p:slideViewPr>
    <p:cSldViewPr snapToGrid="0" snapToObjects="1">
      <p:cViewPr>
        <p:scale>
          <a:sx n="100" d="100"/>
          <a:sy n="100" d="100"/>
        </p:scale>
        <p:origin x="-22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1612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We are Group 9. Our assignment covers four parts: camera geometry, LiDAR tracking, camera-LiDAR fusion on KITTI, and autonomous navigation with slip estimation in Webots.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work goes from one sensor to another, then combines them, and ends with a robot that uses sensors to drive. Q1 camera, Q2 LiDAR, Q3 fusion, Q4 Webots. We reuse the Assignment 1 YOLO model where it fits.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get 3D from a camera we need the pixel position and the depth. YOLO gives the box, the box centre is (u, v), the depth camera gives Z. The pinhole model then gives X and Y using the focal lengths and the principal point. YOLO found the load in 889 of 900 frames.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Depth cameras often return zero or spikes. When the centre pixel had no depth, we took the nearest valid pixel inside the box, which filled all 336 gaps. Then a 7-sample rolling median flagged jumps above 0.5 m, and we interpolated those 70 samples.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pixels and same depth, two matrices. Z is identical in both. Only X and Y change, because the matrices have different focal lengths and principal points. With M_int the load ends up about 1.8 m to the side, which does not match the video.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frames are 640 by 480, so the centre is about (320, 240). M_d's principal point (325, 235) matches that. M_int's (979, 540) is the centre of a 1920 by 1080 image, so it was calibrated at a different resolution. Second reason: the expected focal length from the lecture is about 1285 px, and M_d's 1342 is closer than M_int's 1391. M_int could be used if rescaled by 640/1920.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trained a linear regression from o1 to o2: 711 training and 178 test samples. R squared is 1.000 and RMSE is essentially zero. That is expected, not overfitting: both o1 and o2 are linear functions of the same (u, v, Z), so the mapping between them is exactly linear.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dirty="0"/>
              <a:t>In part (d) </a:t>
            </a:r>
            <a:r>
              <a:rPr lang="nb-NO" dirty="0" err="1"/>
              <a:t>we</a:t>
            </a:r>
            <a:r>
              <a:rPr lang="nb-NO" dirty="0"/>
              <a:t> </a:t>
            </a:r>
            <a:r>
              <a:rPr lang="nb-NO" dirty="0" err="1"/>
              <a:t>trained</a:t>
            </a:r>
            <a:r>
              <a:rPr lang="nb-NO" dirty="0"/>
              <a:t> a linear </a:t>
            </a:r>
            <a:r>
              <a:rPr lang="nb-NO" dirty="0" err="1"/>
              <a:t>regression</a:t>
            </a:r>
            <a:r>
              <a:rPr lang="nb-NO" dirty="0"/>
              <a:t> </a:t>
            </a:r>
            <a:r>
              <a:rPr lang="nb-NO" dirty="0" err="1"/>
              <a:t>that</a:t>
            </a:r>
            <a:r>
              <a:rPr lang="nb-NO" dirty="0"/>
              <a:t> </a:t>
            </a:r>
            <a:r>
              <a:rPr lang="nb-NO" dirty="0" err="1"/>
              <a:t>maps</a:t>
            </a:r>
            <a:r>
              <a:rPr lang="nb-NO" dirty="0"/>
              <a:t> o₁ to o₂, </a:t>
            </a:r>
            <a:r>
              <a:rPr lang="nb-NO" dirty="0" err="1"/>
              <a:t>with</a:t>
            </a:r>
            <a:r>
              <a:rPr lang="nb-NO" dirty="0"/>
              <a:t> 711 training and 178 test samples. On </a:t>
            </a:r>
            <a:r>
              <a:rPr lang="nb-NO" dirty="0" err="1"/>
              <a:t>the</a:t>
            </a:r>
            <a:r>
              <a:rPr lang="nb-NO" dirty="0"/>
              <a:t> test </a:t>
            </a:r>
            <a:r>
              <a:rPr lang="nb-NO" dirty="0" err="1"/>
              <a:t>set</a:t>
            </a:r>
            <a:r>
              <a:rPr lang="nb-NO" dirty="0"/>
              <a:t> </a:t>
            </a:r>
            <a:r>
              <a:rPr lang="nb-NO" dirty="0" err="1"/>
              <a:t>we</a:t>
            </a:r>
            <a:r>
              <a:rPr lang="nb-NO" dirty="0"/>
              <a:t> </a:t>
            </a:r>
            <a:r>
              <a:rPr lang="nb-NO" dirty="0" err="1"/>
              <a:t>get</a:t>
            </a:r>
            <a:r>
              <a:rPr lang="nb-NO" dirty="0"/>
              <a:t> R² = 1 and RMSE ≈ 0. </a:t>
            </a:r>
            <a:r>
              <a:rPr lang="nb-NO" dirty="0" err="1"/>
              <a:t>That’s</a:t>
            </a:r>
            <a:r>
              <a:rPr lang="nb-NO" dirty="0"/>
              <a:t> not </a:t>
            </a:r>
            <a:r>
              <a:rPr lang="nb-NO" dirty="0" err="1"/>
              <a:t>overfitting</a:t>
            </a:r>
            <a:r>
              <a:rPr lang="nb-NO" dirty="0"/>
              <a:t>: </a:t>
            </a:r>
            <a:r>
              <a:rPr lang="nb-NO" dirty="0" err="1"/>
              <a:t>both</a:t>
            </a:r>
            <a:r>
              <a:rPr lang="nb-NO" dirty="0"/>
              <a:t> </a:t>
            </a:r>
            <a:r>
              <a:rPr lang="nb-NO" dirty="0" err="1"/>
              <a:t>coordinates</a:t>
            </a:r>
            <a:r>
              <a:rPr lang="nb-NO" dirty="0"/>
              <a:t> </a:t>
            </a:r>
            <a:r>
              <a:rPr lang="nb-NO" dirty="0" err="1"/>
              <a:t>come</a:t>
            </a:r>
            <a:r>
              <a:rPr lang="nb-NO" dirty="0"/>
              <a:t> from </a:t>
            </a:r>
            <a:r>
              <a:rPr lang="nb-NO" dirty="0" err="1"/>
              <a:t>the</a:t>
            </a:r>
            <a:r>
              <a:rPr lang="nb-NO" dirty="0"/>
              <a:t> same </a:t>
            </a:r>
            <a:r>
              <a:rPr lang="nb-NO" dirty="0" err="1"/>
              <a:t>pixels</a:t>
            </a:r>
            <a:r>
              <a:rPr lang="nb-NO" dirty="0"/>
              <a:t> and </a:t>
            </a:r>
            <a:r>
              <a:rPr lang="nb-NO" dirty="0" err="1"/>
              <a:t>depths</a:t>
            </a:r>
            <a:r>
              <a:rPr lang="nb-NO" dirty="0"/>
              <a:t>, so </a:t>
            </a:r>
            <a:r>
              <a:rPr lang="nb-NO" dirty="0" err="1"/>
              <a:t>the</a:t>
            </a:r>
            <a:r>
              <a:rPr lang="nb-NO" dirty="0"/>
              <a:t> </a:t>
            </a:r>
            <a:r>
              <a:rPr lang="nb-NO" dirty="0" err="1"/>
              <a:t>relationship</a:t>
            </a:r>
            <a:r>
              <a:rPr lang="nb-NO" dirty="0"/>
              <a:t> </a:t>
            </a:r>
            <a:r>
              <a:rPr lang="nb-NO" dirty="0" err="1"/>
              <a:t>between</a:t>
            </a:r>
            <a:r>
              <a:rPr lang="nb-NO" dirty="0"/>
              <a:t> </a:t>
            </a:r>
            <a:r>
              <a:rPr lang="nb-NO" dirty="0" err="1"/>
              <a:t>them</a:t>
            </a:r>
            <a:r>
              <a:rPr lang="nb-NO" dirty="0"/>
              <a:t> is </a:t>
            </a:r>
            <a:r>
              <a:rPr lang="nb-NO" dirty="0" err="1"/>
              <a:t>exactly</a:t>
            </a:r>
            <a:r>
              <a:rPr lang="nb-NO" dirty="0"/>
              <a:t> linear, a </a:t>
            </a:r>
            <a:r>
              <a:rPr lang="nb-NO" dirty="0" err="1"/>
              <a:t>scale</a:t>
            </a:r>
            <a:r>
              <a:rPr lang="nb-NO" dirty="0"/>
              <a:t> </a:t>
            </a:r>
            <a:r>
              <a:rPr lang="nb-NO" dirty="0" err="1"/>
              <a:t>factor</a:t>
            </a:r>
            <a:r>
              <a:rPr lang="nb-NO" dirty="0"/>
              <a:t> from </a:t>
            </a:r>
            <a:r>
              <a:rPr lang="nb-NO" dirty="0" err="1"/>
              <a:t>the</a:t>
            </a:r>
            <a:r>
              <a:rPr lang="nb-NO" dirty="0"/>
              <a:t> </a:t>
            </a:r>
            <a:r>
              <a:rPr lang="nb-NO" dirty="0" err="1"/>
              <a:t>focal</a:t>
            </a:r>
            <a:r>
              <a:rPr lang="nb-NO" dirty="0"/>
              <a:t> </a:t>
            </a:r>
            <a:r>
              <a:rPr lang="nb-NO" dirty="0" err="1"/>
              <a:t>lengths</a:t>
            </a:r>
            <a:r>
              <a:rPr lang="nb-NO" dirty="0"/>
              <a:t> </a:t>
            </a:r>
            <a:r>
              <a:rPr lang="nb-NO" dirty="0" err="1"/>
              <a:t>plus</a:t>
            </a:r>
            <a:r>
              <a:rPr lang="nb-NO" dirty="0"/>
              <a:t> an offset from </a:t>
            </a:r>
            <a:r>
              <a:rPr lang="nb-NO" dirty="0" err="1"/>
              <a:t>the</a:t>
            </a:r>
            <a:r>
              <a:rPr lang="nb-NO" dirty="0"/>
              <a:t> </a:t>
            </a:r>
            <a:r>
              <a:rPr lang="nb-NO" dirty="0" err="1"/>
              <a:t>principal</a:t>
            </a:r>
            <a:r>
              <a:rPr lang="nb-NO" dirty="0"/>
              <a:t> </a:t>
            </a:r>
            <a:r>
              <a:rPr lang="nb-NO" dirty="0" err="1"/>
              <a:t>points</a:t>
            </a:r>
            <a:r>
              <a:rPr lang="nb-NO" dirty="0"/>
              <a:t>. The </a:t>
            </a:r>
            <a:r>
              <a:rPr lang="nb-NO" dirty="0" err="1"/>
              <a:t>model</a:t>
            </a:r>
            <a:r>
              <a:rPr lang="nb-NO" dirty="0"/>
              <a:t> just </a:t>
            </a:r>
            <a:r>
              <a:rPr lang="nb-NO" dirty="0" err="1"/>
              <a:t>recovered</a:t>
            </a:r>
            <a:r>
              <a:rPr lang="nb-NO" dirty="0"/>
              <a:t> </a:t>
            </a:r>
            <a:r>
              <a:rPr lang="nb-NO" dirty="0" err="1"/>
              <a:t>that</a:t>
            </a:r>
            <a:r>
              <a:rPr lang="nb-NO" dirty="0"/>
              <a:t> </a:t>
            </a:r>
            <a:r>
              <a:rPr lang="nb-NO" dirty="0" err="1"/>
              <a:t>formula</a:t>
            </a:r>
            <a:r>
              <a:rPr lang="nb-NO" dirty="0"/>
              <a:t>.</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LiDAR part we decoded the Ouster scans, cropped the region where the load hangs, and used DBSCAN to find the compact cluster of the load. DBSCAN groups dense points and needs no fixed number of clusters. The mean XYZ of the cluster is the load centre. It worked in 99 of 99 scans.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Over time the load swings mainly along Y, with a span of 0.785 m. X and Z change very little. That is what a pendulum should look like.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KISS-ICP stands for Keep It Small and Simple. It is LiDAR odometry. The scan is added to the local map, and the matching threshold adapts, so it needs almost no tuning. It is used for robot and car odometry and as the front end of SLAM. Drawbacks: it drifts because there is no loop closure, it struggles in repetitive or sparse scenes, it assumes the world is static, and it only gives the sensor pose.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result: the maximum sensor translation was 4.6 mm and the maximum rotation 0.019 degrees. The sensor was standing still, so this is the correct answer. Near-zero sensor motion does not mean the load is still: KISS-ICP tracks the sensor, DBSCAN tracks the load. We used the poses to express the load in the first scan's frame.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Q1 we went from pixel to 3D. In Q3 we go from 3D to pixel. It’s the same pinhole camera model, just in the opposite direction. The only extra work is first moving the LiDAR point into the camera’s coordinate system.”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are four of the five frames. LiDAR points are coloured by range using the colour bar, green boxes are YOLO detections and cyan dashed boxes are the KITTI labels. The distance is printed next to each box. The fifth frame is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range estimate is the 20th percentile of LiDAR distances inside the box. That picks the near surface of the object and ignores background points. Four of five boxes matched a label, with a mean absolute error of 1.82 m. LiDAR is lower than ground truth every time, so this is a systematic bias: LiDAR hits the front of the car, while the KITTI label is the centre of the 3D box, about half a car length further away. Frame 000029 had no matching label, so it is excluded.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Webots we used a Supervisor controller that follows five known waypoints with GPS and orientation. If the LiDAR sees something closer than 0.65 m in front, the robot turns and holds the turn for 1.2 seconds. To be clear: the route is known, and the camera is logged but not used to detect the goal.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Slip is the encoder speed minus the true speed, divided by the true speed. The encoder speed is wheel radius 0.1 m times the mean wheel angular speed. The true speed comes from the Supervisor. We only compute slip when the true speed is at least 0.05 m/s, to avoid dividing by near zero. Every run logs GPS, IMU, encoders, LiDAR and camera images.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ran three trials at friction 0.12 and three at friction 1.0. All six reached the goal. Mean absolute slip dropped from 6.76 percent to 0.35 percent, a 94.8 percent reduction, while time and distance stayed almost the same. The plot colours are clipped at plus or minus 1, so typical slip looks grey; the table shows the real difference.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10332720" y="-320040"/>
            <a:ext cx="1691640" cy="1691640"/>
          </a:xfrm>
          <a:prstGeom prst="ellipse">
            <a:avLst/>
          </a:prstGeom>
          <a:solidFill>
            <a:srgbClr val="E3F3EF"/>
          </a:solidFill>
          <a:ln w="12700">
            <a:solidFill>
              <a:srgbClr val="E3F3EF">
                <a:alpha val="0"/>
              </a:srgbClr>
            </a:solidFill>
            <a:prstDash val="solid"/>
          </a:ln>
        </p:spPr>
        <p:txBody>
          <a:bodyPr/>
          <a:lstStyle/>
          <a:p>
            <a:endParaRPr lang="nb-NO"/>
          </a:p>
        </p:txBody>
      </p:sp>
      <p:sp>
        <p:nvSpPr>
          <p:cNvPr id="3" name="Shape 1"/>
          <p:cNvSpPr/>
          <p:nvPr/>
        </p:nvSpPr>
        <p:spPr>
          <a:xfrm>
            <a:off x="10881360" y="393192"/>
            <a:ext cx="228600" cy="457200"/>
          </a:xfrm>
          <a:prstGeom prst="rect">
            <a:avLst/>
          </a:prstGeom>
          <a:solidFill>
            <a:srgbClr val="66A9DF"/>
          </a:solidFill>
          <a:ln w="12700">
            <a:solidFill>
              <a:srgbClr val="66A9DF">
                <a:alpha val="0"/>
              </a:srgbClr>
            </a:solidFill>
            <a:prstDash val="solid"/>
          </a:ln>
        </p:spPr>
        <p:txBody>
          <a:bodyPr/>
          <a:lstStyle/>
          <a:p>
            <a:endParaRPr lang="nb-NO"/>
          </a:p>
        </p:txBody>
      </p:sp>
      <p:sp>
        <p:nvSpPr>
          <p:cNvPr id="4" name="Shape 2"/>
          <p:cNvSpPr/>
          <p:nvPr/>
        </p:nvSpPr>
        <p:spPr>
          <a:xfrm>
            <a:off x="10972800" y="54864"/>
            <a:ext cx="91440" cy="91440"/>
          </a:xfrm>
          <a:prstGeom prst="ellipse">
            <a:avLst/>
          </a:prstGeom>
          <a:solidFill>
            <a:srgbClr val="142E53"/>
          </a:solidFill>
          <a:ln w="12700">
            <a:solidFill>
              <a:srgbClr val="142E53">
                <a:alpha val="0"/>
              </a:srgbClr>
            </a:solidFill>
            <a:prstDash val="solid"/>
          </a:ln>
        </p:spPr>
        <p:txBody>
          <a:bodyPr/>
          <a:lstStyle/>
          <a:p>
            <a:endParaRPr lang="nb-NO"/>
          </a:p>
        </p:txBody>
      </p:sp>
      <p:sp>
        <p:nvSpPr>
          <p:cNvPr id="5" name="Shape 3"/>
          <p:cNvSpPr/>
          <p:nvPr/>
        </p:nvSpPr>
        <p:spPr>
          <a:xfrm>
            <a:off x="11000232" y="109728"/>
            <a:ext cx="0" cy="310896"/>
          </a:xfrm>
          <a:prstGeom prst="line">
            <a:avLst/>
          </a:prstGeom>
          <a:noFill/>
          <a:ln w="17780">
            <a:solidFill>
              <a:srgbClr val="142E53"/>
            </a:solidFill>
            <a:prstDash val="solid"/>
          </a:ln>
        </p:spPr>
        <p:txBody>
          <a:bodyPr/>
          <a:lstStyle/>
          <a:p>
            <a:endParaRPr lang="nb-NO"/>
          </a:p>
        </p:txBody>
      </p:sp>
      <p:sp>
        <p:nvSpPr>
          <p:cNvPr id="6" name="Text 4"/>
          <p:cNvSpPr txBox="1"/>
          <p:nvPr/>
        </p:nvSpPr>
        <p:spPr>
          <a:xfrm>
            <a:off x="3931920" y="713232"/>
            <a:ext cx="4389120" cy="228600"/>
          </a:xfrm>
          <a:prstGeom prst="rect">
            <a:avLst/>
          </a:prstGeom>
          <a:noFill/>
          <a:ln/>
        </p:spPr>
        <p:txBody>
          <a:bodyPr wrap="square" lIns="0" tIns="0" rIns="0" bIns="0" rtlCol="0" anchor="ctr">
            <a:normAutofit/>
          </a:bodyPr>
          <a:lstStyle/>
          <a:p>
            <a:pPr marL="0" indent="0" algn="ctr">
              <a:buNone/>
            </a:pPr>
            <a:r>
              <a:rPr lang="en-US" sz="1000" kern="0" spc="120" dirty="0">
                <a:solidFill>
                  <a:srgbClr val="58687C"/>
                </a:solidFill>
                <a:latin typeface="Aptos" pitchFamily="34" charset="0"/>
                <a:ea typeface="Aptos" pitchFamily="34" charset="-122"/>
                <a:cs typeface="Aptos" pitchFamily="34" charset="-120"/>
              </a:rPr>
              <a:t>UNIVERSITY OF AGDER</a:t>
            </a:r>
            <a:endParaRPr lang="en-US" sz="1000" dirty="0"/>
          </a:p>
        </p:txBody>
      </p:sp>
      <p:sp>
        <p:nvSpPr>
          <p:cNvPr id="7" name="Text 5"/>
          <p:cNvSpPr txBox="1"/>
          <p:nvPr/>
        </p:nvSpPr>
        <p:spPr>
          <a:xfrm>
            <a:off x="1920240" y="1152144"/>
            <a:ext cx="8321040" cy="438912"/>
          </a:xfrm>
          <a:prstGeom prst="rect">
            <a:avLst/>
          </a:prstGeom>
          <a:noFill/>
          <a:ln/>
        </p:spPr>
        <p:txBody>
          <a:bodyPr wrap="square" lIns="0" tIns="0" rIns="0" bIns="0" rtlCol="0" anchor="ctr">
            <a:normAutofit/>
          </a:bodyPr>
          <a:lstStyle/>
          <a:p>
            <a:pPr marL="0" indent="0" algn="ctr">
              <a:buNone/>
            </a:pPr>
            <a:r>
              <a:rPr lang="en-US" sz="2800" b="1" dirty="0">
                <a:solidFill>
                  <a:srgbClr val="142E53"/>
                </a:solidFill>
                <a:latin typeface="Aptos Display" pitchFamily="34" charset="0"/>
                <a:ea typeface="Aptos Display" pitchFamily="34" charset="-122"/>
                <a:cs typeface="Aptos Display" pitchFamily="34" charset="-120"/>
              </a:rPr>
              <a:t>MAS512  Assignment 2</a:t>
            </a:r>
            <a:endParaRPr lang="en-US" sz="2800" dirty="0"/>
          </a:p>
        </p:txBody>
      </p:sp>
      <p:sp>
        <p:nvSpPr>
          <p:cNvPr id="8" name="Text 6"/>
          <p:cNvSpPr txBox="1"/>
          <p:nvPr/>
        </p:nvSpPr>
        <p:spPr>
          <a:xfrm>
            <a:off x="4389120" y="1691640"/>
            <a:ext cx="3383280" cy="310896"/>
          </a:xfrm>
          <a:prstGeom prst="rect">
            <a:avLst/>
          </a:prstGeom>
          <a:noFill/>
          <a:ln/>
        </p:spPr>
        <p:txBody>
          <a:bodyPr wrap="square" lIns="0" tIns="0" rIns="0" bIns="0" rtlCol="0" anchor="ctr">
            <a:normAutofit/>
          </a:bodyPr>
          <a:lstStyle/>
          <a:p>
            <a:pPr marL="0" indent="0" algn="ctr">
              <a:buNone/>
            </a:pPr>
            <a:r>
              <a:rPr lang="en-US" sz="1300" b="1" dirty="0">
                <a:solidFill>
                  <a:srgbClr val="3477EF"/>
                </a:solidFill>
                <a:latin typeface="Aptos" pitchFamily="34" charset="0"/>
                <a:ea typeface="Aptos" pitchFamily="34" charset="-122"/>
                <a:cs typeface="Aptos" pitchFamily="34" charset="-120"/>
              </a:rPr>
              <a:t>Group 9</a:t>
            </a:r>
            <a:endParaRPr lang="en-US" sz="1300" dirty="0"/>
          </a:p>
        </p:txBody>
      </p:sp>
      <p:sp>
        <p:nvSpPr>
          <p:cNvPr id="9" name="Shape 7"/>
          <p:cNvSpPr/>
          <p:nvPr/>
        </p:nvSpPr>
        <p:spPr>
          <a:xfrm>
            <a:off x="2560320" y="2176272"/>
            <a:ext cx="7059168" cy="493776"/>
          </a:xfrm>
          <a:prstGeom prst="roundRect">
            <a:avLst>
              <a:gd name="adj" fmla="val 24074"/>
            </a:avLst>
          </a:prstGeom>
          <a:solidFill>
            <a:srgbClr val="FFFFFF"/>
          </a:solidFill>
          <a:ln w="7620">
            <a:solidFill>
              <a:srgbClr val="D7E2EE"/>
            </a:solidFill>
            <a:prstDash val="solid"/>
          </a:ln>
        </p:spPr>
        <p:txBody>
          <a:bodyPr/>
          <a:lstStyle/>
          <a:p>
            <a:endParaRPr lang="nb-NO"/>
          </a:p>
        </p:txBody>
      </p:sp>
      <p:sp>
        <p:nvSpPr>
          <p:cNvPr id="10" name="Shape 8"/>
          <p:cNvSpPr/>
          <p:nvPr/>
        </p:nvSpPr>
        <p:spPr>
          <a:xfrm>
            <a:off x="2743200" y="2286000"/>
            <a:ext cx="1508760" cy="246888"/>
          </a:xfrm>
          <a:prstGeom prst="roundRect">
            <a:avLst>
              <a:gd name="adj" fmla="val 48148"/>
            </a:avLst>
          </a:prstGeom>
          <a:solidFill>
            <a:srgbClr val="E4EEFF"/>
          </a:solidFill>
          <a:ln w="12700">
            <a:solidFill>
              <a:srgbClr val="E4EEFF">
                <a:alpha val="0"/>
              </a:srgbClr>
            </a:solidFill>
            <a:prstDash val="solid"/>
          </a:ln>
        </p:spPr>
        <p:txBody>
          <a:bodyPr/>
          <a:lstStyle/>
          <a:p>
            <a:endParaRPr lang="nb-NO"/>
          </a:p>
        </p:txBody>
      </p:sp>
      <p:sp>
        <p:nvSpPr>
          <p:cNvPr id="11" name="Text 9"/>
          <p:cNvSpPr txBox="1"/>
          <p:nvPr/>
        </p:nvSpPr>
        <p:spPr>
          <a:xfrm>
            <a:off x="2798064" y="2295144"/>
            <a:ext cx="1399032" cy="228600"/>
          </a:xfrm>
          <a:prstGeom prst="rect">
            <a:avLst/>
          </a:prstGeom>
          <a:noFill/>
          <a:ln/>
        </p:spPr>
        <p:txBody>
          <a:bodyPr wrap="square" lIns="0" tIns="0" rIns="0" bIns="0" rtlCol="0" anchor="ctr">
            <a:normAutofit/>
          </a:bodyPr>
          <a:lstStyle/>
          <a:p>
            <a:pPr marL="0" indent="0" algn="ctr">
              <a:buNone/>
            </a:pPr>
            <a:r>
              <a:rPr lang="en-US" sz="920" b="1" dirty="0">
                <a:solidFill>
                  <a:srgbClr val="3477EF"/>
                </a:solidFill>
                <a:latin typeface="Aptos" pitchFamily="34" charset="0"/>
                <a:ea typeface="Aptos" pitchFamily="34" charset="-122"/>
                <a:cs typeface="Aptos" pitchFamily="34" charset="-120"/>
              </a:rPr>
              <a:t>Camera Geometry</a:t>
            </a:r>
            <a:endParaRPr lang="en-US" sz="920" dirty="0"/>
          </a:p>
        </p:txBody>
      </p:sp>
      <p:sp>
        <p:nvSpPr>
          <p:cNvPr id="12" name="Shape 10"/>
          <p:cNvSpPr/>
          <p:nvPr/>
        </p:nvSpPr>
        <p:spPr>
          <a:xfrm>
            <a:off x="4407408" y="2286000"/>
            <a:ext cx="1508760" cy="246888"/>
          </a:xfrm>
          <a:prstGeom prst="roundRect">
            <a:avLst>
              <a:gd name="adj" fmla="val 48148"/>
            </a:avLst>
          </a:prstGeom>
          <a:solidFill>
            <a:srgbClr val="FBE6F0"/>
          </a:solidFill>
          <a:ln w="12700">
            <a:solidFill>
              <a:srgbClr val="FBE6F0">
                <a:alpha val="0"/>
              </a:srgbClr>
            </a:solidFill>
            <a:prstDash val="solid"/>
          </a:ln>
        </p:spPr>
        <p:txBody>
          <a:bodyPr/>
          <a:lstStyle/>
          <a:p>
            <a:endParaRPr lang="nb-NO"/>
          </a:p>
        </p:txBody>
      </p:sp>
      <p:sp>
        <p:nvSpPr>
          <p:cNvPr id="13" name="Text 11"/>
          <p:cNvSpPr txBox="1"/>
          <p:nvPr/>
        </p:nvSpPr>
        <p:spPr>
          <a:xfrm>
            <a:off x="4462272" y="2295144"/>
            <a:ext cx="1399032" cy="228600"/>
          </a:xfrm>
          <a:prstGeom prst="rect">
            <a:avLst/>
          </a:prstGeom>
          <a:noFill/>
          <a:ln/>
        </p:spPr>
        <p:txBody>
          <a:bodyPr wrap="square" lIns="0" tIns="0" rIns="0" bIns="0" rtlCol="0" anchor="ctr">
            <a:normAutofit/>
          </a:bodyPr>
          <a:lstStyle/>
          <a:p>
            <a:pPr marL="0" indent="0" algn="ctr">
              <a:buNone/>
            </a:pPr>
            <a:r>
              <a:rPr lang="en-US" sz="920" b="1" dirty="0">
                <a:solidFill>
                  <a:srgbClr val="DC5791"/>
                </a:solidFill>
                <a:latin typeface="Aptos" pitchFamily="34" charset="0"/>
                <a:ea typeface="Aptos" pitchFamily="34" charset="-122"/>
                <a:cs typeface="Aptos" pitchFamily="34" charset="-120"/>
              </a:rPr>
              <a:t>LiDAR Tracking</a:t>
            </a:r>
            <a:endParaRPr lang="en-US" sz="920" dirty="0"/>
          </a:p>
        </p:txBody>
      </p:sp>
      <p:sp>
        <p:nvSpPr>
          <p:cNvPr id="14" name="Shape 12"/>
          <p:cNvSpPr/>
          <p:nvPr/>
        </p:nvSpPr>
        <p:spPr>
          <a:xfrm>
            <a:off x="6071616" y="2286000"/>
            <a:ext cx="1508760" cy="246888"/>
          </a:xfrm>
          <a:prstGeom prst="roundRect">
            <a:avLst>
              <a:gd name="adj" fmla="val 48148"/>
            </a:avLst>
          </a:prstGeom>
          <a:solidFill>
            <a:srgbClr val="E1F5EF"/>
          </a:solidFill>
          <a:ln w="12700">
            <a:solidFill>
              <a:srgbClr val="E1F5EF">
                <a:alpha val="0"/>
              </a:srgbClr>
            </a:solidFill>
            <a:prstDash val="solid"/>
          </a:ln>
        </p:spPr>
        <p:txBody>
          <a:bodyPr/>
          <a:lstStyle/>
          <a:p>
            <a:endParaRPr lang="nb-NO"/>
          </a:p>
        </p:txBody>
      </p:sp>
      <p:sp>
        <p:nvSpPr>
          <p:cNvPr id="15" name="Text 13"/>
          <p:cNvSpPr txBox="1"/>
          <p:nvPr/>
        </p:nvSpPr>
        <p:spPr>
          <a:xfrm>
            <a:off x="6126480" y="2295144"/>
            <a:ext cx="1399032" cy="228600"/>
          </a:xfrm>
          <a:prstGeom prst="rect">
            <a:avLst/>
          </a:prstGeom>
          <a:noFill/>
          <a:ln/>
        </p:spPr>
        <p:txBody>
          <a:bodyPr wrap="square" lIns="0" tIns="0" rIns="0" bIns="0" rtlCol="0" anchor="ctr">
            <a:normAutofit/>
          </a:bodyPr>
          <a:lstStyle/>
          <a:p>
            <a:pPr marL="0" indent="0" algn="ctr">
              <a:buNone/>
            </a:pPr>
            <a:r>
              <a:rPr lang="en-US" sz="920" b="1" dirty="0">
                <a:solidFill>
                  <a:srgbClr val="15A68C"/>
                </a:solidFill>
                <a:latin typeface="Aptos" pitchFamily="34" charset="0"/>
                <a:ea typeface="Aptos" pitchFamily="34" charset="-122"/>
                <a:cs typeface="Aptos" pitchFamily="34" charset="-120"/>
              </a:rPr>
              <a:t>Sensor Fusion</a:t>
            </a:r>
            <a:endParaRPr lang="en-US" sz="920" dirty="0"/>
          </a:p>
        </p:txBody>
      </p:sp>
      <p:sp>
        <p:nvSpPr>
          <p:cNvPr id="16" name="Shape 14"/>
          <p:cNvSpPr/>
          <p:nvPr/>
        </p:nvSpPr>
        <p:spPr>
          <a:xfrm>
            <a:off x="7735824" y="2286000"/>
            <a:ext cx="1508760" cy="246888"/>
          </a:xfrm>
          <a:prstGeom prst="roundRect">
            <a:avLst>
              <a:gd name="adj" fmla="val 48148"/>
            </a:avLst>
          </a:prstGeom>
          <a:solidFill>
            <a:srgbClr val="EFE8FA"/>
          </a:solidFill>
          <a:ln w="12700">
            <a:solidFill>
              <a:srgbClr val="EFE8FA">
                <a:alpha val="0"/>
              </a:srgbClr>
            </a:solidFill>
            <a:prstDash val="solid"/>
          </a:ln>
        </p:spPr>
        <p:txBody>
          <a:bodyPr/>
          <a:lstStyle/>
          <a:p>
            <a:endParaRPr lang="nb-NO"/>
          </a:p>
        </p:txBody>
      </p:sp>
      <p:sp>
        <p:nvSpPr>
          <p:cNvPr id="17" name="Text 15"/>
          <p:cNvSpPr txBox="1"/>
          <p:nvPr/>
        </p:nvSpPr>
        <p:spPr>
          <a:xfrm>
            <a:off x="7790688" y="2295144"/>
            <a:ext cx="1399032" cy="228600"/>
          </a:xfrm>
          <a:prstGeom prst="rect">
            <a:avLst/>
          </a:prstGeom>
          <a:noFill/>
          <a:ln/>
        </p:spPr>
        <p:txBody>
          <a:bodyPr wrap="square" lIns="0" tIns="0" rIns="0" bIns="0" rtlCol="0" anchor="ctr">
            <a:normAutofit/>
          </a:bodyPr>
          <a:lstStyle/>
          <a:p>
            <a:pPr marL="0" indent="0" algn="ctr">
              <a:buNone/>
            </a:pPr>
            <a:r>
              <a:rPr lang="en-US" sz="920" b="1" dirty="0">
                <a:solidFill>
                  <a:srgbClr val="9B73C8"/>
                </a:solidFill>
                <a:latin typeface="Aptos" pitchFamily="34" charset="0"/>
                <a:ea typeface="Aptos" pitchFamily="34" charset="-122"/>
                <a:cs typeface="Aptos" pitchFamily="34" charset="-120"/>
              </a:rPr>
              <a:t>Navigation</a:t>
            </a:r>
            <a:endParaRPr lang="en-US" sz="920" dirty="0"/>
          </a:p>
        </p:txBody>
      </p:sp>
      <p:sp>
        <p:nvSpPr>
          <p:cNvPr id="18" name="Text 16"/>
          <p:cNvSpPr txBox="1"/>
          <p:nvPr/>
        </p:nvSpPr>
        <p:spPr>
          <a:xfrm>
            <a:off x="5669280" y="3063240"/>
            <a:ext cx="822960" cy="228600"/>
          </a:xfrm>
          <a:prstGeom prst="rect">
            <a:avLst/>
          </a:prstGeom>
          <a:noFill/>
          <a:ln/>
        </p:spPr>
        <p:txBody>
          <a:bodyPr wrap="square" lIns="0" tIns="0" rIns="0" bIns="0" rtlCol="0" anchor="ctr">
            <a:normAutofit/>
          </a:bodyPr>
          <a:lstStyle/>
          <a:p>
            <a:pPr marL="0" indent="0" algn="ctr">
              <a:buNone/>
            </a:pPr>
            <a:r>
              <a:rPr lang="en-US" sz="1200" b="1" dirty="0">
                <a:solidFill>
                  <a:srgbClr val="142E53"/>
                </a:solidFill>
                <a:latin typeface="Aptos" pitchFamily="34" charset="0"/>
                <a:ea typeface="Aptos" pitchFamily="34" charset="-122"/>
                <a:cs typeface="Aptos" pitchFamily="34" charset="-120"/>
              </a:rPr>
              <a:t>By:</a:t>
            </a:r>
            <a:endParaRPr lang="en-US" sz="1200" dirty="0"/>
          </a:p>
        </p:txBody>
      </p:sp>
      <p:sp>
        <p:nvSpPr>
          <p:cNvPr id="19" name="Shape 17"/>
          <p:cNvSpPr/>
          <p:nvPr/>
        </p:nvSpPr>
        <p:spPr>
          <a:xfrm>
            <a:off x="2852928" y="3520440"/>
            <a:ext cx="1700784" cy="658368"/>
          </a:xfrm>
          <a:prstGeom prst="roundRect">
            <a:avLst>
              <a:gd name="adj" fmla="val 18056"/>
            </a:avLst>
          </a:prstGeom>
          <a:solidFill>
            <a:srgbClr val="FFFFFF"/>
          </a:solidFill>
          <a:ln w="7620">
            <a:solidFill>
              <a:srgbClr val="142E53"/>
            </a:solidFill>
            <a:prstDash val="solid"/>
          </a:ln>
        </p:spPr>
        <p:txBody>
          <a:bodyPr/>
          <a:lstStyle/>
          <a:p>
            <a:endParaRPr lang="nb-NO"/>
          </a:p>
        </p:txBody>
      </p:sp>
      <p:sp>
        <p:nvSpPr>
          <p:cNvPr id="20" name="Text 18"/>
          <p:cNvSpPr txBox="1"/>
          <p:nvPr/>
        </p:nvSpPr>
        <p:spPr>
          <a:xfrm>
            <a:off x="2944368" y="3657600"/>
            <a:ext cx="1517904" cy="365760"/>
          </a:xfrm>
          <a:prstGeom prst="rect">
            <a:avLst/>
          </a:prstGeom>
          <a:noFill/>
          <a:ln/>
        </p:spPr>
        <p:txBody>
          <a:bodyPr wrap="square" lIns="0" tIns="0" rIns="0" bIns="0" rtlCol="0" anchor="ctr">
            <a:normAutofit/>
          </a:bodyPr>
          <a:lstStyle/>
          <a:p>
            <a:pPr marL="0" indent="0" algn="ctr">
              <a:buNone/>
            </a:pPr>
            <a:r>
              <a:rPr lang="en-US" sz="1120" b="1" dirty="0">
                <a:solidFill>
                  <a:srgbClr val="142E53"/>
                </a:solidFill>
                <a:latin typeface="Aptos" pitchFamily="34" charset="0"/>
                <a:ea typeface="Aptos" pitchFamily="34" charset="-122"/>
                <a:cs typeface="Aptos" pitchFamily="34" charset="-120"/>
              </a:rPr>
              <a:t>Renwa Hamid</a:t>
            </a:r>
            <a:endParaRPr lang="en-US" sz="1120" dirty="0"/>
          </a:p>
        </p:txBody>
      </p:sp>
      <p:sp>
        <p:nvSpPr>
          <p:cNvPr id="21" name="Shape 19"/>
          <p:cNvSpPr/>
          <p:nvPr/>
        </p:nvSpPr>
        <p:spPr>
          <a:xfrm>
            <a:off x="4754880" y="3520440"/>
            <a:ext cx="2688336" cy="658368"/>
          </a:xfrm>
          <a:prstGeom prst="roundRect">
            <a:avLst>
              <a:gd name="adj" fmla="val 18056"/>
            </a:avLst>
          </a:prstGeom>
          <a:solidFill>
            <a:srgbClr val="FFFFFF"/>
          </a:solidFill>
          <a:ln w="7620">
            <a:solidFill>
              <a:srgbClr val="142E53"/>
            </a:solidFill>
            <a:prstDash val="solid"/>
          </a:ln>
        </p:spPr>
        <p:txBody>
          <a:bodyPr/>
          <a:lstStyle/>
          <a:p>
            <a:endParaRPr lang="nb-NO"/>
          </a:p>
        </p:txBody>
      </p:sp>
      <p:sp>
        <p:nvSpPr>
          <p:cNvPr id="22" name="Text 20"/>
          <p:cNvSpPr txBox="1"/>
          <p:nvPr/>
        </p:nvSpPr>
        <p:spPr>
          <a:xfrm>
            <a:off x="4846320" y="3657600"/>
            <a:ext cx="2505456" cy="365760"/>
          </a:xfrm>
          <a:prstGeom prst="rect">
            <a:avLst/>
          </a:prstGeom>
          <a:noFill/>
          <a:ln/>
        </p:spPr>
        <p:txBody>
          <a:bodyPr wrap="square" lIns="0" tIns="0" rIns="0" bIns="0" rtlCol="0" anchor="ctr">
            <a:normAutofit/>
          </a:bodyPr>
          <a:lstStyle/>
          <a:p>
            <a:pPr marL="0" indent="0" algn="ctr">
              <a:buNone/>
            </a:pPr>
            <a:r>
              <a:rPr lang="en-US" sz="1120" b="1" dirty="0">
                <a:solidFill>
                  <a:srgbClr val="142E53"/>
                </a:solidFill>
                <a:latin typeface="Aptos" pitchFamily="34" charset="0"/>
                <a:ea typeface="Aptos" pitchFamily="34" charset="-122"/>
                <a:cs typeface="Aptos" pitchFamily="34" charset="-120"/>
              </a:rPr>
              <a:t>Sebastian Skogland</a:t>
            </a:r>
            <a:endParaRPr lang="en-US" sz="1120" dirty="0"/>
          </a:p>
        </p:txBody>
      </p:sp>
      <p:sp>
        <p:nvSpPr>
          <p:cNvPr id="23" name="Shape 21"/>
          <p:cNvSpPr/>
          <p:nvPr/>
        </p:nvSpPr>
        <p:spPr>
          <a:xfrm>
            <a:off x="7644384" y="3520440"/>
            <a:ext cx="2212848" cy="658368"/>
          </a:xfrm>
          <a:prstGeom prst="roundRect">
            <a:avLst>
              <a:gd name="adj" fmla="val 18056"/>
            </a:avLst>
          </a:prstGeom>
          <a:solidFill>
            <a:srgbClr val="FFFFFF"/>
          </a:solidFill>
          <a:ln w="7620">
            <a:solidFill>
              <a:srgbClr val="142E53"/>
            </a:solidFill>
            <a:prstDash val="solid"/>
          </a:ln>
        </p:spPr>
        <p:txBody>
          <a:bodyPr/>
          <a:lstStyle/>
          <a:p>
            <a:endParaRPr lang="nb-NO"/>
          </a:p>
        </p:txBody>
      </p:sp>
      <p:sp>
        <p:nvSpPr>
          <p:cNvPr id="24" name="Text 22"/>
          <p:cNvSpPr txBox="1"/>
          <p:nvPr/>
        </p:nvSpPr>
        <p:spPr>
          <a:xfrm>
            <a:off x="7735824" y="3657600"/>
            <a:ext cx="2029968" cy="365760"/>
          </a:xfrm>
          <a:prstGeom prst="rect">
            <a:avLst/>
          </a:prstGeom>
          <a:noFill/>
          <a:ln/>
        </p:spPr>
        <p:txBody>
          <a:bodyPr wrap="square" lIns="0" tIns="0" rIns="0" bIns="0" rtlCol="0" anchor="ctr">
            <a:normAutofit/>
          </a:bodyPr>
          <a:lstStyle/>
          <a:p>
            <a:pPr marL="0" indent="0" algn="ctr">
              <a:buNone/>
            </a:pPr>
            <a:r>
              <a:rPr lang="en-US" sz="1120" b="1" dirty="0">
                <a:solidFill>
                  <a:srgbClr val="142E53"/>
                </a:solidFill>
                <a:latin typeface="Aptos" pitchFamily="34" charset="0"/>
                <a:ea typeface="Aptos" pitchFamily="34" charset="-122"/>
                <a:cs typeface="Aptos" pitchFamily="34" charset="-120"/>
              </a:rPr>
              <a:t>Christopher Olsen</a:t>
            </a:r>
            <a:endParaRPr lang="en-US" sz="1120" dirty="0"/>
          </a:p>
        </p:txBody>
      </p:sp>
      <p:sp>
        <p:nvSpPr>
          <p:cNvPr id="25" name="Text 23"/>
          <p:cNvSpPr txBox="1"/>
          <p:nvPr/>
        </p:nvSpPr>
        <p:spPr>
          <a:xfrm>
            <a:off x="4370832" y="5074920"/>
            <a:ext cx="3456432" cy="219456"/>
          </a:xfrm>
          <a:prstGeom prst="rect">
            <a:avLst/>
          </a:prstGeom>
          <a:noFill/>
          <a:ln/>
        </p:spPr>
        <p:txBody>
          <a:bodyPr wrap="square" lIns="0" tIns="0" rIns="0" bIns="0" rtlCol="0" anchor="ctr">
            <a:normAutofit/>
          </a:bodyPr>
          <a:lstStyle/>
          <a:p>
            <a:pPr marL="0" indent="0" algn="ctr">
              <a:buNone/>
            </a:pPr>
            <a:r>
              <a:rPr lang="en-US" sz="800" dirty="0">
                <a:solidFill>
                  <a:srgbClr val="58687C"/>
                </a:solidFill>
                <a:latin typeface="Aptos" pitchFamily="34" charset="0"/>
                <a:ea typeface="Aptos" pitchFamily="34" charset="-122"/>
                <a:cs typeface="Aptos" pitchFamily="34" charset="-120"/>
              </a:rPr>
              <a:t>MAS512  |  Assignment 2  |  Group 9</a:t>
            </a:r>
            <a:endParaRPr lang="en-US" sz="800" dirty="0"/>
          </a:p>
        </p:txBody>
      </p:sp>
      <p:sp>
        <p:nvSpPr>
          <p:cNvPr id="26" name="Text 24"/>
          <p:cNvSpPr txBox="1"/>
          <p:nvPr/>
        </p:nvSpPr>
        <p:spPr>
          <a:xfrm>
            <a:off x="11548872" y="164592"/>
            <a:ext cx="228600" cy="192024"/>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Text 1"/>
          <p:cNvSpPr txBox="1"/>
          <p:nvPr/>
        </p:nvSpPr>
        <p:spPr>
          <a:xfrm>
            <a:off x="530352" y="173736"/>
            <a:ext cx="11064240" cy="429768"/>
          </a:xfrm>
          <a:prstGeom prst="rect">
            <a:avLst/>
          </a:prstGeom>
          <a:noFill/>
          <a:ln/>
        </p:spPr>
        <p:txBody>
          <a:bodyPr wrap="square" lIns="0" tIns="0" rIns="0" bIns="0" rtlCol="0" anchor="ctr">
            <a:normAutofit/>
          </a:bodyPr>
          <a:lstStyle/>
          <a:p>
            <a:pPr marL="0" indent="0" algn="ctr">
              <a:buNone/>
            </a:pPr>
            <a:r>
              <a:rPr lang="en-US" sz="2500" b="1" dirty="0">
                <a:solidFill>
                  <a:srgbClr val="142E53"/>
                </a:solidFill>
                <a:latin typeface="Aptos Display" pitchFamily="34" charset="0"/>
                <a:ea typeface="Aptos Display" pitchFamily="34" charset="-122"/>
                <a:cs typeface="Aptos Display" pitchFamily="34" charset="-120"/>
              </a:rPr>
              <a:t>Assignment 2 — Our workflow</a:t>
            </a:r>
            <a:endParaRPr lang="en-US" sz="2500" dirty="0"/>
          </a:p>
        </p:txBody>
      </p:sp>
      <p:sp>
        <p:nvSpPr>
          <p:cNvPr id="4" name="Text 2"/>
          <p:cNvSpPr txBox="1"/>
          <p:nvPr/>
        </p:nvSpPr>
        <p:spPr>
          <a:xfrm>
            <a:off x="576072" y="658368"/>
            <a:ext cx="11018520" cy="256032"/>
          </a:xfrm>
          <a:prstGeom prst="rect">
            <a:avLst/>
          </a:prstGeom>
          <a:noFill/>
          <a:ln/>
        </p:spPr>
        <p:txBody>
          <a:bodyPr wrap="square" lIns="0" tIns="0" rIns="0" bIns="0" rtlCol="0" anchor="ctr">
            <a:normAutofit/>
          </a:bodyPr>
          <a:lstStyle/>
          <a:p>
            <a:pPr marL="0" indent="0" algn="ctr">
              <a:buNone/>
            </a:pPr>
            <a:r>
              <a:rPr lang="en-US" sz="1000" dirty="0">
                <a:solidFill>
                  <a:srgbClr val="58687C"/>
                </a:solidFill>
                <a:latin typeface="Aptos" pitchFamily="34" charset="0"/>
                <a:ea typeface="Aptos" pitchFamily="34" charset="-122"/>
                <a:cs typeface="Aptos" pitchFamily="34" charset="-120"/>
              </a:rPr>
              <a:t>From camera-based tracking to LiDAR, sensor fusion and autonomous control</a:t>
            </a:r>
            <a:endParaRPr lang="en-US" sz="1000" dirty="0"/>
          </a:p>
        </p:txBody>
      </p:sp>
      <p:sp>
        <p:nvSpPr>
          <p:cNvPr id="5" name="Shape 3"/>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6" name="Text 4"/>
          <p:cNvSpPr txBox="1"/>
          <p:nvPr/>
        </p:nvSpPr>
        <p:spPr>
          <a:xfrm>
            <a:off x="576072"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7" name="Text 5"/>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2</a:t>
            </a:r>
            <a:endParaRPr lang="en-US" sz="1100" dirty="0"/>
          </a:p>
        </p:txBody>
      </p:sp>
      <p:sp>
        <p:nvSpPr>
          <p:cNvPr id="8" name="Shape 6"/>
          <p:cNvSpPr/>
          <p:nvPr/>
        </p:nvSpPr>
        <p:spPr>
          <a:xfrm>
            <a:off x="630936" y="1344168"/>
            <a:ext cx="2697480" cy="2670048"/>
          </a:xfrm>
          <a:prstGeom prst="roundRect">
            <a:avLst>
              <a:gd name="adj" fmla="val 4452"/>
            </a:avLst>
          </a:prstGeom>
          <a:solidFill>
            <a:srgbClr val="E4EEFF"/>
          </a:solidFill>
          <a:ln w="12700">
            <a:solidFill>
              <a:srgbClr val="E4EEFF">
                <a:alpha val="0"/>
              </a:srgbClr>
            </a:solidFill>
            <a:prstDash val="solid"/>
          </a:ln>
        </p:spPr>
        <p:txBody>
          <a:bodyPr/>
          <a:lstStyle/>
          <a:p>
            <a:endParaRPr lang="nb-NO"/>
          </a:p>
        </p:txBody>
      </p:sp>
      <p:sp>
        <p:nvSpPr>
          <p:cNvPr id="9" name="Shape 7"/>
          <p:cNvSpPr/>
          <p:nvPr/>
        </p:nvSpPr>
        <p:spPr>
          <a:xfrm>
            <a:off x="1536192" y="1581912"/>
            <a:ext cx="777240" cy="777240"/>
          </a:xfrm>
          <a:prstGeom prst="ellipse">
            <a:avLst/>
          </a:prstGeom>
          <a:solidFill>
            <a:srgbClr val="3477EF"/>
          </a:solidFill>
          <a:ln w="12700">
            <a:solidFill>
              <a:srgbClr val="3477EF">
                <a:alpha val="0"/>
              </a:srgbClr>
            </a:solidFill>
            <a:prstDash val="solid"/>
          </a:ln>
        </p:spPr>
        <p:txBody>
          <a:bodyPr/>
          <a:lstStyle/>
          <a:p>
            <a:endParaRPr lang="nb-NO"/>
          </a:p>
        </p:txBody>
      </p:sp>
      <p:sp>
        <p:nvSpPr>
          <p:cNvPr id="10" name="Text 8"/>
          <p:cNvSpPr txBox="1"/>
          <p:nvPr/>
        </p:nvSpPr>
        <p:spPr>
          <a:xfrm>
            <a:off x="1545336" y="1764792"/>
            <a:ext cx="749808" cy="384048"/>
          </a:xfrm>
          <a:prstGeom prst="rect">
            <a:avLst/>
          </a:prstGeom>
          <a:noFill/>
          <a:ln/>
        </p:spPr>
        <p:txBody>
          <a:bodyPr wrap="square" lIns="0" tIns="0" rIns="0" bIns="0" rtlCol="0" anchor="ctr">
            <a:normAutofit/>
          </a:bodyPr>
          <a:lstStyle/>
          <a:p>
            <a:pPr marL="0" indent="0" algn="ctr">
              <a:buNone/>
            </a:pPr>
            <a:r>
              <a:rPr lang="en-US" sz="2300" b="1" dirty="0">
                <a:solidFill>
                  <a:srgbClr val="FFFFFF"/>
                </a:solidFill>
                <a:latin typeface="Aptos" pitchFamily="34" charset="0"/>
                <a:ea typeface="Aptos" pitchFamily="34" charset="-122"/>
                <a:cs typeface="Aptos" pitchFamily="34" charset="-120"/>
              </a:rPr>
              <a:t>Q1</a:t>
            </a:r>
            <a:endParaRPr lang="en-US" sz="2300" dirty="0"/>
          </a:p>
        </p:txBody>
      </p:sp>
      <p:sp>
        <p:nvSpPr>
          <p:cNvPr id="11" name="Text 9"/>
          <p:cNvSpPr txBox="1"/>
          <p:nvPr/>
        </p:nvSpPr>
        <p:spPr>
          <a:xfrm>
            <a:off x="832104" y="2578608"/>
            <a:ext cx="2304288" cy="365760"/>
          </a:xfrm>
          <a:prstGeom prst="rect">
            <a:avLst/>
          </a:prstGeom>
          <a:noFill/>
          <a:ln/>
        </p:spPr>
        <p:txBody>
          <a:bodyPr wrap="square" lIns="0" tIns="0" rIns="0" bIns="0" rtlCol="0" anchor="ctr">
            <a:normAutofit/>
          </a:bodyPr>
          <a:lstStyle/>
          <a:p>
            <a:pPr marL="0" indent="0" algn="ctr">
              <a:buNone/>
            </a:pPr>
            <a:r>
              <a:rPr lang="en-US" sz="1800" b="1" dirty="0">
                <a:solidFill>
                  <a:srgbClr val="142E53"/>
                </a:solidFill>
                <a:latin typeface="Aptos" pitchFamily="34" charset="0"/>
                <a:ea typeface="Aptos" pitchFamily="34" charset="-122"/>
                <a:cs typeface="Aptos" pitchFamily="34" charset="-120"/>
              </a:rPr>
              <a:t>Camera</a:t>
            </a:r>
            <a:endParaRPr lang="en-US" sz="1800" dirty="0"/>
          </a:p>
        </p:txBody>
      </p:sp>
      <p:sp>
        <p:nvSpPr>
          <p:cNvPr id="12" name="Text 10"/>
          <p:cNvSpPr txBox="1"/>
          <p:nvPr/>
        </p:nvSpPr>
        <p:spPr>
          <a:xfrm>
            <a:off x="832104" y="3054096"/>
            <a:ext cx="2304288" cy="685800"/>
          </a:xfrm>
          <a:prstGeom prst="rect">
            <a:avLst/>
          </a:prstGeom>
          <a:noFill/>
          <a:ln/>
        </p:spPr>
        <p:txBody>
          <a:bodyPr wrap="square" lIns="0" tIns="0" rIns="0" bIns="0" rtlCol="0" anchor="t">
            <a:normAutofit/>
          </a:bodyPr>
          <a:lstStyle/>
          <a:p>
            <a:pPr marL="0" indent="0" algn="ctr">
              <a:buNone/>
            </a:pPr>
            <a:r>
              <a:rPr lang="en-US" sz="1200" dirty="0">
                <a:solidFill>
                  <a:srgbClr val="24334A"/>
                </a:solidFill>
                <a:latin typeface="Aptos" pitchFamily="34" charset="0"/>
                <a:ea typeface="Aptos" pitchFamily="34" charset="-122"/>
                <a:cs typeface="Aptos" pitchFamily="34" charset="-120"/>
              </a:rPr>
              <a:t>3D trajectory, camera intrinsics and coordinate mapping</a:t>
            </a:r>
            <a:endParaRPr lang="en-US" sz="1200" dirty="0"/>
          </a:p>
        </p:txBody>
      </p:sp>
      <p:sp>
        <p:nvSpPr>
          <p:cNvPr id="13" name="Shape 11"/>
          <p:cNvSpPr/>
          <p:nvPr/>
        </p:nvSpPr>
        <p:spPr>
          <a:xfrm>
            <a:off x="3538728" y="1344168"/>
            <a:ext cx="2697480" cy="2670048"/>
          </a:xfrm>
          <a:prstGeom prst="roundRect">
            <a:avLst>
              <a:gd name="adj" fmla="val 4452"/>
            </a:avLst>
          </a:prstGeom>
          <a:solidFill>
            <a:srgbClr val="E1F5EF"/>
          </a:solidFill>
          <a:ln w="12700">
            <a:solidFill>
              <a:srgbClr val="E1F5EF">
                <a:alpha val="0"/>
              </a:srgbClr>
            </a:solidFill>
            <a:prstDash val="solid"/>
          </a:ln>
        </p:spPr>
        <p:txBody>
          <a:bodyPr/>
          <a:lstStyle/>
          <a:p>
            <a:endParaRPr lang="nb-NO"/>
          </a:p>
        </p:txBody>
      </p:sp>
      <p:sp>
        <p:nvSpPr>
          <p:cNvPr id="14" name="Shape 12"/>
          <p:cNvSpPr/>
          <p:nvPr/>
        </p:nvSpPr>
        <p:spPr>
          <a:xfrm>
            <a:off x="4443984" y="1581912"/>
            <a:ext cx="777240" cy="777240"/>
          </a:xfrm>
          <a:prstGeom prst="ellipse">
            <a:avLst/>
          </a:prstGeom>
          <a:solidFill>
            <a:srgbClr val="15A68C"/>
          </a:solidFill>
          <a:ln w="12700">
            <a:solidFill>
              <a:srgbClr val="15A68C">
                <a:alpha val="0"/>
              </a:srgbClr>
            </a:solidFill>
            <a:prstDash val="solid"/>
          </a:ln>
        </p:spPr>
        <p:txBody>
          <a:bodyPr/>
          <a:lstStyle/>
          <a:p>
            <a:endParaRPr lang="nb-NO"/>
          </a:p>
        </p:txBody>
      </p:sp>
      <p:sp>
        <p:nvSpPr>
          <p:cNvPr id="15" name="Text 13"/>
          <p:cNvSpPr txBox="1"/>
          <p:nvPr/>
        </p:nvSpPr>
        <p:spPr>
          <a:xfrm>
            <a:off x="4453128" y="1764792"/>
            <a:ext cx="749808" cy="384048"/>
          </a:xfrm>
          <a:prstGeom prst="rect">
            <a:avLst/>
          </a:prstGeom>
          <a:noFill/>
          <a:ln/>
        </p:spPr>
        <p:txBody>
          <a:bodyPr wrap="square" lIns="0" tIns="0" rIns="0" bIns="0" rtlCol="0" anchor="ctr">
            <a:normAutofit/>
          </a:bodyPr>
          <a:lstStyle/>
          <a:p>
            <a:pPr marL="0" indent="0" algn="ctr">
              <a:buNone/>
            </a:pPr>
            <a:r>
              <a:rPr lang="en-US" sz="2300" b="1" dirty="0">
                <a:solidFill>
                  <a:srgbClr val="FFFFFF"/>
                </a:solidFill>
                <a:latin typeface="Aptos" pitchFamily="34" charset="0"/>
                <a:ea typeface="Aptos" pitchFamily="34" charset="-122"/>
                <a:cs typeface="Aptos" pitchFamily="34" charset="-120"/>
              </a:rPr>
              <a:t>Q2</a:t>
            </a:r>
            <a:endParaRPr lang="en-US" sz="2300" dirty="0"/>
          </a:p>
        </p:txBody>
      </p:sp>
      <p:sp>
        <p:nvSpPr>
          <p:cNvPr id="16" name="Text 14"/>
          <p:cNvSpPr txBox="1"/>
          <p:nvPr/>
        </p:nvSpPr>
        <p:spPr>
          <a:xfrm>
            <a:off x="3739896" y="2578608"/>
            <a:ext cx="2304288" cy="365760"/>
          </a:xfrm>
          <a:prstGeom prst="rect">
            <a:avLst/>
          </a:prstGeom>
          <a:noFill/>
          <a:ln/>
        </p:spPr>
        <p:txBody>
          <a:bodyPr wrap="square" lIns="0" tIns="0" rIns="0" bIns="0" rtlCol="0" anchor="ctr">
            <a:normAutofit/>
          </a:bodyPr>
          <a:lstStyle/>
          <a:p>
            <a:pPr marL="0" indent="0" algn="ctr">
              <a:buNone/>
            </a:pPr>
            <a:r>
              <a:rPr lang="en-US" sz="1800" b="1" dirty="0">
                <a:solidFill>
                  <a:srgbClr val="142E53"/>
                </a:solidFill>
                <a:latin typeface="Aptos" pitchFamily="34" charset="0"/>
                <a:ea typeface="Aptos" pitchFamily="34" charset="-122"/>
                <a:cs typeface="Aptos" pitchFamily="34" charset="-120"/>
              </a:rPr>
              <a:t>LiDAR</a:t>
            </a:r>
            <a:endParaRPr lang="en-US" sz="1800" dirty="0"/>
          </a:p>
        </p:txBody>
      </p:sp>
      <p:sp>
        <p:nvSpPr>
          <p:cNvPr id="17" name="Text 15"/>
          <p:cNvSpPr txBox="1"/>
          <p:nvPr/>
        </p:nvSpPr>
        <p:spPr>
          <a:xfrm>
            <a:off x="3739896" y="3054096"/>
            <a:ext cx="2304288" cy="685800"/>
          </a:xfrm>
          <a:prstGeom prst="rect">
            <a:avLst/>
          </a:prstGeom>
          <a:noFill/>
          <a:ln/>
        </p:spPr>
        <p:txBody>
          <a:bodyPr wrap="square" lIns="0" tIns="0" rIns="0" bIns="0" rtlCol="0" anchor="t">
            <a:normAutofit/>
          </a:bodyPr>
          <a:lstStyle/>
          <a:p>
            <a:pPr marL="0" indent="0" algn="ctr">
              <a:buNone/>
            </a:pPr>
            <a:r>
              <a:rPr lang="en-US" sz="1200" dirty="0">
                <a:solidFill>
                  <a:srgbClr val="24334A"/>
                </a:solidFill>
                <a:latin typeface="Aptos" pitchFamily="34" charset="0"/>
                <a:ea typeface="Aptos" pitchFamily="34" charset="-122"/>
                <a:cs typeface="Aptos" pitchFamily="34" charset="-120"/>
              </a:rPr>
              <a:t>Point-cloud clustering, load motion and KISS-ICP</a:t>
            </a:r>
            <a:endParaRPr lang="en-US" sz="1200" dirty="0"/>
          </a:p>
        </p:txBody>
      </p:sp>
      <p:sp>
        <p:nvSpPr>
          <p:cNvPr id="18" name="Shape 16"/>
          <p:cNvSpPr/>
          <p:nvPr/>
        </p:nvSpPr>
        <p:spPr>
          <a:xfrm>
            <a:off x="6446520" y="1344168"/>
            <a:ext cx="2697480" cy="2670048"/>
          </a:xfrm>
          <a:prstGeom prst="roundRect">
            <a:avLst>
              <a:gd name="adj" fmla="val 4452"/>
            </a:avLst>
          </a:prstGeom>
          <a:solidFill>
            <a:srgbClr val="FBE6F0"/>
          </a:solidFill>
          <a:ln w="12700">
            <a:solidFill>
              <a:srgbClr val="FBE6F0">
                <a:alpha val="0"/>
              </a:srgbClr>
            </a:solidFill>
            <a:prstDash val="solid"/>
          </a:ln>
        </p:spPr>
        <p:txBody>
          <a:bodyPr/>
          <a:lstStyle/>
          <a:p>
            <a:endParaRPr lang="nb-NO"/>
          </a:p>
        </p:txBody>
      </p:sp>
      <p:sp>
        <p:nvSpPr>
          <p:cNvPr id="19" name="Shape 17"/>
          <p:cNvSpPr/>
          <p:nvPr/>
        </p:nvSpPr>
        <p:spPr>
          <a:xfrm>
            <a:off x="7351776" y="1581912"/>
            <a:ext cx="777240" cy="777240"/>
          </a:xfrm>
          <a:prstGeom prst="ellipse">
            <a:avLst/>
          </a:prstGeom>
          <a:solidFill>
            <a:srgbClr val="DC5791"/>
          </a:solidFill>
          <a:ln w="12700">
            <a:solidFill>
              <a:srgbClr val="DC5791">
                <a:alpha val="0"/>
              </a:srgbClr>
            </a:solidFill>
            <a:prstDash val="solid"/>
          </a:ln>
        </p:spPr>
        <p:txBody>
          <a:bodyPr/>
          <a:lstStyle/>
          <a:p>
            <a:endParaRPr lang="nb-NO"/>
          </a:p>
        </p:txBody>
      </p:sp>
      <p:sp>
        <p:nvSpPr>
          <p:cNvPr id="20" name="Text 18"/>
          <p:cNvSpPr txBox="1"/>
          <p:nvPr/>
        </p:nvSpPr>
        <p:spPr>
          <a:xfrm>
            <a:off x="7360920" y="1764792"/>
            <a:ext cx="749808" cy="384048"/>
          </a:xfrm>
          <a:prstGeom prst="rect">
            <a:avLst/>
          </a:prstGeom>
          <a:noFill/>
          <a:ln/>
        </p:spPr>
        <p:txBody>
          <a:bodyPr wrap="square" lIns="0" tIns="0" rIns="0" bIns="0" rtlCol="0" anchor="ctr">
            <a:normAutofit/>
          </a:bodyPr>
          <a:lstStyle/>
          <a:p>
            <a:pPr marL="0" indent="0" algn="ctr">
              <a:buNone/>
            </a:pPr>
            <a:r>
              <a:rPr lang="en-US" sz="2300" b="1" dirty="0">
                <a:solidFill>
                  <a:srgbClr val="FFFFFF"/>
                </a:solidFill>
                <a:latin typeface="Aptos" pitchFamily="34" charset="0"/>
                <a:ea typeface="Aptos" pitchFamily="34" charset="-122"/>
                <a:cs typeface="Aptos" pitchFamily="34" charset="-120"/>
              </a:rPr>
              <a:t>Q3</a:t>
            </a:r>
            <a:endParaRPr lang="en-US" sz="2300" dirty="0"/>
          </a:p>
        </p:txBody>
      </p:sp>
      <p:sp>
        <p:nvSpPr>
          <p:cNvPr id="21" name="Text 19"/>
          <p:cNvSpPr txBox="1"/>
          <p:nvPr/>
        </p:nvSpPr>
        <p:spPr>
          <a:xfrm>
            <a:off x="6647688" y="2578608"/>
            <a:ext cx="2304288" cy="365760"/>
          </a:xfrm>
          <a:prstGeom prst="rect">
            <a:avLst/>
          </a:prstGeom>
          <a:noFill/>
          <a:ln/>
        </p:spPr>
        <p:txBody>
          <a:bodyPr wrap="square" lIns="0" tIns="0" rIns="0" bIns="0" rtlCol="0" anchor="ctr">
            <a:normAutofit/>
          </a:bodyPr>
          <a:lstStyle/>
          <a:p>
            <a:pPr marL="0" indent="0" algn="ctr">
              <a:buNone/>
            </a:pPr>
            <a:r>
              <a:rPr lang="en-US" sz="1800" b="1" dirty="0">
                <a:solidFill>
                  <a:srgbClr val="142E53"/>
                </a:solidFill>
                <a:latin typeface="Aptos" pitchFamily="34" charset="0"/>
                <a:ea typeface="Aptos" pitchFamily="34" charset="-122"/>
                <a:cs typeface="Aptos" pitchFamily="34" charset="-120"/>
              </a:rPr>
              <a:t>Camera–LiDAR</a:t>
            </a:r>
            <a:endParaRPr lang="en-US" sz="1800" dirty="0"/>
          </a:p>
        </p:txBody>
      </p:sp>
      <p:sp>
        <p:nvSpPr>
          <p:cNvPr id="22" name="Text 20"/>
          <p:cNvSpPr txBox="1"/>
          <p:nvPr/>
        </p:nvSpPr>
        <p:spPr>
          <a:xfrm>
            <a:off x="6647688" y="3054096"/>
            <a:ext cx="2304288" cy="685800"/>
          </a:xfrm>
          <a:prstGeom prst="rect">
            <a:avLst/>
          </a:prstGeom>
          <a:noFill/>
          <a:ln/>
        </p:spPr>
        <p:txBody>
          <a:bodyPr wrap="square" lIns="0" tIns="0" rIns="0" bIns="0" rtlCol="0" anchor="t">
            <a:normAutofit/>
          </a:bodyPr>
          <a:lstStyle/>
          <a:p>
            <a:pPr marL="0" indent="0" algn="ctr">
              <a:buNone/>
            </a:pPr>
            <a:r>
              <a:rPr lang="en-US" sz="1200" dirty="0">
                <a:solidFill>
                  <a:srgbClr val="24334A"/>
                </a:solidFill>
                <a:latin typeface="Aptos" pitchFamily="34" charset="0"/>
                <a:ea typeface="Aptos" pitchFamily="34" charset="-122"/>
                <a:cs typeface="Aptos" pitchFamily="34" charset="-120"/>
              </a:rPr>
              <a:t>KITTI calibration, 3D ranging and validation</a:t>
            </a:r>
            <a:endParaRPr lang="en-US" sz="1200" dirty="0"/>
          </a:p>
        </p:txBody>
      </p:sp>
      <p:sp>
        <p:nvSpPr>
          <p:cNvPr id="23" name="Shape 21"/>
          <p:cNvSpPr/>
          <p:nvPr/>
        </p:nvSpPr>
        <p:spPr>
          <a:xfrm>
            <a:off x="9354312" y="1344168"/>
            <a:ext cx="2697480" cy="2670048"/>
          </a:xfrm>
          <a:prstGeom prst="roundRect">
            <a:avLst>
              <a:gd name="adj" fmla="val 4452"/>
            </a:avLst>
          </a:prstGeom>
          <a:solidFill>
            <a:srgbClr val="EFE8FA"/>
          </a:solidFill>
          <a:ln w="12700">
            <a:solidFill>
              <a:srgbClr val="EFE8FA">
                <a:alpha val="0"/>
              </a:srgbClr>
            </a:solidFill>
            <a:prstDash val="solid"/>
          </a:ln>
        </p:spPr>
        <p:txBody>
          <a:bodyPr/>
          <a:lstStyle/>
          <a:p>
            <a:endParaRPr lang="nb-NO"/>
          </a:p>
        </p:txBody>
      </p:sp>
      <p:sp>
        <p:nvSpPr>
          <p:cNvPr id="24" name="Shape 22"/>
          <p:cNvSpPr/>
          <p:nvPr/>
        </p:nvSpPr>
        <p:spPr>
          <a:xfrm>
            <a:off x="10259568" y="1581912"/>
            <a:ext cx="777240" cy="777240"/>
          </a:xfrm>
          <a:prstGeom prst="ellipse">
            <a:avLst/>
          </a:prstGeom>
          <a:solidFill>
            <a:srgbClr val="9B73C8"/>
          </a:solidFill>
          <a:ln w="12700">
            <a:solidFill>
              <a:srgbClr val="9B73C8">
                <a:alpha val="0"/>
              </a:srgbClr>
            </a:solidFill>
            <a:prstDash val="solid"/>
          </a:ln>
        </p:spPr>
        <p:txBody>
          <a:bodyPr/>
          <a:lstStyle/>
          <a:p>
            <a:endParaRPr lang="nb-NO"/>
          </a:p>
        </p:txBody>
      </p:sp>
      <p:sp>
        <p:nvSpPr>
          <p:cNvPr id="25" name="Text 23"/>
          <p:cNvSpPr txBox="1"/>
          <p:nvPr/>
        </p:nvSpPr>
        <p:spPr>
          <a:xfrm>
            <a:off x="10268712" y="1764792"/>
            <a:ext cx="749808" cy="384048"/>
          </a:xfrm>
          <a:prstGeom prst="rect">
            <a:avLst/>
          </a:prstGeom>
          <a:noFill/>
          <a:ln/>
        </p:spPr>
        <p:txBody>
          <a:bodyPr wrap="square" lIns="0" tIns="0" rIns="0" bIns="0" rtlCol="0" anchor="ctr">
            <a:normAutofit/>
          </a:bodyPr>
          <a:lstStyle/>
          <a:p>
            <a:pPr marL="0" indent="0" algn="ctr">
              <a:buNone/>
            </a:pPr>
            <a:r>
              <a:rPr lang="en-US" sz="2300" b="1" dirty="0">
                <a:solidFill>
                  <a:srgbClr val="FFFFFF"/>
                </a:solidFill>
                <a:latin typeface="Aptos" pitchFamily="34" charset="0"/>
                <a:ea typeface="Aptos" pitchFamily="34" charset="-122"/>
                <a:cs typeface="Aptos" pitchFamily="34" charset="-120"/>
              </a:rPr>
              <a:t>Q4</a:t>
            </a:r>
            <a:endParaRPr lang="en-US" sz="2300" dirty="0"/>
          </a:p>
        </p:txBody>
      </p:sp>
      <p:sp>
        <p:nvSpPr>
          <p:cNvPr id="26" name="Text 24"/>
          <p:cNvSpPr txBox="1"/>
          <p:nvPr/>
        </p:nvSpPr>
        <p:spPr>
          <a:xfrm>
            <a:off x="9555480" y="2578608"/>
            <a:ext cx="2304288" cy="365760"/>
          </a:xfrm>
          <a:prstGeom prst="rect">
            <a:avLst/>
          </a:prstGeom>
          <a:noFill/>
          <a:ln/>
        </p:spPr>
        <p:txBody>
          <a:bodyPr wrap="square" lIns="0" tIns="0" rIns="0" bIns="0" rtlCol="0" anchor="ctr">
            <a:normAutofit/>
          </a:bodyPr>
          <a:lstStyle/>
          <a:p>
            <a:pPr marL="0" indent="0" algn="ctr">
              <a:buNone/>
            </a:pPr>
            <a:r>
              <a:rPr lang="en-US" sz="1800" b="1" dirty="0">
                <a:solidFill>
                  <a:srgbClr val="142E53"/>
                </a:solidFill>
                <a:latin typeface="Aptos" pitchFamily="34" charset="0"/>
                <a:ea typeface="Aptos" pitchFamily="34" charset="-122"/>
                <a:cs typeface="Aptos" pitchFamily="34" charset="-120"/>
              </a:rPr>
              <a:t>Webots</a:t>
            </a:r>
            <a:endParaRPr lang="en-US" sz="1800" dirty="0"/>
          </a:p>
        </p:txBody>
      </p:sp>
      <p:sp>
        <p:nvSpPr>
          <p:cNvPr id="27" name="Text 25"/>
          <p:cNvSpPr txBox="1"/>
          <p:nvPr/>
        </p:nvSpPr>
        <p:spPr>
          <a:xfrm>
            <a:off x="9555480" y="3054096"/>
            <a:ext cx="2304288" cy="685800"/>
          </a:xfrm>
          <a:prstGeom prst="rect">
            <a:avLst/>
          </a:prstGeom>
          <a:noFill/>
          <a:ln/>
        </p:spPr>
        <p:txBody>
          <a:bodyPr wrap="square" lIns="0" tIns="0" rIns="0" bIns="0" rtlCol="0" anchor="t">
            <a:normAutofit/>
          </a:bodyPr>
          <a:lstStyle/>
          <a:p>
            <a:pPr marL="0" indent="0" algn="ctr">
              <a:buNone/>
            </a:pPr>
            <a:r>
              <a:rPr lang="en-US" sz="1200" dirty="0">
                <a:solidFill>
                  <a:srgbClr val="24334A"/>
                </a:solidFill>
                <a:latin typeface="Aptos" pitchFamily="34" charset="0"/>
                <a:ea typeface="Aptos" pitchFamily="34" charset="-122"/>
                <a:cs typeface="Aptos" pitchFamily="34" charset="-120"/>
              </a:rPr>
              <a:t>Waypoint control, wheel slip and sensor logging</a:t>
            </a:r>
            <a:endParaRPr lang="en-US" sz="1200" dirty="0"/>
          </a:p>
        </p:txBody>
      </p:sp>
      <p:sp>
        <p:nvSpPr>
          <p:cNvPr id="28" name="Shape 26"/>
          <p:cNvSpPr/>
          <p:nvPr/>
        </p:nvSpPr>
        <p:spPr>
          <a:xfrm>
            <a:off x="1051560" y="4389120"/>
            <a:ext cx="10058400" cy="512064"/>
          </a:xfrm>
          <a:prstGeom prst="roundRect">
            <a:avLst>
              <a:gd name="adj" fmla="val 23214"/>
            </a:avLst>
          </a:prstGeom>
          <a:solidFill>
            <a:srgbClr val="ECF4FA"/>
          </a:solidFill>
          <a:ln w="12700">
            <a:solidFill>
              <a:srgbClr val="ECF4FA">
                <a:alpha val="0"/>
              </a:srgbClr>
            </a:solidFill>
            <a:prstDash val="solid"/>
          </a:ln>
        </p:spPr>
        <p:txBody>
          <a:bodyPr/>
          <a:lstStyle/>
          <a:p>
            <a:endParaRPr lang="nb-NO"/>
          </a:p>
        </p:txBody>
      </p:sp>
      <p:sp>
        <p:nvSpPr>
          <p:cNvPr id="29" name="Text 27"/>
          <p:cNvSpPr txBox="1"/>
          <p:nvPr/>
        </p:nvSpPr>
        <p:spPr>
          <a:xfrm>
            <a:off x="1271016" y="4517136"/>
            <a:ext cx="9692640" cy="228600"/>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Assignment 1 models are reused where relevant; results shown in this deck come from the Assignment 2 notebook.</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Q1</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lang="en-US" sz="2500" b="1" dirty="0">
                <a:solidFill>
                  <a:srgbClr val="142E53"/>
                </a:solidFill>
                <a:latin typeface="Aptos Display" pitchFamily="34" charset="0"/>
                <a:ea typeface="Aptos Display" pitchFamily="34" charset="-122"/>
                <a:cs typeface="Aptos Display" pitchFamily="34" charset="-120"/>
              </a:rPr>
              <a:t>Q1(a) Camera → 3D coordinates</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ctr">
              <a:buNone/>
            </a:pPr>
            <a:r>
              <a:rPr lang="en-US" sz="1000" dirty="0">
                <a:solidFill>
                  <a:srgbClr val="58687C"/>
                </a:solidFill>
                <a:latin typeface="Aptos" pitchFamily="34" charset="0"/>
                <a:ea typeface="Aptos" pitchFamily="34" charset="-122"/>
                <a:cs typeface="Aptos" pitchFamily="34" charset="-120"/>
              </a:rPr>
              <a:t>Reuse the Assignment 1 YOLO model to reconstruct the swinging-load trajectory</a:t>
            </a:r>
            <a:endParaRPr lang="en-US" sz="1000" dirty="0"/>
          </a:p>
        </p:txBody>
      </p:sp>
      <p:sp>
        <p:nvSpPr>
          <p:cNvPr id="7" name="Shape 5"/>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76072"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3</a:t>
            </a:r>
            <a:endParaRPr lang="en-US" sz="1100" dirty="0"/>
          </a:p>
        </p:txBody>
      </p:sp>
      <p:sp>
        <p:nvSpPr>
          <p:cNvPr id="10" name="Shape 8"/>
          <p:cNvSpPr/>
          <p:nvPr/>
        </p:nvSpPr>
        <p:spPr>
          <a:xfrm>
            <a:off x="566928" y="1216152"/>
            <a:ext cx="2670048" cy="1298448"/>
          </a:xfrm>
          <a:prstGeom prst="roundRect">
            <a:avLst>
              <a:gd name="adj" fmla="val 9155"/>
            </a:avLst>
          </a:prstGeom>
          <a:solidFill>
            <a:srgbClr val="E4EEFF"/>
          </a:solidFill>
          <a:ln w="12700">
            <a:solidFill>
              <a:srgbClr val="E4EEFF">
                <a:alpha val="0"/>
              </a:srgbClr>
            </a:solidFill>
            <a:prstDash val="solid"/>
          </a:ln>
        </p:spPr>
        <p:txBody>
          <a:bodyPr/>
          <a:lstStyle/>
          <a:p>
            <a:endParaRPr lang="nb-NO"/>
          </a:p>
        </p:txBody>
      </p:sp>
      <p:sp>
        <p:nvSpPr>
          <p:cNvPr id="11" name="Shape 9"/>
          <p:cNvSpPr/>
          <p:nvPr/>
        </p:nvSpPr>
        <p:spPr>
          <a:xfrm>
            <a:off x="685800" y="1335024"/>
            <a:ext cx="338328" cy="338328"/>
          </a:xfrm>
          <a:prstGeom prst="ellipse">
            <a:avLst/>
          </a:prstGeom>
          <a:solidFill>
            <a:srgbClr val="3477EF"/>
          </a:solidFill>
          <a:ln w="12700">
            <a:solidFill>
              <a:srgbClr val="3477EF">
                <a:alpha val="0"/>
              </a:srgbClr>
            </a:solidFill>
            <a:prstDash val="solid"/>
          </a:ln>
        </p:spPr>
        <p:txBody>
          <a:bodyPr/>
          <a:lstStyle/>
          <a:p>
            <a:endParaRPr lang="nb-NO"/>
          </a:p>
        </p:txBody>
      </p:sp>
      <p:sp>
        <p:nvSpPr>
          <p:cNvPr id="12" name="Text 10"/>
          <p:cNvSpPr txBox="1"/>
          <p:nvPr/>
        </p:nvSpPr>
        <p:spPr>
          <a:xfrm>
            <a:off x="685800" y="1344168"/>
            <a:ext cx="338328" cy="310896"/>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3" name="Text 11"/>
          <p:cNvSpPr txBox="1"/>
          <p:nvPr/>
        </p:nvSpPr>
        <p:spPr>
          <a:xfrm>
            <a:off x="1115568" y="1344168"/>
            <a:ext cx="1993392" cy="320040"/>
          </a:xfrm>
          <a:prstGeom prst="rect">
            <a:avLst/>
          </a:prstGeom>
          <a:noFill/>
          <a:ln/>
        </p:spPr>
        <p:txBody>
          <a:bodyPr wrap="square" lIns="0" tIns="0" rIns="0" bIns="0" rtlCol="0" anchor="ctr">
            <a:normAutofit/>
          </a:bodyPr>
          <a:lstStyle/>
          <a:p>
            <a:pPr marL="0" indent="0" algn="l">
              <a:buNone/>
            </a:pPr>
            <a:r>
              <a:rPr lang="en-US" sz="1300" b="1" dirty="0">
                <a:solidFill>
                  <a:srgbClr val="142E53"/>
                </a:solidFill>
                <a:latin typeface="Aptos" pitchFamily="34" charset="0"/>
                <a:ea typeface="Aptos" pitchFamily="34" charset="-122"/>
                <a:cs typeface="Aptos" pitchFamily="34" charset="-120"/>
              </a:rPr>
              <a:t>RGB + depth</a:t>
            </a:r>
            <a:endParaRPr lang="en-US" sz="1300" dirty="0"/>
          </a:p>
        </p:txBody>
      </p:sp>
      <p:sp>
        <p:nvSpPr>
          <p:cNvPr id="14" name="Text 12"/>
          <p:cNvSpPr txBox="1"/>
          <p:nvPr/>
        </p:nvSpPr>
        <p:spPr>
          <a:xfrm>
            <a:off x="740664" y="1773936"/>
            <a:ext cx="2313432" cy="649224"/>
          </a:xfrm>
          <a:prstGeom prst="rect">
            <a:avLst/>
          </a:prstGeom>
          <a:noFill/>
          <a:ln/>
        </p:spPr>
        <p:txBody>
          <a:bodyPr wrap="square" lIns="0" tIns="0" rIns="0" bIns="0" rtlCol="0" anchor="t">
            <a:normAutofit/>
          </a:bodyPr>
          <a:lstStyle/>
          <a:p>
            <a:pPr marL="0" indent="0" algn="l">
              <a:buNone/>
            </a:pPr>
            <a:r>
              <a:rPr lang="en-US" sz="1050" dirty="0">
                <a:solidFill>
                  <a:srgbClr val="24334A"/>
                </a:solidFill>
                <a:latin typeface="Aptos" pitchFamily="34" charset="0"/>
                <a:ea typeface="Aptos" pitchFamily="34" charset="-122"/>
                <a:cs typeface="Aptos" pitchFamily="34" charset="-120"/>
              </a:rPr>
              <a:t>Match 900 RGB images with their aligned raw depth frames.</a:t>
            </a:r>
            <a:endParaRPr lang="en-US" sz="1050" dirty="0"/>
          </a:p>
        </p:txBody>
      </p:sp>
      <p:sp>
        <p:nvSpPr>
          <p:cNvPr id="15" name="Shape 13"/>
          <p:cNvSpPr/>
          <p:nvPr/>
        </p:nvSpPr>
        <p:spPr>
          <a:xfrm>
            <a:off x="3364992" y="1216152"/>
            <a:ext cx="2670048" cy="1298448"/>
          </a:xfrm>
          <a:prstGeom prst="roundRect">
            <a:avLst>
              <a:gd name="adj" fmla="val 9155"/>
            </a:avLst>
          </a:prstGeom>
          <a:solidFill>
            <a:srgbClr val="E1F5EF"/>
          </a:solidFill>
          <a:ln w="12700">
            <a:solidFill>
              <a:srgbClr val="E1F5EF">
                <a:alpha val="0"/>
              </a:srgbClr>
            </a:solidFill>
            <a:prstDash val="solid"/>
          </a:ln>
        </p:spPr>
        <p:txBody>
          <a:bodyPr/>
          <a:lstStyle/>
          <a:p>
            <a:endParaRPr lang="nb-NO"/>
          </a:p>
        </p:txBody>
      </p:sp>
      <p:sp>
        <p:nvSpPr>
          <p:cNvPr id="16" name="Shape 14"/>
          <p:cNvSpPr/>
          <p:nvPr/>
        </p:nvSpPr>
        <p:spPr>
          <a:xfrm>
            <a:off x="3483864" y="1335024"/>
            <a:ext cx="338328" cy="338328"/>
          </a:xfrm>
          <a:prstGeom prst="ellipse">
            <a:avLst/>
          </a:prstGeom>
          <a:solidFill>
            <a:srgbClr val="15A68C"/>
          </a:solidFill>
          <a:ln w="12700">
            <a:solidFill>
              <a:srgbClr val="15A68C">
                <a:alpha val="0"/>
              </a:srgbClr>
            </a:solidFill>
            <a:prstDash val="solid"/>
          </a:ln>
        </p:spPr>
        <p:txBody>
          <a:bodyPr/>
          <a:lstStyle/>
          <a:p>
            <a:endParaRPr lang="nb-NO"/>
          </a:p>
        </p:txBody>
      </p:sp>
      <p:sp>
        <p:nvSpPr>
          <p:cNvPr id="17" name="Text 15"/>
          <p:cNvSpPr txBox="1"/>
          <p:nvPr/>
        </p:nvSpPr>
        <p:spPr>
          <a:xfrm>
            <a:off x="3483864" y="1344168"/>
            <a:ext cx="338328" cy="310896"/>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8" name="Text 16"/>
          <p:cNvSpPr txBox="1"/>
          <p:nvPr/>
        </p:nvSpPr>
        <p:spPr>
          <a:xfrm>
            <a:off x="3913632" y="1344168"/>
            <a:ext cx="1993392" cy="320040"/>
          </a:xfrm>
          <a:prstGeom prst="rect">
            <a:avLst/>
          </a:prstGeom>
          <a:noFill/>
          <a:ln/>
        </p:spPr>
        <p:txBody>
          <a:bodyPr wrap="square" lIns="0" tIns="0" rIns="0" bIns="0" rtlCol="0" anchor="ctr">
            <a:normAutofit/>
          </a:bodyPr>
          <a:lstStyle/>
          <a:p>
            <a:pPr marL="0" indent="0" algn="l">
              <a:buNone/>
            </a:pPr>
            <a:r>
              <a:rPr lang="en-US" sz="1300" b="1" dirty="0">
                <a:solidFill>
                  <a:srgbClr val="142E53"/>
                </a:solidFill>
                <a:latin typeface="Aptos" pitchFamily="34" charset="0"/>
                <a:ea typeface="Aptos" pitchFamily="34" charset="-122"/>
                <a:cs typeface="Aptos" pitchFamily="34" charset="-120"/>
              </a:rPr>
              <a:t>YOLO detection</a:t>
            </a:r>
            <a:endParaRPr lang="en-US" sz="1300" dirty="0"/>
          </a:p>
        </p:txBody>
      </p:sp>
      <p:sp>
        <p:nvSpPr>
          <p:cNvPr id="19" name="Text 17"/>
          <p:cNvSpPr txBox="1"/>
          <p:nvPr/>
        </p:nvSpPr>
        <p:spPr>
          <a:xfrm>
            <a:off x="3538728" y="1773936"/>
            <a:ext cx="2313432" cy="649224"/>
          </a:xfrm>
          <a:prstGeom prst="rect">
            <a:avLst/>
          </a:prstGeom>
          <a:noFill/>
          <a:ln/>
        </p:spPr>
        <p:txBody>
          <a:bodyPr wrap="square" lIns="0" tIns="0" rIns="0" bIns="0" rtlCol="0" anchor="t">
            <a:normAutofit/>
          </a:bodyPr>
          <a:lstStyle/>
          <a:p>
            <a:pPr marL="0" indent="0" algn="l">
              <a:buNone/>
            </a:pPr>
            <a:r>
              <a:rPr lang="en-US" sz="1050" dirty="0">
                <a:solidFill>
                  <a:srgbClr val="24334A"/>
                </a:solidFill>
                <a:latin typeface="Aptos" pitchFamily="34" charset="0"/>
                <a:ea typeface="Aptos" pitchFamily="34" charset="-122"/>
                <a:cs typeface="Aptos" pitchFamily="34" charset="-120"/>
              </a:rPr>
              <a:t>Predict the load bounding box and calculate its center (u, v).</a:t>
            </a:r>
            <a:endParaRPr lang="en-US" sz="1050" dirty="0"/>
          </a:p>
        </p:txBody>
      </p:sp>
      <p:sp>
        <p:nvSpPr>
          <p:cNvPr id="20" name="Shape 18"/>
          <p:cNvSpPr/>
          <p:nvPr/>
        </p:nvSpPr>
        <p:spPr>
          <a:xfrm>
            <a:off x="6163056" y="1216152"/>
            <a:ext cx="2670048" cy="1298448"/>
          </a:xfrm>
          <a:prstGeom prst="roundRect">
            <a:avLst>
              <a:gd name="adj" fmla="val 9155"/>
            </a:avLst>
          </a:prstGeom>
          <a:solidFill>
            <a:srgbClr val="FBE6F0"/>
          </a:solidFill>
          <a:ln w="12700">
            <a:solidFill>
              <a:srgbClr val="FBE6F0">
                <a:alpha val="0"/>
              </a:srgbClr>
            </a:solidFill>
            <a:prstDash val="solid"/>
          </a:ln>
        </p:spPr>
        <p:txBody>
          <a:bodyPr/>
          <a:lstStyle/>
          <a:p>
            <a:endParaRPr lang="nb-NO"/>
          </a:p>
        </p:txBody>
      </p:sp>
      <p:sp>
        <p:nvSpPr>
          <p:cNvPr id="21" name="Shape 19"/>
          <p:cNvSpPr/>
          <p:nvPr/>
        </p:nvSpPr>
        <p:spPr>
          <a:xfrm>
            <a:off x="6281928" y="1335024"/>
            <a:ext cx="338328" cy="338328"/>
          </a:xfrm>
          <a:prstGeom prst="ellipse">
            <a:avLst/>
          </a:prstGeom>
          <a:solidFill>
            <a:srgbClr val="DC5791"/>
          </a:solidFill>
          <a:ln w="12700">
            <a:solidFill>
              <a:srgbClr val="DC5791">
                <a:alpha val="0"/>
              </a:srgbClr>
            </a:solidFill>
            <a:prstDash val="solid"/>
          </a:ln>
        </p:spPr>
        <p:txBody>
          <a:bodyPr/>
          <a:lstStyle/>
          <a:p>
            <a:endParaRPr lang="nb-NO"/>
          </a:p>
        </p:txBody>
      </p:sp>
      <p:sp>
        <p:nvSpPr>
          <p:cNvPr id="22" name="Text 20"/>
          <p:cNvSpPr txBox="1"/>
          <p:nvPr/>
        </p:nvSpPr>
        <p:spPr>
          <a:xfrm>
            <a:off x="6281928" y="1344168"/>
            <a:ext cx="338328" cy="310896"/>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3" name="Text 21"/>
          <p:cNvSpPr txBox="1"/>
          <p:nvPr/>
        </p:nvSpPr>
        <p:spPr>
          <a:xfrm>
            <a:off x="6711696" y="1344168"/>
            <a:ext cx="1993392" cy="320040"/>
          </a:xfrm>
          <a:prstGeom prst="rect">
            <a:avLst/>
          </a:prstGeom>
          <a:noFill/>
          <a:ln/>
        </p:spPr>
        <p:txBody>
          <a:bodyPr wrap="square" lIns="0" tIns="0" rIns="0" bIns="0" rtlCol="0" anchor="ctr">
            <a:normAutofit/>
          </a:bodyPr>
          <a:lstStyle/>
          <a:p>
            <a:pPr marL="0" indent="0" algn="l">
              <a:buNone/>
            </a:pPr>
            <a:r>
              <a:rPr lang="en-US" sz="1300" b="1" dirty="0">
                <a:solidFill>
                  <a:srgbClr val="142E53"/>
                </a:solidFill>
                <a:latin typeface="Aptos" pitchFamily="34" charset="0"/>
                <a:ea typeface="Aptos" pitchFamily="34" charset="-122"/>
                <a:cs typeface="Aptos" pitchFamily="34" charset="-120"/>
              </a:rPr>
              <a:t>Depth sampling</a:t>
            </a:r>
            <a:endParaRPr lang="en-US" sz="1300" dirty="0"/>
          </a:p>
        </p:txBody>
      </p:sp>
      <p:sp>
        <p:nvSpPr>
          <p:cNvPr id="24" name="Text 22"/>
          <p:cNvSpPr txBox="1"/>
          <p:nvPr/>
        </p:nvSpPr>
        <p:spPr>
          <a:xfrm>
            <a:off x="6336792" y="1773936"/>
            <a:ext cx="2313432" cy="649224"/>
          </a:xfrm>
          <a:prstGeom prst="rect">
            <a:avLst/>
          </a:prstGeom>
          <a:noFill/>
          <a:ln/>
        </p:spPr>
        <p:txBody>
          <a:bodyPr wrap="square" lIns="0" tIns="0" rIns="0" bIns="0" rtlCol="0" anchor="t">
            <a:normAutofit/>
          </a:bodyPr>
          <a:lstStyle/>
          <a:p>
            <a:pPr marL="0" indent="0" algn="l">
              <a:buNone/>
            </a:pPr>
            <a:r>
              <a:rPr lang="en-US" sz="1050" dirty="0">
                <a:solidFill>
                  <a:srgbClr val="24334A"/>
                </a:solidFill>
                <a:latin typeface="Aptos" pitchFamily="34" charset="0"/>
                <a:ea typeface="Aptos" pitchFamily="34" charset="-122"/>
                <a:cs typeface="Aptos" pitchFamily="34" charset="-120"/>
              </a:rPr>
              <a:t>Read depth at center; use nearest valid pixel in box if missing.</a:t>
            </a:r>
            <a:endParaRPr lang="en-US" sz="1050" dirty="0"/>
          </a:p>
        </p:txBody>
      </p:sp>
      <p:sp>
        <p:nvSpPr>
          <p:cNvPr id="25" name="Shape 23"/>
          <p:cNvSpPr/>
          <p:nvPr/>
        </p:nvSpPr>
        <p:spPr>
          <a:xfrm>
            <a:off x="8961120" y="1216152"/>
            <a:ext cx="2670048" cy="1298448"/>
          </a:xfrm>
          <a:prstGeom prst="roundRect">
            <a:avLst>
              <a:gd name="adj" fmla="val 9155"/>
            </a:avLst>
          </a:prstGeom>
          <a:solidFill>
            <a:srgbClr val="EFE8FA"/>
          </a:solidFill>
          <a:ln w="12700">
            <a:solidFill>
              <a:srgbClr val="EFE8FA">
                <a:alpha val="0"/>
              </a:srgbClr>
            </a:solidFill>
            <a:prstDash val="solid"/>
          </a:ln>
        </p:spPr>
        <p:txBody>
          <a:bodyPr/>
          <a:lstStyle/>
          <a:p>
            <a:endParaRPr lang="nb-NO"/>
          </a:p>
        </p:txBody>
      </p:sp>
      <p:sp>
        <p:nvSpPr>
          <p:cNvPr id="26" name="Shape 24"/>
          <p:cNvSpPr/>
          <p:nvPr/>
        </p:nvSpPr>
        <p:spPr>
          <a:xfrm>
            <a:off x="9079992" y="1335024"/>
            <a:ext cx="338328" cy="338328"/>
          </a:xfrm>
          <a:prstGeom prst="ellipse">
            <a:avLst/>
          </a:prstGeom>
          <a:solidFill>
            <a:srgbClr val="9B73C8"/>
          </a:solidFill>
          <a:ln w="12700">
            <a:solidFill>
              <a:srgbClr val="9B73C8">
                <a:alpha val="0"/>
              </a:srgbClr>
            </a:solidFill>
            <a:prstDash val="solid"/>
          </a:ln>
        </p:spPr>
        <p:txBody>
          <a:bodyPr/>
          <a:lstStyle/>
          <a:p>
            <a:endParaRPr lang="nb-NO"/>
          </a:p>
        </p:txBody>
      </p:sp>
      <p:sp>
        <p:nvSpPr>
          <p:cNvPr id="27" name="Text 25"/>
          <p:cNvSpPr txBox="1"/>
          <p:nvPr/>
        </p:nvSpPr>
        <p:spPr>
          <a:xfrm>
            <a:off x="9079992" y="1344168"/>
            <a:ext cx="338328" cy="310896"/>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8" name="Text 26"/>
          <p:cNvSpPr txBox="1"/>
          <p:nvPr/>
        </p:nvSpPr>
        <p:spPr>
          <a:xfrm>
            <a:off x="9509760" y="1344168"/>
            <a:ext cx="1993392" cy="320040"/>
          </a:xfrm>
          <a:prstGeom prst="rect">
            <a:avLst/>
          </a:prstGeom>
          <a:noFill/>
          <a:ln/>
        </p:spPr>
        <p:txBody>
          <a:bodyPr wrap="square" lIns="0" tIns="0" rIns="0" bIns="0" rtlCol="0" anchor="ctr">
            <a:normAutofit/>
          </a:bodyPr>
          <a:lstStyle/>
          <a:p>
            <a:pPr marL="0" indent="0" algn="l">
              <a:buNone/>
            </a:pPr>
            <a:r>
              <a:rPr lang="en-US" sz="1300" b="1" dirty="0">
                <a:solidFill>
                  <a:srgbClr val="142E53"/>
                </a:solidFill>
                <a:latin typeface="Aptos" pitchFamily="34" charset="0"/>
                <a:ea typeface="Aptos" pitchFamily="34" charset="-122"/>
                <a:cs typeface="Aptos" pitchFamily="34" charset="-120"/>
              </a:rPr>
              <a:t>3D conversion</a:t>
            </a:r>
            <a:endParaRPr lang="en-US" sz="1300" dirty="0"/>
          </a:p>
        </p:txBody>
      </p:sp>
      <p:sp>
        <p:nvSpPr>
          <p:cNvPr id="29" name="Text 27"/>
          <p:cNvSpPr txBox="1"/>
          <p:nvPr/>
        </p:nvSpPr>
        <p:spPr>
          <a:xfrm>
            <a:off x="9134856" y="1773936"/>
            <a:ext cx="2313432" cy="649224"/>
          </a:xfrm>
          <a:prstGeom prst="rect">
            <a:avLst/>
          </a:prstGeom>
          <a:noFill/>
          <a:ln/>
        </p:spPr>
        <p:txBody>
          <a:bodyPr wrap="square" lIns="0" tIns="0" rIns="0" bIns="0" rtlCol="0" anchor="t">
            <a:normAutofit/>
          </a:bodyPr>
          <a:lstStyle/>
          <a:p>
            <a:pPr marL="0" indent="0" algn="l">
              <a:buNone/>
            </a:pPr>
            <a:r>
              <a:rPr lang="en-US" sz="1050" dirty="0">
                <a:solidFill>
                  <a:srgbClr val="24334A"/>
                </a:solidFill>
                <a:latin typeface="Aptos" pitchFamily="34" charset="0"/>
                <a:ea typeface="Aptos" pitchFamily="34" charset="-122"/>
                <a:cs typeface="Aptos" pitchFamily="34" charset="-120"/>
              </a:rPr>
              <a:t>Apply focal lengths and principal point from the intrinsic matrix.</a:t>
            </a:r>
            <a:endParaRPr lang="en-US" sz="1050" dirty="0"/>
          </a:p>
        </p:txBody>
      </p:sp>
      <p:sp>
        <p:nvSpPr>
          <p:cNvPr id="30" name="Shape 28"/>
          <p:cNvSpPr/>
          <p:nvPr/>
        </p:nvSpPr>
        <p:spPr>
          <a:xfrm>
            <a:off x="557784" y="2761488"/>
            <a:ext cx="6720840" cy="2203704"/>
          </a:xfrm>
          <a:prstGeom prst="roundRect">
            <a:avLst>
              <a:gd name="adj" fmla="val 5394"/>
            </a:avLst>
          </a:prstGeom>
          <a:solidFill>
            <a:srgbClr val="FFFFFF"/>
          </a:solidFill>
          <a:ln w="7620">
            <a:solidFill>
              <a:srgbClr val="D7E2EE"/>
            </a:solidFill>
            <a:prstDash val="solid"/>
          </a:ln>
        </p:spPr>
        <p:txBody>
          <a:bodyPr/>
          <a:lstStyle/>
          <a:p>
            <a:endParaRPr lang="nb-NO"/>
          </a:p>
        </p:txBody>
      </p:sp>
      <p:sp>
        <p:nvSpPr>
          <p:cNvPr id="31" name="Shape 29"/>
          <p:cNvSpPr/>
          <p:nvPr/>
        </p:nvSpPr>
        <p:spPr>
          <a:xfrm>
            <a:off x="758952" y="2944368"/>
            <a:ext cx="2157984" cy="320040"/>
          </a:xfrm>
          <a:prstGeom prst="roundRect">
            <a:avLst>
              <a:gd name="adj" fmla="val 37143"/>
            </a:avLst>
          </a:prstGeom>
          <a:solidFill>
            <a:srgbClr val="E4EEFF"/>
          </a:solidFill>
          <a:ln w="12700">
            <a:solidFill>
              <a:srgbClr val="E4EEFF">
                <a:alpha val="0"/>
              </a:srgbClr>
            </a:solidFill>
            <a:prstDash val="solid"/>
          </a:ln>
        </p:spPr>
        <p:txBody>
          <a:bodyPr/>
          <a:lstStyle/>
          <a:p>
            <a:endParaRPr lang="nb-NO"/>
          </a:p>
        </p:txBody>
      </p:sp>
      <p:sp>
        <p:nvSpPr>
          <p:cNvPr id="32" name="Text 30"/>
          <p:cNvSpPr txBox="1"/>
          <p:nvPr/>
        </p:nvSpPr>
        <p:spPr>
          <a:xfrm>
            <a:off x="813816" y="2953512"/>
            <a:ext cx="2048256" cy="301752"/>
          </a:xfrm>
          <a:prstGeom prst="rect">
            <a:avLst/>
          </a:prstGeom>
          <a:noFill/>
          <a:ln/>
        </p:spPr>
        <p:txBody>
          <a:bodyPr wrap="square" lIns="0" tIns="0" rIns="0" bIns="0" rtlCol="0" anchor="ctr">
            <a:normAutofit/>
          </a:bodyPr>
          <a:lstStyle/>
          <a:p>
            <a:pPr marL="0" indent="0" algn="ctr">
              <a:buNone/>
            </a:pPr>
            <a:r>
              <a:rPr lang="en-US" sz="1100" b="1" dirty="0">
                <a:solidFill>
                  <a:srgbClr val="142E53"/>
                </a:solidFill>
                <a:latin typeface="Aptos" pitchFamily="34" charset="0"/>
                <a:ea typeface="Aptos" pitchFamily="34" charset="-122"/>
                <a:cs typeface="Aptos" pitchFamily="34" charset="-120"/>
              </a:rPr>
              <a:t>Pinhole formula</a:t>
            </a:r>
            <a:endParaRPr lang="en-US" sz="1100" dirty="0"/>
          </a:p>
        </p:txBody>
      </p:sp>
      <p:sp>
        <p:nvSpPr>
          <p:cNvPr id="33" name="Text 31"/>
          <p:cNvSpPr txBox="1"/>
          <p:nvPr/>
        </p:nvSpPr>
        <p:spPr>
          <a:xfrm>
            <a:off x="969264" y="3429000"/>
            <a:ext cx="5852160" cy="384048"/>
          </a:xfrm>
          <a:prstGeom prst="rect">
            <a:avLst/>
          </a:prstGeom>
          <a:noFill/>
          <a:ln/>
        </p:spPr>
        <p:txBody>
          <a:bodyPr wrap="square" lIns="0" tIns="0" rIns="0" bIns="0" rtlCol="0" anchor="ctr">
            <a:normAutofit/>
          </a:bodyPr>
          <a:lstStyle/>
          <a:p>
            <a:pPr marL="0" indent="0" algn="ctr">
              <a:buNone/>
            </a:pPr>
            <a:r>
              <a:rPr lang="en-US" sz="2100" b="1" dirty="0">
                <a:solidFill>
                  <a:srgbClr val="142E53"/>
                </a:solidFill>
                <a:latin typeface="Aptos" pitchFamily="34" charset="0"/>
                <a:ea typeface="Aptos" pitchFamily="34" charset="-122"/>
                <a:cs typeface="Aptos" pitchFamily="34" charset="-120"/>
              </a:rPr>
              <a:t>X = (u − cₓ) · Z / fₓ</a:t>
            </a:r>
            <a:endParaRPr lang="en-US" sz="2100" dirty="0"/>
          </a:p>
        </p:txBody>
      </p:sp>
      <p:sp>
        <p:nvSpPr>
          <p:cNvPr id="34" name="Text 32"/>
          <p:cNvSpPr txBox="1"/>
          <p:nvPr/>
        </p:nvSpPr>
        <p:spPr>
          <a:xfrm>
            <a:off x="969264" y="3977640"/>
            <a:ext cx="5852160" cy="384048"/>
          </a:xfrm>
          <a:prstGeom prst="rect">
            <a:avLst/>
          </a:prstGeom>
          <a:noFill/>
          <a:ln/>
        </p:spPr>
        <p:txBody>
          <a:bodyPr wrap="square" lIns="0" tIns="0" rIns="0" bIns="0" rtlCol="0" anchor="ctr">
            <a:normAutofit/>
          </a:bodyPr>
          <a:lstStyle/>
          <a:p>
            <a:pPr marL="0" indent="0" algn="ctr">
              <a:buNone/>
            </a:pPr>
            <a:r>
              <a:rPr lang="en-US" sz="1700" b="1" dirty="0">
                <a:solidFill>
                  <a:srgbClr val="142E53"/>
                </a:solidFill>
                <a:latin typeface="Aptos" pitchFamily="34" charset="0"/>
                <a:ea typeface="Aptos" pitchFamily="34" charset="-122"/>
                <a:cs typeface="Aptos" pitchFamily="34" charset="-120"/>
              </a:rPr>
              <a:t>Y = (v − cᵧ) · Z / fᵧ      Z = depth [m]</a:t>
            </a:r>
            <a:endParaRPr lang="en-US" sz="1700" dirty="0"/>
          </a:p>
        </p:txBody>
      </p:sp>
      <p:sp>
        <p:nvSpPr>
          <p:cNvPr id="35" name="Text 33"/>
          <p:cNvSpPr txBox="1"/>
          <p:nvPr/>
        </p:nvSpPr>
        <p:spPr>
          <a:xfrm>
            <a:off x="859536" y="4626864"/>
            <a:ext cx="6355080" cy="219456"/>
          </a:xfrm>
          <a:prstGeom prst="rect">
            <a:avLst/>
          </a:prstGeom>
          <a:noFill/>
          <a:ln/>
        </p:spPr>
        <p:txBody>
          <a:bodyPr wrap="square" lIns="0" tIns="0" rIns="0" bIns="0" rtlCol="0" anchor="ctr">
            <a:normAutofit/>
          </a:bodyPr>
          <a:lstStyle/>
          <a:p>
            <a:pPr marL="0" indent="0" algn="ctr">
              <a:buNone/>
            </a:pPr>
            <a:r>
              <a:rPr lang="en-US" sz="1000" dirty="0">
                <a:solidFill>
                  <a:srgbClr val="58687C"/>
                </a:solidFill>
                <a:latin typeface="Aptos" pitchFamily="34" charset="0"/>
                <a:ea typeface="Aptos" pitchFamily="34" charset="-122"/>
                <a:cs typeface="Aptos" pitchFamily="34" charset="-120"/>
              </a:rPr>
              <a:t>Aligned RGB and depth pixels are combined to obtain camera-frame XYZ coordinates.</a:t>
            </a:r>
            <a:endParaRPr lang="en-US" sz="1000" dirty="0"/>
          </a:p>
        </p:txBody>
      </p:sp>
      <p:sp>
        <p:nvSpPr>
          <p:cNvPr id="36" name="Shape 34"/>
          <p:cNvSpPr/>
          <p:nvPr/>
        </p:nvSpPr>
        <p:spPr>
          <a:xfrm>
            <a:off x="7543800" y="2779776"/>
            <a:ext cx="1920240" cy="1014984"/>
          </a:xfrm>
          <a:prstGeom prst="roundRect">
            <a:avLst>
              <a:gd name="adj" fmla="val 11712"/>
            </a:avLst>
          </a:prstGeom>
          <a:solidFill>
            <a:srgbClr val="E4EEFF"/>
          </a:solidFill>
          <a:ln w="12700">
            <a:solidFill>
              <a:srgbClr val="E4EEFF">
                <a:alpha val="0"/>
              </a:srgbClr>
            </a:solidFill>
            <a:prstDash val="solid"/>
          </a:ln>
        </p:spPr>
        <p:txBody>
          <a:bodyPr/>
          <a:lstStyle/>
          <a:p>
            <a:endParaRPr lang="nb-NO"/>
          </a:p>
        </p:txBody>
      </p:sp>
      <p:sp>
        <p:nvSpPr>
          <p:cNvPr id="37" name="Text 35"/>
          <p:cNvSpPr txBox="1"/>
          <p:nvPr/>
        </p:nvSpPr>
        <p:spPr>
          <a:xfrm>
            <a:off x="7607808" y="2862072"/>
            <a:ext cx="1792224" cy="477042"/>
          </a:xfrm>
          <a:prstGeom prst="rect">
            <a:avLst/>
          </a:prstGeom>
          <a:noFill/>
          <a:ln/>
        </p:spPr>
        <p:txBody>
          <a:bodyPr wrap="square" lIns="0" tIns="0" rIns="0" bIns="0" rtlCol="0" anchor="ctr">
            <a:normAutofit/>
          </a:bodyPr>
          <a:lstStyle/>
          <a:p>
            <a:pPr marL="0" indent="0" algn="ctr">
              <a:buNone/>
            </a:pPr>
            <a:r>
              <a:rPr lang="en-US" sz="2200" b="1" dirty="0">
                <a:solidFill>
                  <a:srgbClr val="142E53"/>
                </a:solidFill>
                <a:latin typeface="Aptos" pitchFamily="34" charset="0"/>
                <a:ea typeface="Aptos" pitchFamily="34" charset="-122"/>
                <a:cs typeface="Aptos" pitchFamily="34" charset="-120"/>
              </a:rPr>
              <a:t>900</a:t>
            </a:r>
            <a:endParaRPr lang="en-US" sz="2200" dirty="0"/>
          </a:p>
        </p:txBody>
      </p:sp>
      <p:sp>
        <p:nvSpPr>
          <p:cNvPr id="38" name="Text 36"/>
          <p:cNvSpPr txBox="1"/>
          <p:nvPr/>
        </p:nvSpPr>
        <p:spPr>
          <a:xfrm>
            <a:off x="7626096" y="3398916"/>
            <a:ext cx="1755648" cy="284196"/>
          </a:xfrm>
          <a:prstGeom prst="rect">
            <a:avLst/>
          </a:prstGeom>
          <a:noFill/>
          <a:ln/>
        </p:spPr>
        <p:txBody>
          <a:bodyPr wrap="square" lIns="0" tIns="0" rIns="0" bIns="0" rtlCol="0" anchor="ctr">
            <a:normAutofit/>
          </a:bodyPr>
          <a:lstStyle/>
          <a:p>
            <a:pPr marL="0" indent="0" algn="ctr">
              <a:buNone/>
            </a:pPr>
            <a:r>
              <a:rPr lang="en-US" sz="940" dirty="0">
                <a:solidFill>
                  <a:srgbClr val="58687C"/>
                </a:solidFill>
                <a:latin typeface="Aptos" pitchFamily="34" charset="0"/>
                <a:ea typeface="Aptos" pitchFamily="34" charset="-122"/>
                <a:cs typeface="Aptos" pitchFamily="34" charset="-120"/>
              </a:rPr>
              <a:t>RGB + depth pairs</a:t>
            </a:r>
            <a:endParaRPr lang="en-US" sz="940" dirty="0"/>
          </a:p>
        </p:txBody>
      </p:sp>
      <p:sp>
        <p:nvSpPr>
          <p:cNvPr id="39" name="Shape 37"/>
          <p:cNvSpPr/>
          <p:nvPr/>
        </p:nvSpPr>
        <p:spPr>
          <a:xfrm>
            <a:off x="9601200" y="2779776"/>
            <a:ext cx="1920240" cy="1014984"/>
          </a:xfrm>
          <a:prstGeom prst="roundRect">
            <a:avLst>
              <a:gd name="adj" fmla="val 11712"/>
            </a:avLst>
          </a:prstGeom>
          <a:solidFill>
            <a:srgbClr val="E1F5EF"/>
          </a:solidFill>
          <a:ln w="12700">
            <a:solidFill>
              <a:srgbClr val="E1F5EF">
                <a:alpha val="0"/>
              </a:srgbClr>
            </a:solidFill>
            <a:prstDash val="solid"/>
          </a:ln>
        </p:spPr>
        <p:txBody>
          <a:bodyPr/>
          <a:lstStyle/>
          <a:p>
            <a:endParaRPr lang="nb-NO"/>
          </a:p>
        </p:txBody>
      </p:sp>
      <p:sp>
        <p:nvSpPr>
          <p:cNvPr id="40" name="Text 38"/>
          <p:cNvSpPr txBox="1"/>
          <p:nvPr/>
        </p:nvSpPr>
        <p:spPr>
          <a:xfrm>
            <a:off x="9665208" y="2862072"/>
            <a:ext cx="1792224" cy="477042"/>
          </a:xfrm>
          <a:prstGeom prst="rect">
            <a:avLst/>
          </a:prstGeom>
          <a:noFill/>
          <a:ln/>
        </p:spPr>
        <p:txBody>
          <a:bodyPr wrap="square" lIns="0" tIns="0" rIns="0" bIns="0" rtlCol="0" anchor="ctr">
            <a:normAutofit/>
          </a:bodyPr>
          <a:lstStyle/>
          <a:p>
            <a:pPr marL="0" indent="0" algn="ctr">
              <a:buNone/>
            </a:pPr>
            <a:r>
              <a:rPr lang="en-US" sz="2200" b="1" dirty="0">
                <a:solidFill>
                  <a:srgbClr val="142E53"/>
                </a:solidFill>
                <a:latin typeface="Aptos" pitchFamily="34" charset="0"/>
                <a:ea typeface="Aptos" pitchFamily="34" charset="-122"/>
                <a:cs typeface="Aptos" pitchFamily="34" charset="-120"/>
              </a:rPr>
              <a:t>889</a:t>
            </a:r>
            <a:endParaRPr lang="en-US" sz="2200" dirty="0"/>
          </a:p>
        </p:txBody>
      </p:sp>
      <p:sp>
        <p:nvSpPr>
          <p:cNvPr id="41" name="Text 39"/>
          <p:cNvSpPr txBox="1"/>
          <p:nvPr/>
        </p:nvSpPr>
        <p:spPr>
          <a:xfrm>
            <a:off x="9683496" y="3398916"/>
            <a:ext cx="1755648" cy="284196"/>
          </a:xfrm>
          <a:prstGeom prst="rect">
            <a:avLst/>
          </a:prstGeom>
          <a:noFill/>
          <a:ln/>
        </p:spPr>
        <p:txBody>
          <a:bodyPr wrap="square" lIns="0" tIns="0" rIns="0" bIns="0" rtlCol="0" anchor="ctr">
            <a:normAutofit/>
          </a:bodyPr>
          <a:lstStyle/>
          <a:p>
            <a:pPr marL="0" indent="0" algn="ctr">
              <a:buNone/>
            </a:pPr>
            <a:r>
              <a:rPr lang="en-US" sz="940" dirty="0">
                <a:solidFill>
                  <a:srgbClr val="58687C"/>
                </a:solidFill>
                <a:latin typeface="Aptos" pitchFamily="34" charset="0"/>
                <a:ea typeface="Aptos" pitchFamily="34" charset="-122"/>
                <a:cs typeface="Aptos" pitchFamily="34" charset="-120"/>
              </a:rPr>
              <a:t>Load detections</a:t>
            </a:r>
            <a:endParaRPr lang="en-US" sz="940" dirty="0"/>
          </a:p>
        </p:txBody>
      </p:sp>
      <p:sp>
        <p:nvSpPr>
          <p:cNvPr id="42" name="Shape 40"/>
          <p:cNvSpPr/>
          <p:nvPr/>
        </p:nvSpPr>
        <p:spPr>
          <a:xfrm>
            <a:off x="7543800" y="4014216"/>
            <a:ext cx="3986784" cy="941832"/>
          </a:xfrm>
          <a:prstGeom prst="roundRect">
            <a:avLst>
              <a:gd name="adj" fmla="val 12621"/>
            </a:avLst>
          </a:prstGeom>
          <a:solidFill>
            <a:srgbClr val="FFF2D4"/>
          </a:solidFill>
          <a:ln w="12700">
            <a:solidFill>
              <a:srgbClr val="FFF2D4">
                <a:alpha val="0"/>
              </a:srgbClr>
            </a:solidFill>
            <a:prstDash val="solid"/>
          </a:ln>
        </p:spPr>
        <p:txBody>
          <a:bodyPr/>
          <a:lstStyle/>
          <a:p>
            <a:endParaRPr lang="nb-NO"/>
          </a:p>
        </p:txBody>
      </p:sp>
      <p:sp>
        <p:nvSpPr>
          <p:cNvPr id="43" name="Text 41"/>
          <p:cNvSpPr txBox="1"/>
          <p:nvPr/>
        </p:nvSpPr>
        <p:spPr>
          <a:xfrm>
            <a:off x="7772400" y="4178808"/>
            <a:ext cx="3575304" cy="274320"/>
          </a:xfrm>
          <a:prstGeom prst="rect">
            <a:avLst/>
          </a:prstGeom>
          <a:noFill/>
          <a:ln/>
        </p:spPr>
        <p:txBody>
          <a:bodyPr wrap="square" lIns="0" tIns="0" rIns="0" bIns="0" rtlCol="0" anchor="ctr">
            <a:normAutofit/>
          </a:bodyPr>
          <a:lstStyle/>
          <a:p>
            <a:pPr marL="0" indent="0" algn="ctr">
              <a:buNone/>
            </a:pPr>
            <a:r>
              <a:rPr lang="en-US" sz="1500" b="1" dirty="0">
                <a:solidFill>
                  <a:srgbClr val="142E53"/>
                </a:solidFill>
                <a:latin typeface="Aptos" pitchFamily="34" charset="0"/>
                <a:ea typeface="Aptos" pitchFamily="34" charset="-122"/>
                <a:cs typeface="Aptos" pitchFamily="34" charset="-120"/>
              </a:rPr>
              <a:t>11 frames with no YOLO detection</a:t>
            </a:r>
            <a:endParaRPr lang="en-US" sz="1500" dirty="0"/>
          </a:p>
        </p:txBody>
      </p:sp>
      <p:sp>
        <p:nvSpPr>
          <p:cNvPr id="44" name="Text 42"/>
          <p:cNvSpPr txBox="1"/>
          <p:nvPr/>
        </p:nvSpPr>
        <p:spPr>
          <a:xfrm>
            <a:off x="7772400" y="4553712"/>
            <a:ext cx="3575304" cy="182880"/>
          </a:xfrm>
          <a:prstGeom prst="rect">
            <a:avLst/>
          </a:prstGeom>
          <a:noFill/>
          <a:ln/>
        </p:spPr>
        <p:txBody>
          <a:bodyPr wrap="square" lIns="0" tIns="0" rIns="0" bIns="0" rtlCol="0" anchor="ctr">
            <a:normAutofit/>
          </a:bodyPr>
          <a:lstStyle/>
          <a:p>
            <a:pPr marL="0" indent="0" algn="ctr">
              <a:buNone/>
            </a:pPr>
            <a:r>
              <a:rPr lang="en-US" sz="1000" dirty="0">
                <a:solidFill>
                  <a:srgbClr val="58687C"/>
                </a:solidFill>
                <a:latin typeface="Aptos" pitchFamily="34" charset="0"/>
                <a:ea typeface="Aptos" pitchFamily="34" charset="-122"/>
                <a:cs typeface="Aptos" pitchFamily="34" charset="-120"/>
              </a:rPr>
              <a:t>3D positions were created for detected frames.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Q1</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lang="en-US" sz="2500" b="1" dirty="0">
                <a:solidFill>
                  <a:srgbClr val="142E53"/>
                </a:solidFill>
                <a:latin typeface="Aptos Display" pitchFamily="34" charset="0"/>
                <a:ea typeface="Aptos Display" pitchFamily="34" charset="-122"/>
                <a:cs typeface="Aptos Display" pitchFamily="34" charset="-120"/>
              </a:rPr>
              <a:t>Q1(a) Depth handling and filtering</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ctr">
              <a:buNone/>
            </a:pPr>
            <a:r>
              <a:rPr lang="en-US" sz="1000" dirty="0">
                <a:solidFill>
                  <a:srgbClr val="58687C"/>
                </a:solidFill>
                <a:latin typeface="Aptos" pitchFamily="34" charset="0"/>
                <a:ea typeface="Aptos" pitchFamily="34" charset="-122"/>
                <a:cs typeface="Aptos" pitchFamily="34" charset="-120"/>
              </a:rPr>
              <a:t>Missing center depth and measurement spikes are handled before 3D reconstruction</a:t>
            </a:r>
            <a:endParaRPr lang="en-US" sz="1000" dirty="0"/>
          </a:p>
        </p:txBody>
      </p:sp>
      <p:sp>
        <p:nvSpPr>
          <p:cNvPr id="7" name="Shape 5"/>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76072"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4</a:t>
            </a:r>
            <a:endParaRPr lang="en-US" sz="1100" dirty="0"/>
          </a:p>
        </p:txBody>
      </p:sp>
      <p:sp>
        <p:nvSpPr>
          <p:cNvPr id="10" name="Shape 8"/>
          <p:cNvSpPr/>
          <p:nvPr/>
        </p:nvSpPr>
        <p:spPr>
          <a:xfrm>
            <a:off x="539496" y="1252728"/>
            <a:ext cx="7406640" cy="3557016"/>
          </a:xfrm>
          <a:prstGeom prst="roundRect">
            <a:avLst>
              <a:gd name="adj" fmla="val 3342"/>
            </a:avLst>
          </a:prstGeom>
          <a:solidFill>
            <a:srgbClr val="FFFFFF"/>
          </a:solidFill>
          <a:ln w="7620">
            <a:solidFill>
              <a:srgbClr val="D7E2EE"/>
            </a:solidFill>
            <a:prstDash val="solid"/>
          </a:ln>
        </p:spPr>
        <p:txBody>
          <a:bodyPr/>
          <a:lstStyle/>
          <a:p>
            <a:endParaRPr lang="nb-NO"/>
          </a:p>
        </p:txBody>
      </p:sp>
      <p:sp>
        <p:nvSpPr>
          <p:cNvPr id="11" name="Shape 9"/>
          <p:cNvSpPr/>
          <p:nvPr/>
        </p:nvSpPr>
        <p:spPr>
          <a:xfrm>
            <a:off x="667512" y="1362456"/>
            <a:ext cx="2651760" cy="274320"/>
          </a:xfrm>
          <a:prstGeom prst="roundRect">
            <a:avLst>
              <a:gd name="adj" fmla="val 43333"/>
            </a:avLst>
          </a:prstGeom>
          <a:solidFill>
            <a:srgbClr val="E4EEFF"/>
          </a:solidFill>
          <a:ln w="12700">
            <a:solidFill>
              <a:srgbClr val="E4EEFF">
                <a:alpha val="0"/>
              </a:srgbClr>
            </a:solidFill>
            <a:prstDash val="solid"/>
          </a:ln>
        </p:spPr>
        <p:txBody>
          <a:bodyPr/>
          <a:lstStyle/>
          <a:p>
            <a:endParaRPr lang="nb-NO"/>
          </a:p>
        </p:txBody>
      </p:sp>
      <p:sp>
        <p:nvSpPr>
          <p:cNvPr id="12" name="Text 10"/>
          <p:cNvSpPr txBox="1"/>
          <p:nvPr/>
        </p:nvSpPr>
        <p:spPr>
          <a:xfrm>
            <a:off x="722376" y="1371600"/>
            <a:ext cx="2542032" cy="25603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Measured depth vs cleaned depth</a:t>
            </a:r>
            <a:endParaRPr lang="en-US" sz="1000" dirty="0"/>
          </a:p>
        </p:txBody>
      </p:sp>
      <p:pic>
        <p:nvPicPr>
          <p:cNvPr id="13" name="Image 0" descr="/mnt/data/ppt_work/notebook_assets/cell_10_0.png"/>
          <p:cNvPicPr>
            <a:picLocks noChangeAspect="1"/>
          </p:cNvPicPr>
          <p:nvPr/>
        </p:nvPicPr>
        <p:blipFill>
          <a:blip r:embed="rId3"/>
          <a:stretch>
            <a:fillRect/>
          </a:stretch>
        </p:blipFill>
        <p:spPr>
          <a:xfrm>
            <a:off x="1025477" y="1691640"/>
            <a:ext cx="6434677" cy="3035808"/>
          </a:xfrm>
          <a:prstGeom prst="rect">
            <a:avLst/>
          </a:prstGeom>
        </p:spPr>
      </p:pic>
      <p:sp>
        <p:nvSpPr>
          <p:cNvPr id="14" name="Shape 11"/>
          <p:cNvSpPr/>
          <p:nvPr/>
        </p:nvSpPr>
        <p:spPr>
          <a:xfrm>
            <a:off x="8119872" y="1252728"/>
            <a:ext cx="3520440" cy="960120"/>
          </a:xfrm>
          <a:prstGeom prst="roundRect">
            <a:avLst>
              <a:gd name="adj" fmla="val 12381"/>
            </a:avLst>
          </a:prstGeom>
          <a:solidFill>
            <a:srgbClr val="FBE6F0"/>
          </a:solidFill>
          <a:ln w="12700">
            <a:solidFill>
              <a:srgbClr val="FBE6F0">
                <a:alpha val="0"/>
              </a:srgbClr>
            </a:solidFill>
            <a:prstDash val="solid"/>
          </a:ln>
        </p:spPr>
        <p:txBody>
          <a:bodyPr/>
          <a:lstStyle/>
          <a:p>
            <a:endParaRPr lang="nb-NO"/>
          </a:p>
        </p:txBody>
      </p:sp>
      <p:sp>
        <p:nvSpPr>
          <p:cNvPr id="15" name="Text 12"/>
          <p:cNvSpPr txBox="1"/>
          <p:nvPr/>
        </p:nvSpPr>
        <p:spPr>
          <a:xfrm>
            <a:off x="8330184" y="1426464"/>
            <a:ext cx="3127248" cy="384048"/>
          </a:xfrm>
          <a:prstGeom prst="rect">
            <a:avLst/>
          </a:prstGeom>
          <a:noFill/>
          <a:ln/>
        </p:spPr>
        <p:txBody>
          <a:bodyPr wrap="square" lIns="0" tIns="0" rIns="0" bIns="0" rtlCol="0" anchor="ctr">
            <a:normAutofit/>
          </a:bodyPr>
          <a:lstStyle/>
          <a:p>
            <a:pPr marL="0" indent="0" algn="ctr">
              <a:buNone/>
            </a:pPr>
            <a:r>
              <a:rPr lang="en-US" sz="2200" b="1" dirty="0">
                <a:solidFill>
                  <a:srgbClr val="DC5791"/>
                </a:solidFill>
                <a:latin typeface="Aptos" pitchFamily="34" charset="0"/>
                <a:ea typeface="Aptos" pitchFamily="34" charset="-122"/>
                <a:cs typeface="Aptos" pitchFamily="34" charset="-120"/>
              </a:rPr>
              <a:t>336 → 0</a:t>
            </a:r>
            <a:endParaRPr lang="en-US" sz="2200" dirty="0"/>
          </a:p>
        </p:txBody>
      </p:sp>
      <p:sp>
        <p:nvSpPr>
          <p:cNvPr id="16" name="Text 13"/>
          <p:cNvSpPr txBox="1"/>
          <p:nvPr/>
        </p:nvSpPr>
        <p:spPr>
          <a:xfrm>
            <a:off x="8293608" y="1865376"/>
            <a:ext cx="3163824" cy="173736"/>
          </a:xfrm>
          <a:prstGeom prst="rect">
            <a:avLst/>
          </a:prstGeom>
          <a:noFill/>
          <a:ln/>
        </p:spPr>
        <p:txBody>
          <a:bodyPr wrap="square" lIns="0" tIns="0" rIns="0" bIns="0" rtlCol="0" anchor="ctr">
            <a:normAutofit/>
          </a:bodyPr>
          <a:lstStyle/>
          <a:p>
            <a:pPr marL="0" indent="0" algn="ctr">
              <a:buNone/>
            </a:pPr>
            <a:r>
              <a:rPr lang="en-US" sz="950" dirty="0">
                <a:solidFill>
                  <a:srgbClr val="58687C"/>
                </a:solidFill>
                <a:latin typeface="Aptos" pitchFamily="34" charset="0"/>
                <a:ea typeface="Aptos" pitchFamily="34" charset="-122"/>
                <a:cs typeface="Aptos" pitchFamily="34" charset="-120"/>
              </a:rPr>
              <a:t>Missing depths, before → after filling¹</a:t>
            </a:r>
            <a:endParaRPr lang="en-US" sz="950" dirty="0"/>
          </a:p>
        </p:txBody>
      </p:sp>
      <p:sp>
        <p:nvSpPr>
          <p:cNvPr id="17" name="Shape 14"/>
          <p:cNvSpPr/>
          <p:nvPr/>
        </p:nvSpPr>
        <p:spPr>
          <a:xfrm>
            <a:off x="8119872" y="2386584"/>
            <a:ext cx="3520440" cy="960120"/>
          </a:xfrm>
          <a:prstGeom prst="roundRect">
            <a:avLst>
              <a:gd name="adj" fmla="val 12381"/>
            </a:avLst>
          </a:prstGeom>
          <a:solidFill>
            <a:srgbClr val="E1F5EF"/>
          </a:solidFill>
          <a:ln w="12700">
            <a:solidFill>
              <a:srgbClr val="E1F5EF">
                <a:alpha val="0"/>
              </a:srgbClr>
            </a:solidFill>
            <a:prstDash val="solid"/>
          </a:ln>
        </p:spPr>
        <p:txBody>
          <a:bodyPr/>
          <a:lstStyle/>
          <a:p>
            <a:endParaRPr lang="nb-NO"/>
          </a:p>
        </p:txBody>
      </p:sp>
      <p:sp>
        <p:nvSpPr>
          <p:cNvPr id="18" name="Text 15"/>
          <p:cNvSpPr txBox="1"/>
          <p:nvPr/>
        </p:nvSpPr>
        <p:spPr>
          <a:xfrm>
            <a:off x="8330184" y="2523744"/>
            <a:ext cx="3127248" cy="384048"/>
          </a:xfrm>
          <a:prstGeom prst="rect">
            <a:avLst/>
          </a:prstGeom>
          <a:noFill/>
          <a:ln/>
        </p:spPr>
        <p:txBody>
          <a:bodyPr wrap="square" lIns="0" tIns="0" rIns="0" bIns="0" rtlCol="0" anchor="ctr">
            <a:normAutofit/>
          </a:bodyPr>
          <a:lstStyle/>
          <a:p>
            <a:pPr marL="0" indent="0" algn="ctr">
              <a:buNone/>
            </a:pPr>
            <a:r>
              <a:rPr lang="en-US" sz="2400" b="1" dirty="0">
                <a:solidFill>
                  <a:srgbClr val="15A68C"/>
                </a:solidFill>
                <a:latin typeface="Aptos" pitchFamily="34" charset="0"/>
                <a:ea typeface="Aptos" pitchFamily="34" charset="-122"/>
                <a:cs typeface="Aptos" pitchFamily="34" charset="-120"/>
              </a:rPr>
              <a:t>70</a:t>
            </a:r>
            <a:endParaRPr lang="en-US" sz="2400" dirty="0"/>
          </a:p>
        </p:txBody>
      </p:sp>
      <p:sp>
        <p:nvSpPr>
          <p:cNvPr id="19" name="Text 16"/>
          <p:cNvSpPr txBox="1"/>
          <p:nvPr/>
        </p:nvSpPr>
        <p:spPr>
          <a:xfrm>
            <a:off x="8293608" y="2962656"/>
            <a:ext cx="3163824" cy="182880"/>
          </a:xfrm>
          <a:prstGeom prst="rect">
            <a:avLst/>
          </a:prstGeom>
          <a:noFill/>
          <a:ln/>
        </p:spPr>
        <p:txBody>
          <a:bodyPr wrap="square" lIns="0" tIns="0" rIns="0" bIns="0" rtlCol="0" anchor="ctr">
            <a:normAutofit/>
          </a:bodyPr>
          <a:lstStyle/>
          <a:p>
            <a:pPr marL="0" indent="0" algn="ctr">
              <a:buNone/>
            </a:pPr>
            <a:r>
              <a:rPr lang="en-US" sz="950" dirty="0">
                <a:solidFill>
                  <a:srgbClr val="58687C"/>
                </a:solidFill>
                <a:latin typeface="Aptos" pitchFamily="34" charset="0"/>
                <a:ea typeface="Aptos" pitchFamily="34" charset="-122"/>
                <a:cs typeface="Aptos" pitchFamily="34" charset="-120"/>
              </a:rPr>
              <a:t>Corrected depth samples</a:t>
            </a:r>
            <a:endParaRPr lang="en-US" sz="950" dirty="0"/>
          </a:p>
        </p:txBody>
      </p:sp>
      <p:sp>
        <p:nvSpPr>
          <p:cNvPr id="23" name="Text 20"/>
          <p:cNvSpPr txBox="1"/>
          <p:nvPr/>
        </p:nvSpPr>
        <p:spPr>
          <a:xfrm>
            <a:off x="667512" y="4983480"/>
            <a:ext cx="10698480" cy="201168"/>
          </a:xfrm>
          <a:prstGeom prst="rect">
            <a:avLst/>
          </a:prstGeom>
          <a:noFill/>
          <a:ln/>
        </p:spPr>
        <p:txBody>
          <a:bodyPr wrap="square" lIns="0" tIns="0" rIns="0" bIns="0" rtlCol="0" anchor="ctr">
            <a:normAutofit/>
          </a:bodyPr>
          <a:lstStyle/>
          <a:p>
            <a:pPr marL="0" indent="0" algn="l">
              <a:buNone/>
            </a:pPr>
            <a:r>
              <a:rPr lang="en-US" sz="900" dirty="0">
                <a:solidFill>
                  <a:srgbClr val="58687C"/>
                </a:solidFill>
                <a:latin typeface="Aptos" pitchFamily="34" charset="0"/>
                <a:ea typeface="Aptos" pitchFamily="34" charset="-122"/>
                <a:cs typeface="Aptos" pitchFamily="34" charset="-120"/>
              </a:rPr>
              <a:t>¹ For 889 detected frames; undetected frames are not included.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Q1</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lang="en-US" sz="2500" b="1" dirty="0">
                <a:solidFill>
                  <a:srgbClr val="142E53"/>
                </a:solidFill>
                <a:latin typeface="Aptos Display" pitchFamily="34" charset="0"/>
                <a:ea typeface="Aptos Display" pitchFamily="34" charset="-122"/>
                <a:cs typeface="Aptos Display" pitchFamily="34" charset="-120"/>
              </a:rPr>
              <a:t>Q1(a–b) 3D trajectories — two camera matrices</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ctr">
              <a:buNone/>
            </a:pPr>
            <a:r>
              <a:rPr lang="en-US" sz="1000" dirty="0">
                <a:solidFill>
                  <a:srgbClr val="58687C"/>
                </a:solidFill>
                <a:latin typeface="Aptos" pitchFamily="34" charset="0"/>
                <a:ea typeface="Aptos" pitchFamily="34" charset="-122"/>
                <a:cs typeface="Aptos" pitchFamily="34" charset="-120"/>
              </a:rPr>
              <a:t>The same detected pixels and cleaned depth values give different XYZ positions</a:t>
            </a:r>
            <a:endParaRPr lang="en-US" sz="1000" dirty="0"/>
          </a:p>
        </p:txBody>
      </p:sp>
      <p:sp>
        <p:nvSpPr>
          <p:cNvPr id="7" name="Shape 5"/>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76072"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5</a:t>
            </a:r>
            <a:endParaRPr lang="en-US" sz="1100" dirty="0"/>
          </a:p>
        </p:txBody>
      </p:sp>
      <p:sp>
        <p:nvSpPr>
          <p:cNvPr id="10" name="Shape 8"/>
          <p:cNvSpPr/>
          <p:nvPr/>
        </p:nvSpPr>
        <p:spPr>
          <a:xfrm>
            <a:off x="548640" y="1115568"/>
            <a:ext cx="5532120" cy="3575304"/>
          </a:xfrm>
          <a:prstGeom prst="roundRect">
            <a:avLst>
              <a:gd name="adj" fmla="val 3325"/>
            </a:avLst>
          </a:prstGeom>
          <a:solidFill>
            <a:srgbClr val="FFFFFF"/>
          </a:solidFill>
          <a:ln w="7620">
            <a:solidFill>
              <a:srgbClr val="D7E2EE"/>
            </a:solidFill>
            <a:prstDash val="solid"/>
          </a:ln>
        </p:spPr>
        <p:txBody>
          <a:bodyPr/>
          <a:lstStyle/>
          <a:p>
            <a:endParaRPr lang="nb-NO"/>
          </a:p>
        </p:txBody>
      </p:sp>
      <p:sp>
        <p:nvSpPr>
          <p:cNvPr id="11" name="Shape 9"/>
          <p:cNvSpPr/>
          <p:nvPr/>
        </p:nvSpPr>
        <p:spPr>
          <a:xfrm>
            <a:off x="676656" y="1225296"/>
            <a:ext cx="2651760" cy="274320"/>
          </a:xfrm>
          <a:prstGeom prst="roundRect">
            <a:avLst>
              <a:gd name="adj" fmla="val 43333"/>
            </a:avLst>
          </a:prstGeom>
          <a:solidFill>
            <a:srgbClr val="E4EEFF"/>
          </a:solidFill>
          <a:ln w="12700">
            <a:solidFill>
              <a:srgbClr val="E4EEFF">
                <a:alpha val="0"/>
              </a:srgbClr>
            </a:solidFill>
            <a:prstDash val="solid"/>
          </a:ln>
        </p:spPr>
        <p:txBody>
          <a:bodyPr/>
          <a:lstStyle/>
          <a:p>
            <a:endParaRPr lang="nb-NO"/>
          </a:p>
        </p:txBody>
      </p:sp>
      <p:sp>
        <p:nvSpPr>
          <p:cNvPr id="12" name="Text 10"/>
          <p:cNvSpPr txBox="1"/>
          <p:nvPr/>
        </p:nvSpPr>
        <p:spPr>
          <a:xfrm>
            <a:off x="731520" y="1234440"/>
            <a:ext cx="2542032" cy="25603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o₁ using lab matrix M_int</a:t>
            </a:r>
            <a:endParaRPr lang="en-US" sz="1000" dirty="0"/>
          </a:p>
        </p:txBody>
      </p:sp>
      <p:pic>
        <p:nvPicPr>
          <p:cNvPr id="13" name="Image 0" descr="/mnt/data/ppt_work/notebook_assets/cell_12_0.png"/>
          <p:cNvPicPr>
            <a:picLocks noChangeAspect="1"/>
          </p:cNvPicPr>
          <p:nvPr/>
        </p:nvPicPr>
        <p:blipFill>
          <a:blip r:embed="rId3"/>
          <a:stretch>
            <a:fillRect/>
          </a:stretch>
        </p:blipFill>
        <p:spPr>
          <a:xfrm>
            <a:off x="1805831" y="1554480"/>
            <a:ext cx="3017738" cy="3054096"/>
          </a:xfrm>
          <a:prstGeom prst="rect">
            <a:avLst/>
          </a:prstGeom>
        </p:spPr>
      </p:pic>
      <p:sp>
        <p:nvSpPr>
          <p:cNvPr id="14" name="Shape 11"/>
          <p:cNvSpPr/>
          <p:nvPr/>
        </p:nvSpPr>
        <p:spPr>
          <a:xfrm>
            <a:off x="6199632" y="1115568"/>
            <a:ext cx="5440680" cy="3575304"/>
          </a:xfrm>
          <a:prstGeom prst="roundRect">
            <a:avLst>
              <a:gd name="adj" fmla="val 3325"/>
            </a:avLst>
          </a:prstGeom>
          <a:solidFill>
            <a:srgbClr val="FFFFFF"/>
          </a:solidFill>
          <a:ln w="7620">
            <a:solidFill>
              <a:srgbClr val="D7E2EE"/>
            </a:solidFill>
            <a:prstDash val="solid"/>
          </a:ln>
        </p:spPr>
        <p:txBody>
          <a:bodyPr/>
          <a:lstStyle/>
          <a:p>
            <a:endParaRPr lang="nb-NO"/>
          </a:p>
        </p:txBody>
      </p:sp>
      <p:sp>
        <p:nvSpPr>
          <p:cNvPr id="15" name="Shape 12"/>
          <p:cNvSpPr/>
          <p:nvPr/>
        </p:nvSpPr>
        <p:spPr>
          <a:xfrm>
            <a:off x="6327648" y="1225296"/>
            <a:ext cx="2651760" cy="274320"/>
          </a:xfrm>
          <a:prstGeom prst="roundRect">
            <a:avLst>
              <a:gd name="adj" fmla="val 43333"/>
            </a:avLst>
          </a:prstGeom>
          <a:solidFill>
            <a:srgbClr val="EFE8FA"/>
          </a:solidFill>
          <a:ln w="12700">
            <a:solidFill>
              <a:srgbClr val="EFE8FA">
                <a:alpha val="0"/>
              </a:srgbClr>
            </a:solidFill>
            <a:prstDash val="solid"/>
          </a:ln>
        </p:spPr>
        <p:txBody>
          <a:bodyPr/>
          <a:lstStyle/>
          <a:p>
            <a:endParaRPr lang="nb-NO"/>
          </a:p>
        </p:txBody>
      </p:sp>
      <p:sp>
        <p:nvSpPr>
          <p:cNvPr id="16" name="Text 13"/>
          <p:cNvSpPr txBox="1"/>
          <p:nvPr/>
        </p:nvSpPr>
        <p:spPr>
          <a:xfrm>
            <a:off x="6382512" y="1234440"/>
            <a:ext cx="2542032" cy="25603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o₂ using default matrix M_d</a:t>
            </a:r>
            <a:endParaRPr lang="en-US" sz="1000" dirty="0"/>
          </a:p>
        </p:txBody>
      </p:sp>
      <p:pic>
        <p:nvPicPr>
          <p:cNvPr id="17" name="Image 1" descr="/mnt/data/ppt_work/notebook_assets/cell_19_0.png"/>
          <p:cNvPicPr>
            <a:picLocks noChangeAspect="1"/>
          </p:cNvPicPr>
          <p:nvPr/>
        </p:nvPicPr>
        <p:blipFill>
          <a:blip r:embed="rId4"/>
          <a:stretch>
            <a:fillRect/>
          </a:stretch>
        </p:blipFill>
        <p:spPr>
          <a:xfrm>
            <a:off x="7411103" y="1554480"/>
            <a:ext cx="3017738" cy="3054096"/>
          </a:xfrm>
          <a:prstGeom prst="rect">
            <a:avLst/>
          </a:prstGeom>
        </p:spPr>
      </p:pic>
      <p:sp>
        <p:nvSpPr>
          <p:cNvPr id="18" name="Shape 14"/>
          <p:cNvSpPr/>
          <p:nvPr/>
        </p:nvSpPr>
        <p:spPr>
          <a:xfrm>
            <a:off x="941832" y="4882896"/>
            <a:ext cx="4956048" cy="347472"/>
          </a:xfrm>
          <a:prstGeom prst="roundRect">
            <a:avLst>
              <a:gd name="adj" fmla="val 34211"/>
            </a:avLst>
          </a:prstGeom>
          <a:solidFill>
            <a:srgbClr val="E4EEFF"/>
          </a:solidFill>
          <a:ln w="12700">
            <a:solidFill>
              <a:srgbClr val="E4EEFF">
                <a:alpha val="0"/>
              </a:srgbClr>
            </a:solidFill>
            <a:prstDash val="solid"/>
          </a:ln>
        </p:spPr>
        <p:txBody>
          <a:bodyPr/>
          <a:lstStyle/>
          <a:p>
            <a:endParaRPr lang="nb-NO"/>
          </a:p>
        </p:txBody>
      </p:sp>
      <p:sp>
        <p:nvSpPr>
          <p:cNvPr id="19" name="Text 15"/>
          <p:cNvSpPr txBox="1"/>
          <p:nvPr/>
        </p:nvSpPr>
        <p:spPr>
          <a:xfrm>
            <a:off x="996696" y="4892040"/>
            <a:ext cx="4846320" cy="329184"/>
          </a:xfrm>
          <a:prstGeom prst="rect">
            <a:avLst/>
          </a:prstGeom>
          <a:noFill/>
          <a:ln/>
        </p:spPr>
        <p:txBody>
          <a:bodyPr wrap="square" lIns="0" tIns="0" rIns="0" bIns="0" rtlCol="0" anchor="ctr">
            <a:normAutofit/>
          </a:bodyPr>
          <a:lstStyle/>
          <a:p>
            <a:pPr marL="0" indent="0" algn="ctr">
              <a:buNone/>
            </a:pPr>
            <a:r>
              <a:rPr lang="en-US" sz="1050" b="1" dirty="0">
                <a:solidFill>
                  <a:srgbClr val="142E53"/>
                </a:solidFill>
                <a:latin typeface="Aptos" pitchFamily="34" charset="0"/>
                <a:ea typeface="Aptos" pitchFamily="34" charset="-122"/>
                <a:cs typeface="Aptos" pitchFamily="34" charset="-120"/>
              </a:rPr>
              <a:t>Example o₁ = (−1.805, −1.008, 4.384) m</a:t>
            </a:r>
            <a:endParaRPr lang="en-US" sz="1050" dirty="0"/>
          </a:p>
        </p:txBody>
      </p:sp>
      <p:sp>
        <p:nvSpPr>
          <p:cNvPr id="20" name="Shape 16"/>
          <p:cNvSpPr/>
          <p:nvPr/>
        </p:nvSpPr>
        <p:spPr>
          <a:xfrm>
            <a:off x="6391656" y="4882896"/>
            <a:ext cx="4956048" cy="347472"/>
          </a:xfrm>
          <a:prstGeom prst="roundRect">
            <a:avLst>
              <a:gd name="adj" fmla="val 34211"/>
            </a:avLst>
          </a:prstGeom>
          <a:solidFill>
            <a:srgbClr val="EFE8FA"/>
          </a:solidFill>
          <a:ln w="12700">
            <a:solidFill>
              <a:srgbClr val="EFE8FA">
                <a:alpha val="0"/>
              </a:srgbClr>
            </a:solidFill>
            <a:prstDash val="solid"/>
          </a:ln>
        </p:spPr>
        <p:txBody>
          <a:bodyPr/>
          <a:lstStyle/>
          <a:p>
            <a:endParaRPr lang="nb-NO"/>
          </a:p>
        </p:txBody>
      </p:sp>
      <p:sp>
        <p:nvSpPr>
          <p:cNvPr id="21" name="Text 17"/>
          <p:cNvSpPr txBox="1"/>
          <p:nvPr/>
        </p:nvSpPr>
        <p:spPr>
          <a:xfrm>
            <a:off x="6446520" y="4892040"/>
            <a:ext cx="4846320" cy="329184"/>
          </a:xfrm>
          <a:prstGeom prst="rect">
            <a:avLst/>
          </a:prstGeom>
          <a:noFill/>
          <a:ln/>
        </p:spPr>
        <p:txBody>
          <a:bodyPr wrap="square" lIns="0" tIns="0" rIns="0" bIns="0" rtlCol="0" anchor="ctr">
            <a:normAutofit/>
          </a:bodyPr>
          <a:lstStyle/>
          <a:p>
            <a:pPr marL="0" indent="0" algn="ctr">
              <a:buNone/>
            </a:pPr>
            <a:r>
              <a:rPr lang="en-US" sz="1050" b="1" dirty="0">
                <a:solidFill>
                  <a:srgbClr val="142E53"/>
                </a:solidFill>
                <a:latin typeface="Aptos" pitchFamily="34" charset="0"/>
                <a:ea typeface="Aptos" pitchFamily="34" charset="-122"/>
                <a:cs typeface="Aptos" pitchFamily="34" charset="-120"/>
              </a:rPr>
              <a:t>Example o₂ = (0.265, −0.046, 4.384) m</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Q1</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lang="en-US" sz="2500" b="1" dirty="0">
                <a:solidFill>
                  <a:srgbClr val="142E53"/>
                </a:solidFill>
                <a:latin typeface="Aptos Display" pitchFamily="34" charset="0"/>
                <a:ea typeface="Aptos Display" pitchFamily="34" charset="-122"/>
                <a:cs typeface="Aptos Display" pitchFamily="34" charset="-120"/>
              </a:rPr>
              <a:t>Q1(c) Which intrinsic matrix fits the frames?</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ctr">
              <a:buNone/>
            </a:pPr>
            <a:r>
              <a:rPr lang="en-US" sz="1000" dirty="0">
                <a:solidFill>
                  <a:srgbClr val="58687C"/>
                </a:solidFill>
                <a:latin typeface="Aptos" pitchFamily="34" charset="0"/>
                <a:ea typeface="Aptos" pitchFamily="34" charset="-122"/>
                <a:cs typeface="Aptos" pitchFamily="34" charset="-120"/>
              </a:rPr>
              <a:t>Compare principal points and focal lengths for the 640 × 480 images</a:t>
            </a:r>
            <a:endParaRPr lang="en-US" sz="1000" dirty="0"/>
          </a:p>
        </p:txBody>
      </p:sp>
      <p:sp>
        <p:nvSpPr>
          <p:cNvPr id="7" name="Shape 5"/>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76072"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6</a:t>
            </a:r>
            <a:endParaRPr lang="en-US" sz="1100" dirty="0"/>
          </a:p>
        </p:txBody>
      </p:sp>
      <p:sp>
        <p:nvSpPr>
          <p:cNvPr id="10" name="Shape 8"/>
          <p:cNvSpPr/>
          <p:nvPr/>
        </p:nvSpPr>
        <p:spPr>
          <a:xfrm>
            <a:off x="594360" y="1133856"/>
            <a:ext cx="5266944" cy="2414016"/>
          </a:xfrm>
          <a:prstGeom prst="roundRect">
            <a:avLst>
              <a:gd name="adj" fmla="val 4924"/>
            </a:avLst>
          </a:prstGeom>
          <a:solidFill>
            <a:srgbClr val="E4EEFF"/>
          </a:solidFill>
          <a:ln w="12700">
            <a:solidFill>
              <a:srgbClr val="E4EEFF">
                <a:alpha val="0"/>
              </a:srgbClr>
            </a:solidFill>
            <a:prstDash val="solid"/>
          </a:ln>
        </p:spPr>
        <p:txBody>
          <a:bodyPr/>
          <a:lstStyle/>
          <a:p>
            <a:endParaRPr lang="nb-NO"/>
          </a:p>
        </p:txBody>
      </p:sp>
      <p:sp>
        <p:nvSpPr>
          <p:cNvPr id="11" name="Shape 9"/>
          <p:cNvSpPr/>
          <p:nvPr/>
        </p:nvSpPr>
        <p:spPr>
          <a:xfrm>
            <a:off x="813816" y="1307592"/>
            <a:ext cx="2834640" cy="301752"/>
          </a:xfrm>
          <a:prstGeom prst="roundRect">
            <a:avLst>
              <a:gd name="adj" fmla="val 39394"/>
            </a:avLst>
          </a:prstGeom>
          <a:solidFill>
            <a:srgbClr val="FFFFFF"/>
          </a:solidFill>
          <a:ln w="12700">
            <a:solidFill>
              <a:srgbClr val="FFFFFF">
                <a:alpha val="0"/>
              </a:srgbClr>
            </a:solidFill>
            <a:prstDash val="solid"/>
          </a:ln>
        </p:spPr>
        <p:txBody>
          <a:bodyPr/>
          <a:lstStyle/>
          <a:p>
            <a:endParaRPr lang="nb-NO"/>
          </a:p>
        </p:txBody>
      </p:sp>
      <p:sp>
        <p:nvSpPr>
          <p:cNvPr id="12" name="Text 10"/>
          <p:cNvSpPr txBox="1"/>
          <p:nvPr/>
        </p:nvSpPr>
        <p:spPr>
          <a:xfrm>
            <a:off x="868680" y="1316736"/>
            <a:ext cx="2724912" cy="283464"/>
          </a:xfrm>
          <a:prstGeom prst="rect">
            <a:avLst/>
          </a:prstGeom>
          <a:noFill/>
          <a:ln/>
        </p:spPr>
        <p:txBody>
          <a:bodyPr wrap="square" lIns="0" tIns="0" rIns="0" bIns="0" rtlCol="0" anchor="ctr">
            <a:normAutofit/>
          </a:bodyPr>
          <a:lstStyle/>
          <a:p>
            <a:pPr marL="0" indent="0" algn="ctr">
              <a:buNone/>
            </a:pPr>
            <a:r>
              <a:rPr lang="en-US" sz="1100" b="1" dirty="0">
                <a:solidFill>
                  <a:srgbClr val="142E53"/>
                </a:solidFill>
                <a:latin typeface="Aptos" pitchFamily="34" charset="0"/>
                <a:ea typeface="Aptos" pitchFamily="34" charset="-122"/>
                <a:cs typeface="Aptos" pitchFamily="34" charset="-120"/>
              </a:rPr>
              <a:t>M_int  ·  Lab calibration</a:t>
            </a:r>
            <a:endParaRPr lang="en-US" sz="1100" dirty="0"/>
          </a:p>
        </p:txBody>
      </p:sp>
      <p:sp>
        <p:nvSpPr>
          <p:cNvPr id="13" name="Text 11"/>
          <p:cNvSpPr txBox="1"/>
          <p:nvPr/>
        </p:nvSpPr>
        <p:spPr>
          <a:xfrm>
            <a:off x="923544" y="1856232"/>
            <a:ext cx="4709160" cy="1261872"/>
          </a:xfrm>
          <a:prstGeom prst="rect">
            <a:avLst/>
          </a:prstGeom>
          <a:noFill/>
          <a:ln/>
        </p:spPr>
        <p:txBody>
          <a:bodyPr wrap="square" lIns="0" tIns="0" rIns="0" bIns="0" rtlCol="0" anchor="ctr">
            <a:normAutofit/>
          </a:bodyPr>
          <a:lstStyle/>
          <a:p>
            <a:pPr marL="0" indent="0" algn="ctr">
              <a:buNone/>
            </a:pPr>
            <a:r>
              <a:rPr lang="en-US" sz="1800" b="1" dirty="0">
                <a:solidFill>
                  <a:srgbClr val="142E53"/>
                </a:solidFill>
                <a:latin typeface="Aptos Mono" pitchFamily="34" charset="0"/>
                <a:ea typeface="Aptos Mono" pitchFamily="34" charset="-122"/>
                <a:cs typeface="Aptos Mono" pitchFamily="34" charset="-120"/>
              </a:rPr>
              <a:t>[ 1391.7       0        979.1 ]</a:t>
            </a:r>
            <a:endParaRPr lang="en-US" sz="1800" dirty="0"/>
          </a:p>
          <a:p>
            <a:pPr marL="0" indent="0" algn="ctr">
              <a:buNone/>
            </a:pPr>
            <a:r>
              <a:rPr lang="en-US" sz="1800" b="1" dirty="0">
                <a:solidFill>
                  <a:srgbClr val="142E53"/>
                </a:solidFill>
                <a:latin typeface="Aptos Mono" pitchFamily="34" charset="0"/>
                <a:ea typeface="Aptos Mono" pitchFamily="34" charset="-122"/>
                <a:cs typeface="Aptos Mono" pitchFamily="34" charset="-120"/>
              </a:rPr>
              <a:t>[     0      1388.5    540.2 ]</a:t>
            </a:r>
            <a:endParaRPr lang="en-US" sz="1800" dirty="0"/>
          </a:p>
          <a:p>
            <a:pPr marL="0" indent="0" algn="ctr">
              <a:buNone/>
            </a:pPr>
            <a:r>
              <a:rPr lang="en-US" sz="1800" b="1" dirty="0">
                <a:solidFill>
                  <a:srgbClr val="142E53"/>
                </a:solidFill>
                <a:latin typeface="Aptos Mono" pitchFamily="34" charset="0"/>
                <a:ea typeface="Aptos Mono" pitchFamily="34" charset="-122"/>
                <a:cs typeface="Aptos Mono" pitchFamily="34" charset="-120"/>
              </a:rPr>
              <a:t>[     0         0          1   ]</a:t>
            </a:r>
            <a:endParaRPr lang="en-US" sz="1800" dirty="0"/>
          </a:p>
        </p:txBody>
      </p:sp>
      <p:sp>
        <p:nvSpPr>
          <p:cNvPr id="14" name="Shape 12"/>
          <p:cNvSpPr/>
          <p:nvPr/>
        </p:nvSpPr>
        <p:spPr>
          <a:xfrm>
            <a:off x="6062472" y="1133856"/>
            <a:ext cx="5532120" cy="2414016"/>
          </a:xfrm>
          <a:prstGeom prst="roundRect">
            <a:avLst>
              <a:gd name="adj" fmla="val 4924"/>
            </a:avLst>
          </a:prstGeom>
          <a:solidFill>
            <a:srgbClr val="E1F5EF"/>
          </a:solidFill>
          <a:ln w="12700">
            <a:solidFill>
              <a:srgbClr val="E1F5EF">
                <a:alpha val="0"/>
              </a:srgbClr>
            </a:solidFill>
            <a:prstDash val="solid"/>
          </a:ln>
        </p:spPr>
        <p:txBody>
          <a:bodyPr/>
          <a:lstStyle/>
          <a:p>
            <a:endParaRPr lang="nb-NO"/>
          </a:p>
        </p:txBody>
      </p:sp>
      <p:sp>
        <p:nvSpPr>
          <p:cNvPr id="15" name="Shape 13"/>
          <p:cNvSpPr/>
          <p:nvPr/>
        </p:nvSpPr>
        <p:spPr>
          <a:xfrm>
            <a:off x="6300216" y="1307592"/>
            <a:ext cx="2743200" cy="301752"/>
          </a:xfrm>
          <a:prstGeom prst="roundRect">
            <a:avLst>
              <a:gd name="adj" fmla="val 39394"/>
            </a:avLst>
          </a:prstGeom>
          <a:solidFill>
            <a:srgbClr val="FFFFFF"/>
          </a:solidFill>
          <a:ln w="12700">
            <a:solidFill>
              <a:srgbClr val="FFFFFF">
                <a:alpha val="0"/>
              </a:srgbClr>
            </a:solidFill>
            <a:prstDash val="solid"/>
          </a:ln>
        </p:spPr>
        <p:txBody>
          <a:bodyPr/>
          <a:lstStyle/>
          <a:p>
            <a:endParaRPr lang="nb-NO"/>
          </a:p>
        </p:txBody>
      </p:sp>
      <p:sp>
        <p:nvSpPr>
          <p:cNvPr id="16" name="Text 14"/>
          <p:cNvSpPr txBox="1"/>
          <p:nvPr/>
        </p:nvSpPr>
        <p:spPr>
          <a:xfrm>
            <a:off x="6355080" y="1316736"/>
            <a:ext cx="2633472" cy="283464"/>
          </a:xfrm>
          <a:prstGeom prst="rect">
            <a:avLst/>
          </a:prstGeom>
          <a:noFill/>
          <a:ln/>
        </p:spPr>
        <p:txBody>
          <a:bodyPr wrap="square" lIns="0" tIns="0" rIns="0" bIns="0" rtlCol="0" anchor="ctr">
            <a:normAutofit/>
          </a:bodyPr>
          <a:lstStyle/>
          <a:p>
            <a:pPr marL="0" indent="0" algn="ctr">
              <a:buNone/>
            </a:pPr>
            <a:r>
              <a:rPr lang="en-US" sz="1100" b="1" dirty="0">
                <a:solidFill>
                  <a:srgbClr val="142E53"/>
                </a:solidFill>
                <a:latin typeface="Aptos" pitchFamily="34" charset="0"/>
                <a:ea typeface="Aptos" pitchFamily="34" charset="-122"/>
                <a:cs typeface="Aptos" pitchFamily="34" charset="-120"/>
              </a:rPr>
              <a:t>M_d  ·  Default L515</a:t>
            </a:r>
            <a:endParaRPr lang="en-US" sz="1100" dirty="0"/>
          </a:p>
        </p:txBody>
      </p:sp>
      <p:sp>
        <p:nvSpPr>
          <p:cNvPr id="17" name="Text 15"/>
          <p:cNvSpPr txBox="1"/>
          <p:nvPr/>
        </p:nvSpPr>
        <p:spPr>
          <a:xfrm>
            <a:off x="6355080" y="1856232"/>
            <a:ext cx="4956048" cy="1261872"/>
          </a:xfrm>
          <a:prstGeom prst="rect">
            <a:avLst/>
          </a:prstGeom>
          <a:noFill/>
          <a:ln/>
        </p:spPr>
        <p:txBody>
          <a:bodyPr wrap="square" lIns="0" tIns="0" rIns="0" bIns="0" rtlCol="0" anchor="ctr">
            <a:normAutofit/>
          </a:bodyPr>
          <a:lstStyle/>
          <a:p>
            <a:pPr marL="0" indent="0" algn="ctr">
              <a:buNone/>
            </a:pPr>
            <a:r>
              <a:rPr lang="en-US" sz="1800" b="1" dirty="0">
                <a:solidFill>
                  <a:srgbClr val="142E53"/>
                </a:solidFill>
                <a:latin typeface="Aptos Mono" pitchFamily="34" charset="0"/>
                <a:ea typeface="Aptos Mono" pitchFamily="34" charset="-122"/>
                <a:cs typeface="Aptos Mono" pitchFamily="34" charset="-120"/>
              </a:rPr>
              <a:t>[ 1342         0        325 ]</a:t>
            </a:r>
            <a:endParaRPr lang="en-US" sz="1800" dirty="0"/>
          </a:p>
          <a:p>
            <a:pPr marL="0" indent="0" algn="ctr">
              <a:buNone/>
            </a:pPr>
            <a:r>
              <a:rPr lang="en-US" sz="1800" b="1" dirty="0">
                <a:solidFill>
                  <a:srgbClr val="142E53"/>
                </a:solidFill>
                <a:latin typeface="Aptos Mono" pitchFamily="34" charset="0"/>
                <a:ea typeface="Aptos Mono" pitchFamily="34" charset="-122"/>
                <a:cs typeface="Aptos Mono" pitchFamily="34" charset="-120"/>
              </a:rPr>
              <a:t>[    0       1342      235 ]</a:t>
            </a:r>
            <a:endParaRPr lang="en-US" sz="1800" dirty="0"/>
          </a:p>
          <a:p>
            <a:pPr marL="0" indent="0" algn="ctr">
              <a:buNone/>
            </a:pPr>
            <a:r>
              <a:rPr lang="en-US" sz="1800" b="1" dirty="0">
                <a:solidFill>
                  <a:srgbClr val="142E53"/>
                </a:solidFill>
                <a:latin typeface="Aptos Mono" pitchFamily="34" charset="0"/>
                <a:ea typeface="Aptos Mono" pitchFamily="34" charset="-122"/>
                <a:cs typeface="Aptos Mono" pitchFamily="34" charset="-120"/>
              </a:rPr>
              <a:t>[    0         0         1  ]</a:t>
            </a:r>
            <a:endParaRPr lang="en-US" sz="1800" dirty="0"/>
          </a:p>
        </p:txBody>
      </p:sp>
      <p:sp>
        <p:nvSpPr>
          <p:cNvPr id="27" name="Shape 25"/>
          <p:cNvSpPr/>
          <p:nvPr/>
        </p:nvSpPr>
        <p:spPr>
          <a:xfrm>
            <a:off x="9756648" y="3703320"/>
            <a:ext cx="1828800" cy="1051560"/>
          </a:xfrm>
          <a:prstGeom prst="roundRect">
            <a:avLst>
              <a:gd name="adj" fmla="val 11304"/>
            </a:avLst>
          </a:prstGeom>
          <a:solidFill>
            <a:srgbClr val="FFF2D4"/>
          </a:solidFill>
          <a:ln w="12700">
            <a:solidFill>
              <a:srgbClr val="FFF2D4">
                <a:alpha val="0"/>
              </a:srgbClr>
            </a:solidFill>
            <a:prstDash val="solid"/>
          </a:ln>
        </p:spPr>
        <p:txBody>
          <a:bodyPr/>
          <a:lstStyle/>
          <a:p>
            <a:endParaRPr lang="nb-NO"/>
          </a:p>
        </p:txBody>
      </p:sp>
      <p:sp>
        <p:nvSpPr>
          <p:cNvPr id="28" name="Text 26"/>
          <p:cNvSpPr txBox="1"/>
          <p:nvPr/>
        </p:nvSpPr>
        <p:spPr>
          <a:xfrm>
            <a:off x="9902952" y="3831336"/>
            <a:ext cx="1517904" cy="182880"/>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Conclusion</a:t>
            </a:r>
            <a:endParaRPr lang="en-US" sz="1000" dirty="0"/>
          </a:p>
        </p:txBody>
      </p:sp>
      <p:sp>
        <p:nvSpPr>
          <p:cNvPr id="29" name="Text 27"/>
          <p:cNvSpPr txBox="1"/>
          <p:nvPr/>
        </p:nvSpPr>
        <p:spPr>
          <a:xfrm>
            <a:off x="9884664" y="4123944"/>
            <a:ext cx="1572768" cy="429768"/>
          </a:xfrm>
          <a:prstGeom prst="rect">
            <a:avLst/>
          </a:prstGeom>
          <a:noFill/>
          <a:ln/>
        </p:spPr>
        <p:txBody>
          <a:bodyPr wrap="square" lIns="0" tIns="0" rIns="0" bIns="0" rtlCol="0" anchor="ctr">
            <a:normAutofit/>
          </a:bodyPr>
          <a:lstStyle/>
          <a:p>
            <a:pPr marL="0" indent="0" algn="ctr">
              <a:buNone/>
            </a:pPr>
            <a:r>
              <a:rPr lang="en-US" sz="1200" b="1" dirty="0">
                <a:solidFill>
                  <a:srgbClr val="142E53"/>
                </a:solidFill>
                <a:latin typeface="Aptos" pitchFamily="34" charset="0"/>
                <a:ea typeface="Aptos" pitchFamily="34" charset="-122"/>
                <a:cs typeface="Aptos" pitchFamily="34" charset="-120"/>
              </a:rPr>
              <a:t>M_d appears more suitable</a:t>
            </a:r>
            <a:endParaRPr lang="en-US" sz="1200" dirty="0"/>
          </a:p>
        </p:txBody>
      </p:sp>
      <p:sp>
        <p:nvSpPr>
          <p:cNvPr id="30" name="Text 28"/>
          <p:cNvSpPr txBox="1"/>
          <p:nvPr/>
        </p:nvSpPr>
        <p:spPr>
          <a:xfrm>
            <a:off x="0" y="4128516"/>
            <a:ext cx="10789920" cy="228600"/>
          </a:xfrm>
          <a:prstGeom prst="rect">
            <a:avLst/>
          </a:prstGeom>
          <a:noFill/>
          <a:ln/>
        </p:spPr>
        <p:txBody>
          <a:bodyPr wrap="square" lIns="0" tIns="0" rIns="0" bIns="0" rtlCol="0" anchor="ctr">
            <a:normAutofit/>
          </a:bodyPr>
          <a:lstStyle/>
          <a:p>
            <a:pPr marL="0" indent="0" algn="ctr">
              <a:buNone/>
            </a:pPr>
            <a:r>
              <a:rPr sz="1050" dirty="0">
                <a:solidFill>
                  <a:srgbClr val="58687C"/>
                </a:solidFill>
                <a:latin typeface="Aptos"/>
              </a:rPr>
              <a:t>Focal length: lecture value ≈ 1285 </a:t>
            </a:r>
            <a:r>
              <a:rPr sz="1050" dirty="0" err="1">
                <a:solidFill>
                  <a:srgbClr val="58687C"/>
                </a:solidFill>
                <a:latin typeface="Aptos"/>
              </a:rPr>
              <a:t>px</a:t>
            </a:r>
            <a:r>
              <a:rPr sz="1050" dirty="0">
                <a:solidFill>
                  <a:srgbClr val="58687C"/>
                </a:solidFill>
                <a:latin typeface="Aptos"/>
              </a:rPr>
              <a:t> (1.8 mm lens ÷ 1.4 µm pixels). </a:t>
            </a:r>
            <a:r>
              <a:rPr sz="1050" dirty="0" err="1">
                <a:solidFill>
                  <a:srgbClr val="58687C"/>
                </a:solidFill>
                <a:latin typeface="Aptos"/>
              </a:rPr>
              <a:t>M_d</a:t>
            </a:r>
            <a:r>
              <a:rPr sz="1050" dirty="0">
                <a:solidFill>
                  <a:srgbClr val="58687C"/>
                </a:solidFill>
                <a:latin typeface="Aptos"/>
              </a:rPr>
              <a:t> (1342) is closer than </a:t>
            </a:r>
            <a:r>
              <a:rPr sz="1050" dirty="0" err="1">
                <a:solidFill>
                  <a:srgbClr val="58687C"/>
                </a:solidFill>
                <a:latin typeface="Aptos"/>
              </a:rPr>
              <a:t>M_int</a:t>
            </a:r>
            <a:r>
              <a:rPr sz="1050" dirty="0">
                <a:solidFill>
                  <a:srgbClr val="58687C"/>
                </a:solidFill>
                <a:latin typeface="Aptos"/>
              </a:rPr>
              <a:t> (1391</a:t>
            </a:r>
            <a:r>
              <a:rPr lang="nb-NO" sz="1050" dirty="0">
                <a:solidFill>
                  <a:srgbClr val="58687C"/>
                </a:solidFill>
                <a:latin typeface="Aptos"/>
              </a:rPr>
              <a: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Q1</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lang="en-US" sz="2500" b="1" dirty="0">
                <a:solidFill>
                  <a:srgbClr val="142E53"/>
                </a:solidFill>
                <a:latin typeface="Aptos Display" pitchFamily="34" charset="0"/>
                <a:ea typeface="Aptos Display" pitchFamily="34" charset="-122"/>
                <a:cs typeface="Aptos Display" pitchFamily="34" charset="-120"/>
              </a:rPr>
              <a:t>Q1(d) Learning the coordinate mapping</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ctr">
              <a:buNone/>
            </a:pPr>
            <a:r>
              <a:rPr lang="en-US" sz="1000" dirty="0">
                <a:solidFill>
                  <a:srgbClr val="58687C"/>
                </a:solidFill>
                <a:latin typeface="Aptos" pitchFamily="34" charset="0"/>
                <a:ea typeface="Aptos" pitchFamily="34" charset="-122"/>
                <a:cs typeface="Aptos" pitchFamily="34" charset="-120"/>
              </a:rPr>
              <a:t>Linear regression predicts o₂* from o₁ coordinates</a:t>
            </a:r>
            <a:endParaRPr lang="en-US" sz="1000" dirty="0"/>
          </a:p>
        </p:txBody>
      </p:sp>
      <p:sp>
        <p:nvSpPr>
          <p:cNvPr id="7" name="Shape 5"/>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76072"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7</a:t>
            </a:r>
            <a:endParaRPr lang="en-US" sz="1100" dirty="0"/>
          </a:p>
        </p:txBody>
      </p:sp>
      <p:sp>
        <p:nvSpPr>
          <p:cNvPr id="10" name="Shape 8"/>
          <p:cNvSpPr/>
          <p:nvPr/>
        </p:nvSpPr>
        <p:spPr>
          <a:xfrm>
            <a:off x="585216" y="1252728"/>
            <a:ext cx="11009376" cy="1481328"/>
          </a:xfrm>
          <a:prstGeom prst="roundRect">
            <a:avLst>
              <a:gd name="adj" fmla="val 8025"/>
            </a:avLst>
          </a:prstGeom>
          <a:solidFill>
            <a:srgbClr val="FFFFFF"/>
          </a:solidFill>
          <a:ln w="7620">
            <a:solidFill>
              <a:srgbClr val="D7E2EE"/>
            </a:solidFill>
            <a:prstDash val="solid"/>
          </a:ln>
        </p:spPr>
        <p:txBody>
          <a:bodyPr/>
          <a:lstStyle/>
          <a:p>
            <a:endParaRPr lang="nb-NO"/>
          </a:p>
        </p:txBody>
      </p:sp>
      <p:sp>
        <p:nvSpPr>
          <p:cNvPr id="11" name="Shape 9"/>
          <p:cNvSpPr/>
          <p:nvPr/>
        </p:nvSpPr>
        <p:spPr>
          <a:xfrm>
            <a:off x="896112" y="1499616"/>
            <a:ext cx="969264" cy="301752"/>
          </a:xfrm>
          <a:prstGeom prst="roundRect">
            <a:avLst>
              <a:gd name="adj" fmla="val 39394"/>
            </a:avLst>
          </a:prstGeom>
          <a:solidFill>
            <a:srgbClr val="E4EEFF"/>
          </a:solidFill>
          <a:ln w="12700">
            <a:solidFill>
              <a:srgbClr val="E4EEFF">
                <a:alpha val="0"/>
              </a:srgbClr>
            </a:solidFill>
            <a:prstDash val="solid"/>
          </a:ln>
        </p:spPr>
        <p:txBody>
          <a:bodyPr/>
          <a:lstStyle/>
          <a:p>
            <a:endParaRPr lang="nb-NO"/>
          </a:p>
        </p:txBody>
      </p:sp>
      <p:sp>
        <p:nvSpPr>
          <p:cNvPr id="12" name="Text 10"/>
          <p:cNvSpPr txBox="1"/>
          <p:nvPr/>
        </p:nvSpPr>
        <p:spPr>
          <a:xfrm>
            <a:off x="950976" y="1508760"/>
            <a:ext cx="859536" cy="283464"/>
          </a:xfrm>
          <a:prstGeom prst="rect">
            <a:avLst/>
          </a:prstGeom>
          <a:noFill/>
          <a:ln/>
        </p:spPr>
        <p:txBody>
          <a:bodyPr wrap="square" lIns="0" tIns="0" rIns="0" bIns="0" rtlCol="0" anchor="ctr">
            <a:normAutofit/>
          </a:bodyPr>
          <a:lstStyle/>
          <a:p>
            <a:pPr marL="0" indent="0" algn="ctr">
              <a:buNone/>
            </a:pPr>
            <a:r>
              <a:rPr lang="en-US" sz="1100" b="1" dirty="0">
                <a:solidFill>
                  <a:srgbClr val="142E53"/>
                </a:solidFill>
                <a:latin typeface="Aptos" pitchFamily="34" charset="0"/>
                <a:ea typeface="Aptos" pitchFamily="34" charset="-122"/>
                <a:cs typeface="Aptos" pitchFamily="34" charset="-120"/>
              </a:rPr>
              <a:t>INPUT</a:t>
            </a:r>
            <a:endParaRPr lang="en-US" sz="1100" dirty="0"/>
          </a:p>
        </p:txBody>
      </p:sp>
      <p:sp>
        <p:nvSpPr>
          <p:cNvPr id="13" name="Text 11"/>
          <p:cNvSpPr txBox="1"/>
          <p:nvPr/>
        </p:nvSpPr>
        <p:spPr>
          <a:xfrm>
            <a:off x="868680" y="1911096"/>
            <a:ext cx="2194560" cy="347472"/>
          </a:xfrm>
          <a:prstGeom prst="rect">
            <a:avLst/>
          </a:prstGeom>
          <a:noFill/>
          <a:ln/>
        </p:spPr>
        <p:txBody>
          <a:bodyPr wrap="square" lIns="0" tIns="0" rIns="0" bIns="0" rtlCol="0" anchor="ctr">
            <a:normAutofit/>
          </a:bodyPr>
          <a:lstStyle/>
          <a:p>
            <a:pPr marL="0" indent="0" algn="ctr">
              <a:buNone/>
            </a:pPr>
            <a:r>
              <a:rPr lang="en-US" sz="1800" b="1" dirty="0">
                <a:solidFill>
                  <a:srgbClr val="142E53"/>
                </a:solidFill>
                <a:latin typeface="Aptos" pitchFamily="34" charset="0"/>
                <a:ea typeface="Aptos" pitchFamily="34" charset="-122"/>
                <a:cs typeface="Aptos" pitchFamily="34" charset="-120"/>
              </a:rPr>
              <a:t>o₁ = [X, Y, Z]</a:t>
            </a:r>
            <a:endParaRPr lang="en-US" sz="1800" dirty="0"/>
          </a:p>
        </p:txBody>
      </p:sp>
      <p:sp>
        <p:nvSpPr>
          <p:cNvPr id="14" name="Text 12"/>
          <p:cNvSpPr txBox="1"/>
          <p:nvPr/>
        </p:nvSpPr>
        <p:spPr>
          <a:xfrm>
            <a:off x="3172968" y="1837944"/>
            <a:ext cx="685800" cy="411480"/>
          </a:xfrm>
          <a:prstGeom prst="rect">
            <a:avLst/>
          </a:prstGeom>
          <a:noFill/>
          <a:ln/>
        </p:spPr>
        <p:txBody>
          <a:bodyPr wrap="square" lIns="0" tIns="0" rIns="0" bIns="0" rtlCol="0" anchor="ctr">
            <a:normAutofit fontScale="92500" lnSpcReduction="20000"/>
          </a:bodyPr>
          <a:lstStyle/>
          <a:p>
            <a:pPr marL="0" indent="0" algn="ctr">
              <a:buNone/>
            </a:pPr>
            <a:r>
              <a:rPr lang="en-US" sz="3200" b="1" dirty="0">
                <a:solidFill>
                  <a:srgbClr val="3477EF"/>
                </a:solidFill>
                <a:latin typeface="Aptos" pitchFamily="34" charset="0"/>
                <a:ea typeface="Aptos" pitchFamily="34" charset="-122"/>
                <a:cs typeface="Aptos" pitchFamily="34" charset="-120"/>
              </a:rPr>
              <a:t>→</a:t>
            </a:r>
            <a:endParaRPr lang="en-US" sz="3200" dirty="0"/>
          </a:p>
        </p:txBody>
      </p:sp>
      <p:sp>
        <p:nvSpPr>
          <p:cNvPr id="15" name="Shape 13"/>
          <p:cNvSpPr/>
          <p:nvPr/>
        </p:nvSpPr>
        <p:spPr>
          <a:xfrm>
            <a:off x="3986784" y="1499616"/>
            <a:ext cx="1179576" cy="301752"/>
          </a:xfrm>
          <a:prstGeom prst="roundRect">
            <a:avLst>
              <a:gd name="adj" fmla="val 39394"/>
            </a:avLst>
          </a:prstGeom>
          <a:solidFill>
            <a:srgbClr val="EFE8FA"/>
          </a:solidFill>
          <a:ln w="12700">
            <a:solidFill>
              <a:srgbClr val="EFE8FA">
                <a:alpha val="0"/>
              </a:srgbClr>
            </a:solidFill>
            <a:prstDash val="solid"/>
          </a:ln>
        </p:spPr>
        <p:txBody>
          <a:bodyPr/>
          <a:lstStyle/>
          <a:p>
            <a:endParaRPr lang="nb-NO"/>
          </a:p>
        </p:txBody>
      </p:sp>
      <p:sp>
        <p:nvSpPr>
          <p:cNvPr id="16" name="Text 14"/>
          <p:cNvSpPr txBox="1"/>
          <p:nvPr/>
        </p:nvSpPr>
        <p:spPr>
          <a:xfrm>
            <a:off x="4041648" y="1508760"/>
            <a:ext cx="1069848" cy="283464"/>
          </a:xfrm>
          <a:prstGeom prst="rect">
            <a:avLst/>
          </a:prstGeom>
          <a:noFill/>
          <a:ln/>
        </p:spPr>
        <p:txBody>
          <a:bodyPr wrap="square" lIns="0" tIns="0" rIns="0" bIns="0" rtlCol="0" anchor="ctr">
            <a:normAutofit/>
          </a:bodyPr>
          <a:lstStyle/>
          <a:p>
            <a:pPr marL="0" indent="0" algn="ctr">
              <a:buNone/>
            </a:pPr>
            <a:r>
              <a:rPr lang="en-US" sz="1100" b="1" dirty="0">
                <a:solidFill>
                  <a:srgbClr val="142E53"/>
                </a:solidFill>
                <a:latin typeface="Aptos" pitchFamily="34" charset="0"/>
                <a:ea typeface="Aptos" pitchFamily="34" charset="-122"/>
                <a:cs typeface="Aptos" pitchFamily="34" charset="-120"/>
              </a:rPr>
              <a:t>MODEL</a:t>
            </a:r>
            <a:endParaRPr lang="en-US" sz="1100" dirty="0"/>
          </a:p>
        </p:txBody>
      </p:sp>
      <p:sp>
        <p:nvSpPr>
          <p:cNvPr id="17" name="Text 15"/>
          <p:cNvSpPr txBox="1"/>
          <p:nvPr/>
        </p:nvSpPr>
        <p:spPr>
          <a:xfrm>
            <a:off x="3968496" y="1920240"/>
            <a:ext cx="2862072" cy="310896"/>
          </a:xfrm>
          <a:prstGeom prst="rect">
            <a:avLst/>
          </a:prstGeom>
          <a:noFill/>
          <a:ln/>
        </p:spPr>
        <p:txBody>
          <a:bodyPr wrap="square" lIns="0" tIns="0" rIns="0" bIns="0" rtlCol="0" anchor="ctr">
            <a:normAutofit/>
          </a:bodyPr>
          <a:lstStyle/>
          <a:p>
            <a:pPr marL="0" indent="0" algn="ctr">
              <a:buNone/>
            </a:pPr>
            <a:r>
              <a:rPr lang="en-US" sz="1800" b="1" dirty="0">
                <a:solidFill>
                  <a:srgbClr val="142E53"/>
                </a:solidFill>
                <a:latin typeface="Aptos" pitchFamily="34" charset="0"/>
                <a:ea typeface="Aptos" pitchFamily="34" charset="-122"/>
                <a:cs typeface="Aptos" pitchFamily="34" charset="-120"/>
              </a:rPr>
              <a:t>Linear Regression</a:t>
            </a:r>
            <a:endParaRPr lang="en-US" sz="1800" dirty="0"/>
          </a:p>
        </p:txBody>
      </p:sp>
      <p:sp>
        <p:nvSpPr>
          <p:cNvPr id="18" name="Text 16"/>
          <p:cNvSpPr txBox="1"/>
          <p:nvPr/>
        </p:nvSpPr>
        <p:spPr>
          <a:xfrm>
            <a:off x="6858000" y="1837944"/>
            <a:ext cx="667512" cy="411480"/>
          </a:xfrm>
          <a:prstGeom prst="rect">
            <a:avLst/>
          </a:prstGeom>
          <a:noFill/>
          <a:ln/>
        </p:spPr>
        <p:txBody>
          <a:bodyPr wrap="square" lIns="0" tIns="0" rIns="0" bIns="0" rtlCol="0" anchor="ctr">
            <a:normAutofit fontScale="92500" lnSpcReduction="20000"/>
          </a:bodyPr>
          <a:lstStyle/>
          <a:p>
            <a:pPr marL="0" indent="0" algn="ctr">
              <a:buNone/>
            </a:pPr>
            <a:r>
              <a:rPr lang="en-US" sz="3200" b="1" dirty="0">
                <a:solidFill>
                  <a:srgbClr val="3477EF"/>
                </a:solidFill>
                <a:latin typeface="Aptos" pitchFamily="34" charset="0"/>
                <a:ea typeface="Aptos" pitchFamily="34" charset="-122"/>
                <a:cs typeface="Aptos" pitchFamily="34" charset="-120"/>
              </a:rPr>
              <a:t>→</a:t>
            </a:r>
            <a:endParaRPr lang="en-US" sz="3200" dirty="0"/>
          </a:p>
        </p:txBody>
      </p:sp>
      <p:sp>
        <p:nvSpPr>
          <p:cNvPr id="19" name="Shape 17"/>
          <p:cNvSpPr/>
          <p:nvPr/>
        </p:nvSpPr>
        <p:spPr>
          <a:xfrm>
            <a:off x="7635240" y="1499616"/>
            <a:ext cx="1289304" cy="301752"/>
          </a:xfrm>
          <a:prstGeom prst="roundRect">
            <a:avLst>
              <a:gd name="adj" fmla="val 39394"/>
            </a:avLst>
          </a:prstGeom>
          <a:solidFill>
            <a:srgbClr val="E1F5EF"/>
          </a:solidFill>
          <a:ln w="12700">
            <a:solidFill>
              <a:srgbClr val="E1F5EF">
                <a:alpha val="0"/>
              </a:srgbClr>
            </a:solidFill>
            <a:prstDash val="solid"/>
          </a:ln>
        </p:spPr>
        <p:txBody>
          <a:bodyPr/>
          <a:lstStyle/>
          <a:p>
            <a:endParaRPr lang="nb-NO"/>
          </a:p>
        </p:txBody>
      </p:sp>
      <p:sp>
        <p:nvSpPr>
          <p:cNvPr id="20" name="Text 18"/>
          <p:cNvSpPr txBox="1"/>
          <p:nvPr/>
        </p:nvSpPr>
        <p:spPr>
          <a:xfrm>
            <a:off x="7690104" y="1508760"/>
            <a:ext cx="1179576" cy="283464"/>
          </a:xfrm>
          <a:prstGeom prst="rect">
            <a:avLst/>
          </a:prstGeom>
          <a:noFill/>
          <a:ln/>
        </p:spPr>
        <p:txBody>
          <a:bodyPr wrap="square" lIns="0" tIns="0" rIns="0" bIns="0" rtlCol="0" anchor="ctr">
            <a:normAutofit/>
          </a:bodyPr>
          <a:lstStyle/>
          <a:p>
            <a:pPr marL="0" indent="0" algn="ctr">
              <a:buNone/>
            </a:pPr>
            <a:r>
              <a:rPr lang="en-US" sz="1100" b="1" dirty="0">
                <a:solidFill>
                  <a:srgbClr val="142E53"/>
                </a:solidFill>
                <a:latin typeface="Aptos" pitchFamily="34" charset="0"/>
                <a:ea typeface="Aptos" pitchFamily="34" charset="-122"/>
                <a:cs typeface="Aptos" pitchFamily="34" charset="-120"/>
              </a:rPr>
              <a:t>OUTPUT</a:t>
            </a:r>
            <a:endParaRPr lang="en-US" sz="1100" dirty="0"/>
          </a:p>
        </p:txBody>
      </p:sp>
      <p:sp>
        <p:nvSpPr>
          <p:cNvPr id="21" name="Text 19"/>
          <p:cNvSpPr txBox="1"/>
          <p:nvPr/>
        </p:nvSpPr>
        <p:spPr>
          <a:xfrm>
            <a:off x="7571232" y="1911096"/>
            <a:ext cx="3593592" cy="347472"/>
          </a:xfrm>
          <a:prstGeom prst="rect">
            <a:avLst/>
          </a:prstGeom>
          <a:noFill/>
          <a:ln/>
        </p:spPr>
        <p:txBody>
          <a:bodyPr wrap="square" lIns="0" tIns="0" rIns="0" bIns="0" rtlCol="0" anchor="ctr">
            <a:normAutofit/>
          </a:bodyPr>
          <a:lstStyle/>
          <a:p>
            <a:pPr marL="0" indent="0" algn="ctr">
              <a:buNone/>
            </a:pPr>
            <a:r>
              <a:rPr lang="en-US" sz="1800" b="1" dirty="0">
                <a:solidFill>
                  <a:srgbClr val="142E53"/>
                </a:solidFill>
                <a:latin typeface="Aptos" pitchFamily="34" charset="0"/>
                <a:ea typeface="Aptos" pitchFamily="34" charset="-122"/>
                <a:cs typeface="Aptos" pitchFamily="34" charset="-120"/>
              </a:rPr>
              <a:t>o₂* = predicted XYZ</a:t>
            </a:r>
            <a:endParaRPr lang="en-US" sz="1800" dirty="0"/>
          </a:p>
        </p:txBody>
      </p:sp>
      <p:sp>
        <p:nvSpPr>
          <p:cNvPr id="22" name="Shape 20"/>
          <p:cNvSpPr/>
          <p:nvPr/>
        </p:nvSpPr>
        <p:spPr>
          <a:xfrm>
            <a:off x="603504" y="2953512"/>
            <a:ext cx="2670048" cy="1188720"/>
          </a:xfrm>
          <a:prstGeom prst="roundRect">
            <a:avLst>
              <a:gd name="adj" fmla="val 10000"/>
            </a:avLst>
          </a:prstGeom>
          <a:solidFill>
            <a:srgbClr val="E4EEFF"/>
          </a:solidFill>
          <a:ln w="12700">
            <a:solidFill>
              <a:srgbClr val="E4EEFF">
                <a:alpha val="0"/>
              </a:srgbClr>
            </a:solidFill>
            <a:prstDash val="solid"/>
          </a:ln>
        </p:spPr>
        <p:txBody>
          <a:bodyPr/>
          <a:lstStyle/>
          <a:p>
            <a:endParaRPr lang="nb-NO"/>
          </a:p>
        </p:txBody>
      </p:sp>
      <p:sp>
        <p:nvSpPr>
          <p:cNvPr id="23" name="Text 21"/>
          <p:cNvSpPr txBox="1"/>
          <p:nvPr/>
        </p:nvSpPr>
        <p:spPr>
          <a:xfrm>
            <a:off x="667512" y="3035808"/>
            <a:ext cx="2542032" cy="558698"/>
          </a:xfrm>
          <a:prstGeom prst="rect">
            <a:avLst/>
          </a:prstGeom>
          <a:noFill/>
          <a:ln/>
        </p:spPr>
        <p:txBody>
          <a:bodyPr wrap="square" lIns="0" tIns="0" rIns="0" bIns="0" rtlCol="0" anchor="ctr">
            <a:normAutofit/>
          </a:bodyPr>
          <a:lstStyle/>
          <a:p>
            <a:pPr marL="0" indent="0" algn="ctr">
              <a:buNone/>
            </a:pPr>
            <a:r>
              <a:rPr lang="en-US" sz="2200" b="1" dirty="0">
                <a:solidFill>
                  <a:srgbClr val="142E53"/>
                </a:solidFill>
                <a:latin typeface="Aptos" pitchFamily="34" charset="0"/>
                <a:ea typeface="Aptos" pitchFamily="34" charset="-122"/>
                <a:cs typeface="Aptos" pitchFamily="34" charset="-120"/>
              </a:rPr>
              <a:t>711</a:t>
            </a:r>
            <a:endParaRPr lang="en-US" sz="2200" dirty="0"/>
          </a:p>
        </p:txBody>
      </p:sp>
      <p:sp>
        <p:nvSpPr>
          <p:cNvPr id="24" name="Text 22"/>
          <p:cNvSpPr txBox="1"/>
          <p:nvPr/>
        </p:nvSpPr>
        <p:spPr>
          <a:xfrm>
            <a:off x="685800" y="3678631"/>
            <a:ext cx="2505456" cy="332842"/>
          </a:xfrm>
          <a:prstGeom prst="rect">
            <a:avLst/>
          </a:prstGeom>
          <a:noFill/>
          <a:ln/>
        </p:spPr>
        <p:txBody>
          <a:bodyPr wrap="square" lIns="0" tIns="0" rIns="0" bIns="0" rtlCol="0" anchor="ctr">
            <a:normAutofit/>
          </a:bodyPr>
          <a:lstStyle/>
          <a:p>
            <a:pPr marL="0" indent="0" algn="ctr">
              <a:buNone/>
            </a:pPr>
            <a:r>
              <a:rPr lang="en-US" sz="940" dirty="0">
                <a:solidFill>
                  <a:srgbClr val="58687C"/>
                </a:solidFill>
                <a:latin typeface="Aptos" pitchFamily="34" charset="0"/>
                <a:ea typeface="Aptos" pitchFamily="34" charset="-122"/>
                <a:cs typeface="Aptos" pitchFamily="34" charset="-120"/>
              </a:rPr>
              <a:t>Training samples</a:t>
            </a:r>
            <a:endParaRPr lang="en-US" sz="940" dirty="0"/>
          </a:p>
        </p:txBody>
      </p:sp>
      <p:sp>
        <p:nvSpPr>
          <p:cNvPr id="25" name="Shape 23"/>
          <p:cNvSpPr/>
          <p:nvPr/>
        </p:nvSpPr>
        <p:spPr>
          <a:xfrm>
            <a:off x="3438144" y="2953512"/>
            <a:ext cx="2670048" cy="1188720"/>
          </a:xfrm>
          <a:prstGeom prst="roundRect">
            <a:avLst>
              <a:gd name="adj" fmla="val 10000"/>
            </a:avLst>
          </a:prstGeom>
          <a:solidFill>
            <a:srgbClr val="EFE8FA"/>
          </a:solidFill>
          <a:ln w="12700">
            <a:solidFill>
              <a:srgbClr val="EFE8FA">
                <a:alpha val="0"/>
              </a:srgbClr>
            </a:solidFill>
            <a:prstDash val="solid"/>
          </a:ln>
        </p:spPr>
        <p:txBody>
          <a:bodyPr/>
          <a:lstStyle/>
          <a:p>
            <a:endParaRPr lang="nb-NO"/>
          </a:p>
        </p:txBody>
      </p:sp>
      <p:sp>
        <p:nvSpPr>
          <p:cNvPr id="26" name="Text 24"/>
          <p:cNvSpPr txBox="1"/>
          <p:nvPr/>
        </p:nvSpPr>
        <p:spPr>
          <a:xfrm>
            <a:off x="3502152" y="3035808"/>
            <a:ext cx="2542032" cy="558698"/>
          </a:xfrm>
          <a:prstGeom prst="rect">
            <a:avLst/>
          </a:prstGeom>
          <a:noFill/>
          <a:ln/>
        </p:spPr>
        <p:txBody>
          <a:bodyPr wrap="square" lIns="0" tIns="0" rIns="0" bIns="0" rtlCol="0" anchor="ctr">
            <a:normAutofit/>
          </a:bodyPr>
          <a:lstStyle/>
          <a:p>
            <a:pPr marL="0" indent="0" algn="ctr">
              <a:buNone/>
            </a:pPr>
            <a:r>
              <a:rPr lang="en-US" sz="2200" b="1" dirty="0">
                <a:solidFill>
                  <a:srgbClr val="142E53"/>
                </a:solidFill>
                <a:latin typeface="Aptos" pitchFamily="34" charset="0"/>
                <a:ea typeface="Aptos" pitchFamily="34" charset="-122"/>
                <a:cs typeface="Aptos" pitchFamily="34" charset="-120"/>
              </a:rPr>
              <a:t>178</a:t>
            </a:r>
            <a:endParaRPr lang="en-US" sz="2200" dirty="0"/>
          </a:p>
        </p:txBody>
      </p:sp>
      <p:sp>
        <p:nvSpPr>
          <p:cNvPr id="27" name="Text 25"/>
          <p:cNvSpPr txBox="1"/>
          <p:nvPr/>
        </p:nvSpPr>
        <p:spPr>
          <a:xfrm>
            <a:off x="3520440" y="3678631"/>
            <a:ext cx="2505456" cy="332842"/>
          </a:xfrm>
          <a:prstGeom prst="rect">
            <a:avLst/>
          </a:prstGeom>
          <a:noFill/>
          <a:ln/>
        </p:spPr>
        <p:txBody>
          <a:bodyPr wrap="square" lIns="0" tIns="0" rIns="0" bIns="0" rtlCol="0" anchor="ctr">
            <a:normAutofit/>
          </a:bodyPr>
          <a:lstStyle/>
          <a:p>
            <a:pPr marL="0" indent="0" algn="ctr">
              <a:buNone/>
            </a:pPr>
            <a:r>
              <a:rPr lang="en-US" sz="940" dirty="0">
                <a:solidFill>
                  <a:srgbClr val="58687C"/>
                </a:solidFill>
                <a:latin typeface="Aptos" pitchFamily="34" charset="0"/>
                <a:ea typeface="Aptos" pitchFamily="34" charset="-122"/>
                <a:cs typeface="Aptos" pitchFamily="34" charset="-120"/>
              </a:rPr>
              <a:t>Test samples</a:t>
            </a:r>
            <a:endParaRPr lang="en-US" sz="940" dirty="0"/>
          </a:p>
        </p:txBody>
      </p:sp>
      <p:sp>
        <p:nvSpPr>
          <p:cNvPr id="28" name="Shape 26"/>
          <p:cNvSpPr/>
          <p:nvPr/>
        </p:nvSpPr>
        <p:spPr>
          <a:xfrm>
            <a:off x="6263640" y="2953512"/>
            <a:ext cx="2670048" cy="1188720"/>
          </a:xfrm>
          <a:prstGeom prst="roundRect">
            <a:avLst>
              <a:gd name="adj" fmla="val 10000"/>
            </a:avLst>
          </a:prstGeom>
          <a:solidFill>
            <a:srgbClr val="E1F5EF"/>
          </a:solidFill>
          <a:ln w="12700">
            <a:solidFill>
              <a:srgbClr val="E1F5EF">
                <a:alpha val="0"/>
              </a:srgbClr>
            </a:solidFill>
            <a:prstDash val="solid"/>
          </a:ln>
        </p:spPr>
        <p:txBody>
          <a:bodyPr/>
          <a:lstStyle/>
          <a:p>
            <a:endParaRPr lang="nb-NO"/>
          </a:p>
        </p:txBody>
      </p:sp>
      <p:sp>
        <p:nvSpPr>
          <p:cNvPr id="29" name="Text 27"/>
          <p:cNvSpPr txBox="1"/>
          <p:nvPr/>
        </p:nvSpPr>
        <p:spPr>
          <a:xfrm>
            <a:off x="6327648" y="3035808"/>
            <a:ext cx="2542032" cy="558698"/>
          </a:xfrm>
          <a:prstGeom prst="rect">
            <a:avLst/>
          </a:prstGeom>
          <a:noFill/>
          <a:ln/>
        </p:spPr>
        <p:txBody>
          <a:bodyPr wrap="square" lIns="0" tIns="0" rIns="0" bIns="0" rtlCol="0" anchor="ctr">
            <a:normAutofit/>
          </a:bodyPr>
          <a:lstStyle/>
          <a:p>
            <a:pPr marL="0" indent="0" algn="ctr">
              <a:buNone/>
            </a:pPr>
            <a:r>
              <a:rPr lang="en-US" sz="2200" b="1" dirty="0">
                <a:solidFill>
                  <a:srgbClr val="142E53"/>
                </a:solidFill>
                <a:latin typeface="Aptos" pitchFamily="34" charset="0"/>
                <a:ea typeface="Aptos" pitchFamily="34" charset="-122"/>
                <a:cs typeface="Aptos" pitchFamily="34" charset="-120"/>
              </a:rPr>
              <a:t>1.000</a:t>
            </a:r>
            <a:endParaRPr lang="en-US" sz="2200" dirty="0"/>
          </a:p>
        </p:txBody>
      </p:sp>
      <p:sp>
        <p:nvSpPr>
          <p:cNvPr id="30" name="Text 28"/>
          <p:cNvSpPr txBox="1"/>
          <p:nvPr/>
        </p:nvSpPr>
        <p:spPr>
          <a:xfrm>
            <a:off x="6345936" y="3678631"/>
            <a:ext cx="2505456" cy="332842"/>
          </a:xfrm>
          <a:prstGeom prst="rect">
            <a:avLst/>
          </a:prstGeom>
          <a:noFill/>
          <a:ln/>
        </p:spPr>
        <p:txBody>
          <a:bodyPr wrap="square" lIns="0" tIns="0" rIns="0" bIns="0" rtlCol="0" anchor="ctr">
            <a:normAutofit/>
          </a:bodyPr>
          <a:lstStyle/>
          <a:p>
            <a:pPr marL="0" indent="0" algn="ctr">
              <a:buNone/>
            </a:pPr>
            <a:r>
              <a:rPr lang="en-US" sz="940" dirty="0">
                <a:solidFill>
                  <a:srgbClr val="58687C"/>
                </a:solidFill>
                <a:latin typeface="Aptos" pitchFamily="34" charset="0"/>
                <a:ea typeface="Aptos" pitchFamily="34" charset="-122"/>
                <a:cs typeface="Aptos" pitchFamily="34" charset="-120"/>
              </a:rPr>
              <a:t>Test R²</a:t>
            </a:r>
            <a:endParaRPr lang="en-US" sz="940" dirty="0"/>
          </a:p>
        </p:txBody>
      </p:sp>
      <p:sp>
        <p:nvSpPr>
          <p:cNvPr id="31" name="Shape 29"/>
          <p:cNvSpPr/>
          <p:nvPr/>
        </p:nvSpPr>
        <p:spPr>
          <a:xfrm>
            <a:off x="9098280" y="2953512"/>
            <a:ext cx="2468880" cy="1188720"/>
          </a:xfrm>
          <a:prstGeom prst="roundRect">
            <a:avLst>
              <a:gd name="adj" fmla="val 10000"/>
            </a:avLst>
          </a:prstGeom>
          <a:solidFill>
            <a:srgbClr val="E7F5E0"/>
          </a:solidFill>
          <a:ln w="12700">
            <a:solidFill>
              <a:srgbClr val="E7F5E0">
                <a:alpha val="0"/>
              </a:srgbClr>
            </a:solidFill>
            <a:prstDash val="solid"/>
          </a:ln>
        </p:spPr>
        <p:txBody>
          <a:bodyPr/>
          <a:lstStyle/>
          <a:p>
            <a:endParaRPr lang="nb-NO"/>
          </a:p>
        </p:txBody>
      </p:sp>
      <p:sp>
        <p:nvSpPr>
          <p:cNvPr id="32" name="Text 30"/>
          <p:cNvSpPr txBox="1"/>
          <p:nvPr/>
        </p:nvSpPr>
        <p:spPr>
          <a:xfrm>
            <a:off x="9162288" y="3035808"/>
            <a:ext cx="2340864" cy="558698"/>
          </a:xfrm>
          <a:prstGeom prst="rect">
            <a:avLst/>
          </a:prstGeom>
          <a:noFill/>
          <a:ln/>
        </p:spPr>
        <p:txBody>
          <a:bodyPr wrap="square" lIns="0" tIns="0" rIns="0" bIns="0" rtlCol="0" anchor="ctr">
            <a:normAutofit/>
          </a:bodyPr>
          <a:lstStyle/>
          <a:p>
            <a:pPr marL="0" indent="0" algn="ctr">
              <a:buNone/>
            </a:pPr>
            <a:r>
              <a:rPr lang="en-US" sz="2200" b="1" dirty="0">
                <a:solidFill>
                  <a:srgbClr val="142E53"/>
                </a:solidFill>
                <a:latin typeface="Aptos" pitchFamily="34" charset="0"/>
                <a:ea typeface="Aptos" pitchFamily="34" charset="-122"/>
                <a:cs typeface="Aptos" pitchFamily="34" charset="-120"/>
              </a:rPr>
              <a:t>≈ 0</a:t>
            </a:r>
            <a:endParaRPr lang="en-US" sz="2200" dirty="0"/>
          </a:p>
        </p:txBody>
      </p:sp>
      <p:sp>
        <p:nvSpPr>
          <p:cNvPr id="33" name="Text 31"/>
          <p:cNvSpPr txBox="1"/>
          <p:nvPr/>
        </p:nvSpPr>
        <p:spPr>
          <a:xfrm>
            <a:off x="9180576" y="3678631"/>
            <a:ext cx="2304288" cy="332842"/>
          </a:xfrm>
          <a:prstGeom prst="rect">
            <a:avLst/>
          </a:prstGeom>
          <a:noFill/>
          <a:ln/>
        </p:spPr>
        <p:txBody>
          <a:bodyPr wrap="square" lIns="0" tIns="0" rIns="0" bIns="0" rtlCol="0" anchor="ctr">
            <a:normAutofit/>
          </a:bodyPr>
          <a:lstStyle/>
          <a:p>
            <a:pPr marL="0" indent="0" algn="ctr">
              <a:buNone/>
            </a:pPr>
            <a:r>
              <a:rPr lang="en-US" sz="940" dirty="0">
                <a:solidFill>
                  <a:srgbClr val="58687C"/>
                </a:solidFill>
                <a:latin typeface="Aptos" pitchFamily="34" charset="0"/>
                <a:ea typeface="Aptos" pitchFamily="34" charset="-122"/>
                <a:cs typeface="Aptos" pitchFamily="34" charset="-120"/>
              </a:rPr>
              <a:t> RMSE (7.61 × 10⁻¹⁶)</a:t>
            </a:r>
            <a:endParaRPr lang="en-US" sz="940" dirty="0"/>
          </a:p>
        </p:txBody>
      </p:sp>
      <p:sp>
        <p:nvSpPr>
          <p:cNvPr id="34" name="Shape 32"/>
          <p:cNvSpPr/>
          <p:nvPr/>
        </p:nvSpPr>
        <p:spPr>
          <a:xfrm>
            <a:off x="1024128" y="4443984"/>
            <a:ext cx="10186416" cy="484632"/>
          </a:xfrm>
          <a:prstGeom prst="roundRect">
            <a:avLst>
              <a:gd name="adj" fmla="val 24528"/>
            </a:avLst>
          </a:prstGeom>
          <a:solidFill>
            <a:srgbClr val="FFF2D4"/>
          </a:solidFill>
          <a:ln w="12700">
            <a:solidFill>
              <a:srgbClr val="FFF2D4">
                <a:alpha val="0"/>
              </a:srgbClr>
            </a:solidFill>
            <a:prstDash val="solid"/>
          </a:ln>
        </p:spPr>
        <p:txBody>
          <a:bodyPr/>
          <a:lstStyle/>
          <a:p>
            <a:endParaRPr lang="nb-NO"/>
          </a:p>
        </p:txBody>
      </p:sp>
      <p:sp>
        <p:nvSpPr>
          <p:cNvPr id="35" name="Text 33"/>
          <p:cNvSpPr txBox="1"/>
          <p:nvPr/>
        </p:nvSpPr>
        <p:spPr>
          <a:xfrm>
            <a:off x="1234440" y="4562856"/>
            <a:ext cx="9784080" cy="228600"/>
          </a:xfrm>
          <a:prstGeom prst="rect">
            <a:avLst/>
          </a:prstGeom>
          <a:noFill/>
          <a:ln/>
        </p:spPr>
        <p:txBody>
          <a:bodyPr wrap="square" lIns="0" tIns="0" rIns="0" bIns="0" rtlCol="0" anchor="ctr">
            <a:normAutofit/>
          </a:bodyPr>
          <a:lstStyle/>
          <a:p>
            <a:pPr marL="0" indent="0" algn="ctr">
              <a:buNone/>
            </a:pPr>
            <a:r>
              <a:rPr lang="en-US" sz="1080" dirty="0">
                <a:solidFill>
                  <a:srgbClr val="142E53"/>
                </a:solidFill>
                <a:latin typeface="Aptos" pitchFamily="34" charset="0"/>
                <a:ea typeface="Aptos" pitchFamily="34" charset="-122"/>
                <a:cs typeface="Aptos" pitchFamily="34" charset="-120"/>
              </a:rPr>
              <a:t>Near-perfect prediction is expected: both 3D outputs are computed from the same pixels and depths with different matrices.</a:t>
            </a:r>
            <a:endParaRPr lang="en-US" sz="10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Q1</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lang="en-US" sz="2500" b="1" dirty="0">
                <a:solidFill>
                  <a:srgbClr val="142E53"/>
                </a:solidFill>
                <a:latin typeface="Aptos Display" pitchFamily="34" charset="0"/>
                <a:ea typeface="Aptos Display" pitchFamily="34" charset="-122"/>
                <a:cs typeface="Aptos Display" pitchFamily="34" charset="-120"/>
              </a:rPr>
              <a:t>Q1(e) Euclidean coordinate differences</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ctr">
              <a:buNone/>
            </a:pPr>
            <a:r>
              <a:rPr lang="en-US" sz="1000" dirty="0">
                <a:solidFill>
                  <a:srgbClr val="58687C"/>
                </a:solidFill>
                <a:latin typeface="Aptos" pitchFamily="34" charset="0"/>
                <a:ea typeface="Aptos" pitchFamily="34" charset="-122"/>
                <a:cs typeface="Aptos" pitchFamily="34" charset="-120"/>
              </a:rPr>
              <a:t>Compare direct matrix conversion and the regression-predicted coordinates</a:t>
            </a:r>
            <a:endParaRPr lang="en-US" sz="1000" dirty="0"/>
          </a:p>
        </p:txBody>
      </p:sp>
      <p:sp>
        <p:nvSpPr>
          <p:cNvPr id="7" name="Shape 5"/>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76072"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8</a:t>
            </a:r>
            <a:endParaRPr lang="en-US" sz="1100" dirty="0"/>
          </a:p>
        </p:txBody>
      </p:sp>
      <p:sp>
        <p:nvSpPr>
          <p:cNvPr id="10" name="Shape 8"/>
          <p:cNvSpPr/>
          <p:nvPr/>
        </p:nvSpPr>
        <p:spPr>
          <a:xfrm>
            <a:off x="630936" y="1289304"/>
            <a:ext cx="7397496" cy="3520440"/>
          </a:xfrm>
          <a:prstGeom prst="roundRect">
            <a:avLst>
              <a:gd name="adj" fmla="val 3377"/>
            </a:avLst>
          </a:prstGeom>
          <a:solidFill>
            <a:srgbClr val="FFFFFF"/>
          </a:solidFill>
          <a:ln w="7620">
            <a:solidFill>
              <a:srgbClr val="D7E2EE"/>
            </a:solidFill>
            <a:prstDash val="solid"/>
          </a:ln>
        </p:spPr>
        <p:txBody>
          <a:bodyPr/>
          <a:lstStyle/>
          <a:p>
            <a:endParaRPr lang="nb-NO"/>
          </a:p>
        </p:txBody>
      </p:sp>
      <p:sp>
        <p:nvSpPr>
          <p:cNvPr id="11" name="Text 9"/>
          <p:cNvSpPr txBox="1"/>
          <p:nvPr/>
        </p:nvSpPr>
        <p:spPr>
          <a:xfrm>
            <a:off x="923544" y="1527048"/>
            <a:ext cx="6812280" cy="301752"/>
          </a:xfrm>
          <a:prstGeom prst="rect">
            <a:avLst/>
          </a:prstGeom>
          <a:noFill/>
          <a:ln/>
        </p:spPr>
        <p:txBody>
          <a:bodyPr wrap="square" lIns="0" tIns="0" rIns="0" bIns="0" rtlCol="0" anchor="ctr">
            <a:normAutofit/>
          </a:bodyPr>
          <a:lstStyle/>
          <a:p>
            <a:pPr marL="0" indent="0" algn="l">
              <a:buNone/>
            </a:pPr>
            <a:r>
              <a:rPr lang="en-US" sz="1500" b="1" dirty="0">
                <a:solidFill>
                  <a:srgbClr val="142E53"/>
                </a:solidFill>
                <a:latin typeface="Aptos" pitchFamily="34" charset="0"/>
                <a:ea typeface="Aptos" pitchFamily="34" charset="-122"/>
                <a:cs typeface="Aptos" pitchFamily="34" charset="-120"/>
              </a:rPr>
              <a:t>Mean Euclidean distance [m]</a:t>
            </a:r>
            <a:endParaRPr lang="en-US" sz="1500" dirty="0"/>
          </a:p>
        </p:txBody>
      </p:sp>
      <p:sp>
        <p:nvSpPr>
          <p:cNvPr id="12" name="Text 10"/>
          <p:cNvSpPr txBox="1"/>
          <p:nvPr/>
        </p:nvSpPr>
        <p:spPr>
          <a:xfrm>
            <a:off x="932688" y="2084832"/>
            <a:ext cx="1901952" cy="329184"/>
          </a:xfrm>
          <a:prstGeom prst="rect">
            <a:avLst/>
          </a:prstGeom>
          <a:noFill/>
          <a:ln/>
        </p:spPr>
        <p:txBody>
          <a:bodyPr wrap="square" lIns="0" tIns="0" rIns="0" bIns="0" rtlCol="0" anchor="ctr">
            <a:normAutofit/>
          </a:bodyPr>
          <a:lstStyle/>
          <a:p>
            <a:pPr marL="0" indent="0" algn="l">
              <a:buNone/>
            </a:pPr>
            <a:r>
              <a:rPr lang="en-US" sz="1300" b="1" dirty="0">
                <a:solidFill>
                  <a:srgbClr val="142E53"/>
                </a:solidFill>
                <a:latin typeface="Aptos" pitchFamily="34" charset="0"/>
                <a:ea typeface="Aptos" pitchFamily="34" charset="-122"/>
                <a:cs typeface="Aptos" pitchFamily="34" charset="-120"/>
              </a:rPr>
              <a:t>o₁ vs o₂</a:t>
            </a:r>
            <a:endParaRPr lang="en-US" sz="1300" dirty="0"/>
          </a:p>
        </p:txBody>
      </p:sp>
      <p:sp>
        <p:nvSpPr>
          <p:cNvPr id="13" name="Shape 11"/>
          <p:cNvSpPr/>
          <p:nvPr/>
        </p:nvSpPr>
        <p:spPr>
          <a:xfrm>
            <a:off x="2761488" y="2176272"/>
            <a:ext cx="4123944" cy="384048"/>
          </a:xfrm>
          <a:prstGeom prst="rect">
            <a:avLst/>
          </a:prstGeom>
          <a:solidFill>
            <a:srgbClr val="EDF2F7"/>
          </a:solidFill>
          <a:ln w="12700">
            <a:solidFill>
              <a:srgbClr val="EDF2F7">
                <a:alpha val="0"/>
              </a:srgbClr>
            </a:solidFill>
            <a:prstDash val="solid"/>
          </a:ln>
        </p:spPr>
        <p:txBody>
          <a:bodyPr/>
          <a:lstStyle/>
          <a:p>
            <a:endParaRPr lang="nb-NO"/>
          </a:p>
        </p:txBody>
      </p:sp>
      <p:sp>
        <p:nvSpPr>
          <p:cNvPr id="14" name="Shape 12"/>
          <p:cNvSpPr/>
          <p:nvPr/>
        </p:nvSpPr>
        <p:spPr>
          <a:xfrm>
            <a:off x="2761488" y="2176272"/>
            <a:ext cx="3542468" cy="384048"/>
          </a:xfrm>
          <a:prstGeom prst="rect">
            <a:avLst/>
          </a:prstGeom>
          <a:solidFill>
            <a:srgbClr val="3477EF"/>
          </a:solidFill>
          <a:ln w="12700">
            <a:solidFill>
              <a:srgbClr val="3477EF">
                <a:alpha val="0"/>
              </a:srgbClr>
            </a:solidFill>
            <a:prstDash val="solid"/>
          </a:ln>
        </p:spPr>
        <p:txBody>
          <a:bodyPr/>
          <a:lstStyle/>
          <a:p>
            <a:endParaRPr lang="nb-NO"/>
          </a:p>
        </p:txBody>
      </p:sp>
      <p:sp>
        <p:nvSpPr>
          <p:cNvPr id="15" name="Text 13"/>
          <p:cNvSpPr txBox="1"/>
          <p:nvPr/>
        </p:nvSpPr>
        <p:spPr>
          <a:xfrm>
            <a:off x="7040880" y="2176272"/>
            <a:ext cx="685800" cy="384048"/>
          </a:xfrm>
          <a:prstGeom prst="rect">
            <a:avLst/>
          </a:prstGeom>
          <a:noFill/>
          <a:ln/>
        </p:spPr>
        <p:txBody>
          <a:bodyPr wrap="square" lIns="0" tIns="0" rIns="0" bIns="0" rtlCol="0" anchor="ctr">
            <a:normAutofit/>
          </a:bodyPr>
          <a:lstStyle/>
          <a:p>
            <a:pPr marL="0" indent="0" algn="l">
              <a:buNone/>
            </a:pPr>
            <a:r>
              <a:rPr lang="en-US" sz="1500" b="1" dirty="0">
                <a:solidFill>
                  <a:srgbClr val="142E53"/>
                </a:solidFill>
                <a:latin typeface="Aptos" pitchFamily="34" charset="0"/>
                <a:ea typeface="Aptos" pitchFamily="34" charset="-122"/>
                <a:cs typeface="Aptos" pitchFamily="34" charset="-120"/>
              </a:rPr>
              <a:t>1.718 m</a:t>
            </a:r>
            <a:endParaRPr lang="en-US" sz="1500" dirty="0"/>
          </a:p>
        </p:txBody>
      </p:sp>
      <p:sp>
        <p:nvSpPr>
          <p:cNvPr id="16" name="Text 14"/>
          <p:cNvSpPr txBox="1"/>
          <p:nvPr/>
        </p:nvSpPr>
        <p:spPr>
          <a:xfrm>
            <a:off x="932688" y="3209544"/>
            <a:ext cx="1901952" cy="329184"/>
          </a:xfrm>
          <a:prstGeom prst="rect">
            <a:avLst/>
          </a:prstGeom>
          <a:noFill/>
          <a:ln/>
        </p:spPr>
        <p:txBody>
          <a:bodyPr wrap="square" lIns="0" tIns="0" rIns="0" bIns="0" rtlCol="0" anchor="ctr">
            <a:normAutofit/>
          </a:bodyPr>
          <a:lstStyle/>
          <a:p>
            <a:pPr marL="0" indent="0" algn="l">
              <a:buNone/>
            </a:pPr>
            <a:r>
              <a:rPr lang="en-US" sz="1300" b="1" dirty="0">
                <a:solidFill>
                  <a:srgbClr val="142E53"/>
                </a:solidFill>
                <a:latin typeface="Aptos" pitchFamily="34" charset="0"/>
                <a:ea typeface="Aptos" pitchFamily="34" charset="-122"/>
                <a:cs typeface="Aptos" pitchFamily="34" charset="-120"/>
              </a:rPr>
              <a:t>o₁ vs o₂* (test)</a:t>
            </a:r>
            <a:endParaRPr lang="en-US" sz="1300" dirty="0"/>
          </a:p>
        </p:txBody>
      </p:sp>
      <p:sp>
        <p:nvSpPr>
          <p:cNvPr id="17" name="Shape 15"/>
          <p:cNvSpPr/>
          <p:nvPr/>
        </p:nvSpPr>
        <p:spPr>
          <a:xfrm>
            <a:off x="2761488" y="3300984"/>
            <a:ext cx="4123944" cy="384048"/>
          </a:xfrm>
          <a:prstGeom prst="rect">
            <a:avLst/>
          </a:prstGeom>
          <a:solidFill>
            <a:srgbClr val="EDF2F7"/>
          </a:solidFill>
          <a:ln w="12700">
            <a:solidFill>
              <a:srgbClr val="EDF2F7">
                <a:alpha val="0"/>
              </a:srgbClr>
            </a:solidFill>
            <a:prstDash val="solid"/>
          </a:ln>
        </p:spPr>
        <p:txBody>
          <a:bodyPr/>
          <a:lstStyle/>
          <a:p>
            <a:endParaRPr lang="nb-NO"/>
          </a:p>
        </p:txBody>
      </p:sp>
      <p:sp>
        <p:nvSpPr>
          <p:cNvPr id="18" name="Shape 16"/>
          <p:cNvSpPr/>
          <p:nvPr/>
        </p:nvSpPr>
        <p:spPr>
          <a:xfrm>
            <a:off x="2761488" y="3300984"/>
            <a:ext cx="3532158" cy="384048"/>
          </a:xfrm>
          <a:prstGeom prst="rect">
            <a:avLst/>
          </a:prstGeom>
          <a:solidFill>
            <a:srgbClr val="9B73C8"/>
          </a:solidFill>
          <a:ln w="12700">
            <a:solidFill>
              <a:srgbClr val="9B73C8">
                <a:alpha val="0"/>
              </a:srgbClr>
            </a:solidFill>
            <a:prstDash val="solid"/>
          </a:ln>
        </p:spPr>
        <p:txBody>
          <a:bodyPr/>
          <a:lstStyle/>
          <a:p>
            <a:endParaRPr lang="nb-NO"/>
          </a:p>
        </p:txBody>
      </p:sp>
      <p:sp>
        <p:nvSpPr>
          <p:cNvPr id="19" name="Text 17"/>
          <p:cNvSpPr txBox="1"/>
          <p:nvPr/>
        </p:nvSpPr>
        <p:spPr>
          <a:xfrm>
            <a:off x="7040880" y="3300984"/>
            <a:ext cx="685800" cy="384048"/>
          </a:xfrm>
          <a:prstGeom prst="rect">
            <a:avLst/>
          </a:prstGeom>
          <a:noFill/>
          <a:ln/>
        </p:spPr>
        <p:txBody>
          <a:bodyPr wrap="square" lIns="0" tIns="0" rIns="0" bIns="0" rtlCol="0" anchor="ctr">
            <a:normAutofit/>
          </a:bodyPr>
          <a:lstStyle/>
          <a:p>
            <a:pPr marL="0" indent="0" algn="l">
              <a:buNone/>
            </a:pPr>
            <a:r>
              <a:rPr lang="en-US" sz="1500" b="1" dirty="0">
                <a:solidFill>
                  <a:srgbClr val="142E53"/>
                </a:solidFill>
                <a:latin typeface="Aptos" pitchFamily="34" charset="0"/>
                <a:ea typeface="Aptos" pitchFamily="34" charset="-122"/>
                <a:cs typeface="Aptos" pitchFamily="34" charset="-120"/>
              </a:rPr>
              <a:t>1.713 m</a:t>
            </a:r>
            <a:endParaRPr lang="en-US" sz="1500" dirty="0"/>
          </a:p>
        </p:txBody>
      </p:sp>
      <p:sp>
        <p:nvSpPr>
          <p:cNvPr id="20" name="Text 18"/>
          <p:cNvSpPr txBox="1"/>
          <p:nvPr/>
        </p:nvSpPr>
        <p:spPr>
          <a:xfrm>
            <a:off x="941832" y="4407408"/>
            <a:ext cx="6766560" cy="256032"/>
          </a:xfrm>
          <a:prstGeom prst="rect">
            <a:avLst/>
          </a:prstGeom>
          <a:noFill/>
          <a:ln/>
        </p:spPr>
        <p:txBody>
          <a:bodyPr wrap="square" lIns="0" tIns="0" rIns="0" bIns="0" rtlCol="0" anchor="ctr">
            <a:normAutofit/>
          </a:bodyPr>
          <a:lstStyle/>
          <a:p>
            <a:pPr marL="0" indent="0" algn="l">
              <a:buNone/>
            </a:pPr>
            <a:r>
              <a:rPr lang="en-US" sz="960" dirty="0">
                <a:solidFill>
                  <a:srgbClr val="58687C"/>
                </a:solidFill>
                <a:latin typeface="Aptos" pitchFamily="34" charset="0"/>
                <a:ea typeface="Aptos" pitchFamily="34" charset="-122"/>
                <a:cs typeface="Aptos" pitchFamily="34" charset="-120"/>
              </a:rPr>
              <a:t>Lower is not necessarily better here: this is a difference between coordinate definitions, not ground-truth position error.</a:t>
            </a:r>
            <a:endParaRPr lang="en-US" sz="960" dirty="0"/>
          </a:p>
        </p:txBody>
      </p:sp>
      <p:sp>
        <p:nvSpPr>
          <p:cNvPr id="27" name="Shape 25"/>
          <p:cNvSpPr/>
          <p:nvPr/>
        </p:nvSpPr>
        <p:spPr>
          <a:xfrm>
            <a:off x="8284464" y="1719072"/>
            <a:ext cx="3374136" cy="1197864"/>
          </a:xfrm>
          <a:prstGeom prst="roundRect">
            <a:avLst>
              <a:gd name="adj" fmla="val 9924"/>
            </a:avLst>
          </a:prstGeom>
          <a:solidFill>
            <a:srgbClr val="E1F5EF"/>
          </a:solidFill>
          <a:ln w="12700">
            <a:solidFill>
              <a:srgbClr val="E1F5EF">
                <a:alpha val="0"/>
              </a:srgbClr>
            </a:solidFill>
            <a:prstDash val="solid"/>
          </a:ln>
        </p:spPr>
        <p:txBody>
          <a:bodyPr/>
          <a:lstStyle/>
          <a:p>
            <a:endParaRPr lang="nb-NO"/>
          </a:p>
        </p:txBody>
      </p:sp>
      <p:sp>
        <p:nvSpPr>
          <p:cNvPr id="28" name="Text 26"/>
          <p:cNvSpPr txBox="1"/>
          <p:nvPr/>
        </p:nvSpPr>
        <p:spPr>
          <a:xfrm>
            <a:off x="8412480" y="1975104"/>
            <a:ext cx="2962656" cy="201168"/>
          </a:xfrm>
          <a:prstGeom prst="rect">
            <a:avLst/>
          </a:prstGeom>
          <a:noFill/>
          <a:ln/>
        </p:spPr>
        <p:txBody>
          <a:bodyPr wrap="square" lIns="0" tIns="0" rIns="0" bIns="0" rtlCol="0" anchor="ctr">
            <a:normAutofit/>
          </a:bodyPr>
          <a:lstStyle/>
          <a:p>
            <a:pPr marL="0" indent="0" algn="l">
              <a:buNone/>
            </a:pPr>
            <a:r>
              <a:rPr lang="en-US" sz="1200" b="1" dirty="0">
                <a:solidFill>
                  <a:srgbClr val="142E53"/>
                </a:solidFill>
                <a:latin typeface="Aptos" pitchFamily="34" charset="0"/>
                <a:ea typeface="Aptos" pitchFamily="34" charset="-122"/>
                <a:cs typeface="Aptos" pitchFamily="34" charset="-120"/>
              </a:rPr>
              <a:t>Interpretation</a:t>
            </a:r>
            <a:endParaRPr lang="en-US" sz="1200" dirty="0"/>
          </a:p>
        </p:txBody>
      </p:sp>
      <p:sp>
        <p:nvSpPr>
          <p:cNvPr id="29" name="Text 27"/>
          <p:cNvSpPr txBox="1"/>
          <p:nvPr/>
        </p:nvSpPr>
        <p:spPr>
          <a:xfrm>
            <a:off x="8412480" y="2286000"/>
            <a:ext cx="2953512" cy="502920"/>
          </a:xfrm>
          <a:prstGeom prst="rect">
            <a:avLst/>
          </a:prstGeom>
          <a:noFill/>
          <a:ln/>
        </p:spPr>
        <p:txBody>
          <a:bodyPr wrap="square" lIns="0" tIns="0" rIns="0" bIns="0" rtlCol="0" anchor="t">
            <a:normAutofit/>
          </a:bodyPr>
          <a:lstStyle/>
          <a:p>
            <a:pPr marL="0" indent="0" algn="l">
              <a:buNone/>
            </a:pPr>
            <a:r>
              <a:rPr lang="en-US" sz="1100" dirty="0">
                <a:solidFill>
                  <a:srgbClr val="24334A"/>
                </a:solidFill>
                <a:latin typeface="Aptos" pitchFamily="34" charset="0"/>
                <a:ea typeface="Aptos" pitchFamily="34" charset="-122"/>
                <a:cs typeface="Aptos" pitchFamily="34" charset="-120"/>
              </a:rPr>
              <a:t>The two means are similar because regression reproduces o₂ very closely.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Q2</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lang="en-US" sz="2500" b="1" dirty="0">
                <a:solidFill>
                  <a:srgbClr val="142E53"/>
                </a:solidFill>
                <a:latin typeface="Aptos Display" pitchFamily="34" charset="0"/>
                <a:ea typeface="Aptos Display" pitchFamily="34" charset="-122"/>
                <a:cs typeface="Aptos Display" pitchFamily="34" charset="-120"/>
              </a:rPr>
              <a:t>Q2(a) LiDAR swinging-load tracking</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ctr">
              <a:buNone/>
            </a:pPr>
            <a:r>
              <a:rPr lang="en-US" sz="1000" dirty="0">
                <a:solidFill>
                  <a:srgbClr val="58687C"/>
                </a:solidFill>
                <a:latin typeface="Aptos" pitchFamily="34" charset="0"/>
                <a:ea typeface="Aptos" pitchFamily="34" charset="-122"/>
                <a:cs typeface="Aptos" pitchFamily="34" charset="-120"/>
              </a:rPr>
              <a:t>Ouster OS-1 point clouds → DBSCAN clusters → load centroid trajectory</a:t>
            </a:r>
            <a:endParaRPr lang="en-US" sz="1000" dirty="0"/>
          </a:p>
        </p:txBody>
      </p:sp>
      <p:sp>
        <p:nvSpPr>
          <p:cNvPr id="7" name="Shape 5"/>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76072"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9</a:t>
            </a:r>
            <a:endParaRPr lang="en-US" sz="1100" dirty="0"/>
          </a:p>
        </p:txBody>
      </p:sp>
      <p:sp>
        <p:nvSpPr>
          <p:cNvPr id="10" name="Shape 8"/>
          <p:cNvSpPr/>
          <p:nvPr/>
        </p:nvSpPr>
        <p:spPr>
          <a:xfrm>
            <a:off x="603504" y="1188720"/>
            <a:ext cx="4663440" cy="3858768"/>
          </a:xfrm>
          <a:prstGeom prst="roundRect">
            <a:avLst>
              <a:gd name="adj" fmla="val 3081"/>
            </a:avLst>
          </a:prstGeom>
          <a:solidFill>
            <a:srgbClr val="E1F5EF"/>
          </a:solidFill>
          <a:ln w="12700">
            <a:solidFill>
              <a:srgbClr val="E1F5EF">
                <a:alpha val="0"/>
              </a:srgbClr>
            </a:solidFill>
            <a:prstDash val="solid"/>
          </a:ln>
        </p:spPr>
        <p:txBody>
          <a:bodyPr/>
          <a:lstStyle/>
          <a:p>
            <a:endParaRPr lang="nb-NO"/>
          </a:p>
        </p:txBody>
      </p:sp>
      <p:sp>
        <p:nvSpPr>
          <p:cNvPr id="11" name="Shape 9"/>
          <p:cNvSpPr/>
          <p:nvPr/>
        </p:nvSpPr>
        <p:spPr>
          <a:xfrm>
            <a:off x="804672" y="1389888"/>
            <a:ext cx="4261104" cy="740664"/>
          </a:xfrm>
          <a:prstGeom prst="roundRect">
            <a:avLst>
              <a:gd name="adj" fmla="val 16049"/>
            </a:avLst>
          </a:prstGeom>
          <a:solidFill>
            <a:srgbClr val="FFFFFF"/>
          </a:solidFill>
          <a:ln w="12700">
            <a:solidFill>
              <a:srgbClr val="FFFFFF">
                <a:alpha val="0"/>
              </a:srgbClr>
            </a:solidFill>
            <a:prstDash val="solid"/>
          </a:ln>
        </p:spPr>
        <p:txBody>
          <a:bodyPr/>
          <a:lstStyle/>
          <a:p>
            <a:endParaRPr lang="nb-NO"/>
          </a:p>
        </p:txBody>
      </p:sp>
      <p:sp>
        <p:nvSpPr>
          <p:cNvPr id="12" name="Shape 10"/>
          <p:cNvSpPr/>
          <p:nvPr/>
        </p:nvSpPr>
        <p:spPr>
          <a:xfrm>
            <a:off x="960120" y="1554480"/>
            <a:ext cx="393192" cy="393192"/>
          </a:xfrm>
          <a:prstGeom prst="ellipse">
            <a:avLst/>
          </a:prstGeom>
          <a:solidFill>
            <a:srgbClr val="15A68C"/>
          </a:solidFill>
          <a:ln w="12700">
            <a:solidFill>
              <a:srgbClr val="15A68C">
                <a:alpha val="0"/>
              </a:srgbClr>
            </a:solidFill>
            <a:prstDash val="solid"/>
          </a:ln>
        </p:spPr>
        <p:txBody>
          <a:bodyPr/>
          <a:lstStyle/>
          <a:p>
            <a:endParaRPr lang="nb-NO"/>
          </a:p>
        </p:txBody>
      </p:sp>
      <p:sp>
        <p:nvSpPr>
          <p:cNvPr id="13" name="Text 11"/>
          <p:cNvSpPr txBox="1"/>
          <p:nvPr/>
        </p:nvSpPr>
        <p:spPr>
          <a:xfrm>
            <a:off x="969264" y="1572768"/>
            <a:ext cx="356616" cy="32004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14" name="Text 12"/>
          <p:cNvSpPr txBox="1"/>
          <p:nvPr/>
        </p:nvSpPr>
        <p:spPr>
          <a:xfrm>
            <a:off x="1517904" y="1490472"/>
            <a:ext cx="3310128" cy="274320"/>
          </a:xfrm>
          <a:prstGeom prst="rect">
            <a:avLst/>
          </a:prstGeom>
          <a:noFill/>
          <a:ln/>
        </p:spPr>
        <p:txBody>
          <a:bodyPr wrap="square" lIns="0" tIns="0" rIns="0" bIns="0" rtlCol="0" anchor="ctr">
            <a:normAutofit/>
          </a:bodyPr>
          <a:lstStyle/>
          <a:p>
            <a:pPr marL="0" indent="0" algn="l">
              <a:buNone/>
            </a:pPr>
            <a:r>
              <a:rPr lang="en-US" sz="1300" b="1" dirty="0">
                <a:solidFill>
                  <a:srgbClr val="142E53"/>
                </a:solidFill>
                <a:latin typeface="Aptos" pitchFamily="34" charset="0"/>
                <a:ea typeface="Aptos" pitchFamily="34" charset="-122"/>
                <a:cs typeface="Aptos" pitchFamily="34" charset="-120"/>
              </a:rPr>
              <a:t>Decode scans</a:t>
            </a:r>
            <a:endParaRPr lang="en-US" sz="1300" dirty="0"/>
          </a:p>
        </p:txBody>
      </p:sp>
      <p:sp>
        <p:nvSpPr>
          <p:cNvPr id="15" name="Text 13"/>
          <p:cNvSpPr txBox="1"/>
          <p:nvPr/>
        </p:nvSpPr>
        <p:spPr>
          <a:xfrm>
            <a:off x="1517904" y="1810512"/>
            <a:ext cx="3291840" cy="201168"/>
          </a:xfrm>
          <a:prstGeom prst="rect">
            <a:avLst/>
          </a:prstGeom>
          <a:noFill/>
          <a:ln/>
        </p:spPr>
        <p:txBody>
          <a:bodyPr wrap="square" lIns="0" tIns="0" rIns="0" bIns="0" rtlCol="0" anchor="ctr">
            <a:normAutofit/>
          </a:bodyPr>
          <a:lstStyle/>
          <a:p>
            <a:pPr marL="0" indent="0" algn="l">
              <a:buNone/>
            </a:pPr>
            <a:r>
              <a:rPr lang="en-US" sz="1000" dirty="0">
                <a:solidFill>
                  <a:srgbClr val="58687C"/>
                </a:solidFill>
                <a:latin typeface="Aptos" pitchFamily="34" charset="0"/>
                <a:ea typeface="Aptos" pitchFamily="34" charset="-122"/>
                <a:cs typeface="Aptos" pitchFamily="34" charset="-120"/>
              </a:rPr>
              <a:t>Use Ouster metadata + complete scans</a:t>
            </a:r>
            <a:endParaRPr lang="en-US" sz="1000" dirty="0"/>
          </a:p>
        </p:txBody>
      </p:sp>
      <p:sp>
        <p:nvSpPr>
          <p:cNvPr id="16" name="Shape 14"/>
          <p:cNvSpPr/>
          <p:nvPr/>
        </p:nvSpPr>
        <p:spPr>
          <a:xfrm>
            <a:off x="804672" y="2276856"/>
            <a:ext cx="4261104" cy="740664"/>
          </a:xfrm>
          <a:prstGeom prst="roundRect">
            <a:avLst>
              <a:gd name="adj" fmla="val 16049"/>
            </a:avLst>
          </a:prstGeom>
          <a:solidFill>
            <a:srgbClr val="FFFFFF"/>
          </a:solidFill>
          <a:ln w="12700">
            <a:solidFill>
              <a:srgbClr val="FFFFFF">
                <a:alpha val="0"/>
              </a:srgbClr>
            </a:solidFill>
            <a:prstDash val="solid"/>
          </a:ln>
        </p:spPr>
        <p:txBody>
          <a:bodyPr/>
          <a:lstStyle/>
          <a:p>
            <a:endParaRPr lang="nb-NO"/>
          </a:p>
        </p:txBody>
      </p:sp>
      <p:sp>
        <p:nvSpPr>
          <p:cNvPr id="17" name="Shape 15"/>
          <p:cNvSpPr/>
          <p:nvPr/>
        </p:nvSpPr>
        <p:spPr>
          <a:xfrm>
            <a:off x="960120" y="2441448"/>
            <a:ext cx="393192" cy="393192"/>
          </a:xfrm>
          <a:prstGeom prst="ellipse">
            <a:avLst/>
          </a:prstGeom>
          <a:solidFill>
            <a:srgbClr val="15A68C"/>
          </a:solidFill>
          <a:ln w="12700">
            <a:solidFill>
              <a:srgbClr val="15A68C">
                <a:alpha val="0"/>
              </a:srgbClr>
            </a:solidFill>
            <a:prstDash val="solid"/>
          </a:ln>
        </p:spPr>
        <p:txBody>
          <a:bodyPr/>
          <a:lstStyle/>
          <a:p>
            <a:endParaRPr lang="nb-NO"/>
          </a:p>
        </p:txBody>
      </p:sp>
      <p:sp>
        <p:nvSpPr>
          <p:cNvPr id="18" name="Text 16"/>
          <p:cNvSpPr txBox="1"/>
          <p:nvPr/>
        </p:nvSpPr>
        <p:spPr>
          <a:xfrm>
            <a:off x="969264" y="2459736"/>
            <a:ext cx="356616" cy="32004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9" name="Text 17"/>
          <p:cNvSpPr txBox="1"/>
          <p:nvPr/>
        </p:nvSpPr>
        <p:spPr>
          <a:xfrm>
            <a:off x="1517904" y="2377440"/>
            <a:ext cx="3310128" cy="274320"/>
          </a:xfrm>
          <a:prstGeom prst="rect">
            <a:avLst/>
          </a:prstGeom>
          <a:noFill/>
          <a:ln/>
        </p:spPr>
        <p:txBody>
          <a:bodyPr wrap="square" lIns="0" tIns="0" rIns="0" bIns="0" rtlCol="0" anchor="ctr">
            <a:normAutofit/>
          </a:bodyPr>
          <a:lstStyle/>
          <a:p>
            <a:pPr marL="0" indent="0" algn="l">
              <a:buNone/>
            </a:pPr>
            <a:r>
              <a:rPr lang="en-US" sz="1300" b="1" dirty="0">
                <a:solidFill>
                  <a:srgbClr val="142E53"/>
                </a:solidFill>
                <a:latin typeface="Aptos" pitchFamily="34" charset="0"/>
                <a:ea typeface="Aptos" pitchFamily="34" charset="-122"/>
                <a:cs typeface="Aptos" pitchFamily="34" charset="-120"/>
              </a:rPr>
              <a:t>Crop 3D region</a:t>
            </a:r>
            <a:endParaRPr lang="en-US" sz="1300" dirty="0"/>
          </a:p>
        </p:txBody>
      </p:sp>
      <p:sp>
        <p:nvSpPr>
          <p:cNvPr id="20" name="Text 18"/>
          <p:cNvSpPr txBox="1"/>
          <p:nvPr/>
        </p:nvSpPr>
        <p:spPr>
          <a:xfrm>
            <a:off x="1517904" y="2697480"/>
            <a:ext cx="3291840" cy="201168"/>
          </a:xfrm>
          <a:prstGeom prst="rect">
            <a:avLst/>
          </a:prstGeom>
          <a:noFill/>
          <a:ln/>
        </p:spPr>
        <p:txBody>
          <a:bodyPr wrap="square" lIns="0" tIns="0" rIns="0" bIns="0" rtlCol="0" anchor="ctr">
            <a:normAutofit/>
          </a:bodyPr>
          <a:lstStyle/>
          <a:p>
            <a:pPr marL="0" indent="0" algn="l">
              <a:buNone/>
            </a:pPr>
            <a:r>
              <a:rPr lang="en-US" sz="1000" dirty="0">
                <a:solidFill>
                  <a:srgbClr val="58687C"/>
                </a:solidFill>
                <a:latin typeface="Aptos" pitchFamily="34" charset="0"/>
                <a:ea typeface="Aptos" pitchFamily="34" charset="-122"/>
                <a:cs typeface="Aptos" pitchFamily="34" charset="-120"/>
              </a:rPr>
              <a:t>Keep plausible load points</a:t>
            </a:r>
            <a:endParaRPr lang="en-US" sz="1000" dirty="0"/>
          </a:p>
        </p:txBody>
      </p:sp>
      <p:sp>
        <p:nvSpPr>
          <p:cNvPr id="21" name="Shape 19"/>
          <p:cNvSpPr/>
          <p:nvPr/>
        </p:nvSpPr>
        <p:spPr>
          <a:xfrm>
            <a:off x="804672" y="3163824"/>
            <a:ext cx="4261104" cy="740664"/>
          </a:xfrm>
          <a:prstGeom prst="roundRect">
            <a:avLst>
              <a:gd name="adj" fmla="val 16049"/>
            </a:avLst>
          </a:prstGeom>
          <a:solidFill>
            <a:srgbClr val="FFFFFF"/>
          </a:solidFill>
          <a:ln w="12700">
            <a:solidFill>
              <a:srgbClr val="FFFFFF">
                <a:alpha val="0"/>
              </a:srgbClr>
            </a:solidFill>
            <a:prstDash val="solid"/>
          </a:ln>
        </p:spPr>
        <p:txBody>
          <a:bodyPr/>
          <a:lstStyle/>
          <a:p>
            <a:endParaRPr lang="nb-NO"/>
          </a:p>
        </p:txBody>
      </p:sp>
      <p:sp>
        <p:nvSpPr>
          <p:cNvPr id="22" name="Shape 20"/>
          <p:cNvSpPr/>
          <p:nvPr/>
        </p:nvSpPr>
        <p:spPr>
          <a:xfrm>
            <a:off x="960120" y="3328416"/>
            <a:ext cx="393192" cy="393192"/>
          </a:xfrm>
          <a:prstGeom prst="ellipse">
            <a:avLst/>
          </a:prstGeom>
          <a:solidFill>
            <a:srgbClr val="15A68C"/>
          </a:solidFill>
          <a:ln w="12700">
            <a:solidFill>
              <a:srgbClr val="15A68C">
                <a:alpha val="0"/>
              </a:srgbClr>
            </a:solidFill>
            <a:prstDash val="solid"/>
          </a:ln>
        </p:spPr>
        <p:txBody>
          <a:bodyPr/>
          <a:lstStyle/>
          <a:p>
            <a:endParaRPr lang="nb-NO"/>
          </a:p>
        </p:txBody>
      </p:sp>
      <p:sp>
        <p:nvSpPr>
          <p:cNvPr id="23" name="Text 21"/>
          <p:cNvSpPr txBox="1"/>
          <p:nvPr/>
        </p:nvSpPr>
        <p:spPr>
          <a:xfrm>
            <a:off x="969264" y="3346704"/>
            <a:ext cx="356616" cy="32004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24" name="Text 22"/>
          <p:cNvSpPr txBox="1"/>
          <p:nvPr/>
        </p:nvSpPr>
        <p:spPr>
          <a:xfrm>
            <a:off x="1517904" y="3264408"/>
            <a:ext cx="3310128" cy="274320"/>
          </a:xfrm>
          <a:prstGeom prst="rect">
            <a:avLst/>
          </a:prstGeom>
          <a:noFill/>
          <a:ln/>
        </p:spPr>
        <p:txBody>
          <a:bodyPr wrap="square" lIns="0" tIns="0" rIns="0" bIns="0" rtlCol="0" anchor="ctr">
            <a:normAutofit/>
          </a:bodyPr>
          <a:lstStyle/>
          <a:p>
            <a:pPr marL="0" indent="0" algn="l">
              <a:buNone/>
            </a:pPr>
            <a:r>
              <a:rPr lang="en-US" sz="1300" b="1" dirty="0">
                <a:solidFill>
                  <a:srgbClr val="142E53"/>
                </a:solidFill>
                <a:latin typeface="Aptos" pitchFamily="34" charset="0"/>
                <a:ea typeface="Aptos" pitchFamily="34" charset="-122"/>
                <a:cs typeface="Aptos" pitchFamily="34" charset="-120"/>
              </a:rPr>
              <a:t>DBSCAN</a:t>
            </a:r>
            <a:endParaRPr lang="en-US" sz="1300" dirty="0"/>
          </a:p>
        </p:txBody>
      </p:sp>
      <p:sp>
        <p:nvSpPr>
          <p:cNvPr id="25" name="Text 23"/>
          <p:cNvSpPr txBox="1"/>
          <p:nvPr/>
        </p:nvSpPr>
        <p:spPr>
          <a:xfrm>
            <a:off x="1517904" y="3584448"/>
            <a:ext cx="3291840" cy="201168"/>
          </a:xfrm>
          <a:prstGeom prst="rect">
            <a:avLst/>
          </a:prstGeom>
          <a:noFill/>
          <a:ln/>
        </p:spPr>
        <p:txBody>
          <a:bodyPr wrap="square" lIns="0" tIns="0" rIns="0" bIns="0" rtlCol="0" anchor="ctr">
            <a:normAutofit/>
          </a:bodyPr>
          <a:lstStyle/>
          <a:p>
            <a:pPr marL="0" indent="0" algn="l">
              <a:buNone/>
            </a:pPr>
            <a:r>
              <a:rPr lang="en-US" sz="1000" dirty="0">
                <a:solidFill>
                  <a:srgbClr val="58687C"/>
                </a:solidFill>
                <a:latin typeface="Aptos" pitchFamily="34" charset="0"/>
                <a:ea typeface="Aptos" pitchFamily="34" charset="-122"/>
                <a:cs typeface="Aptos" pitchFamily="34" charset="-120"/>
              </a:rPr>
              <a:t>Find compact moving cluster</a:t>
            </a:r>
            <a:endParaRPr lang="en-US" sz="1000" dirty="0"/>
          </a:p>
        </p:txBody>
      </p:sp>
      <p:sp>
        <p:nvSpPr>
          <p:cNvPr id="26" name="Shape 24"/>
          <p:cNvSpPr/>
          <p:nvPr/>
        </p:nvSpPr>
        <p:spPr>
          <a:xfrm>
            <a:off x="804672" y="4050792"/>
            <a:ext cx="4261104" cy="740664"/>
          </a:xfrm>
          <a:prstGeom prst="roundRect">
            <a:avLst>
              <a:gd name="adj" fmla="val 16049"/>
            </a:avLst>
          </a:prstGeom>
          <a:solidFill>
            <a:srgbClr val="FFFFFF"/>
          </a:solidFill>
          <a:ln w="12700">
            <a:solidFill>
              <a:srgbClr val="FFFFFF">
                <a:alpha val="0"/>
              </a:srgbClr>
            </a:solidFill>
            <a:prstDash val="solid"/>
          </a:ln>
        </p:spPr>
        <p:txBody>
          <a:bodyPr/>
          <a:lstStyle/>
          <a:p>
            <a:endParaRPr lang="nb-NO"/>
          </a:p>
        </p:txBody>
      </p:sp>
      <p:sp>
        <p:nvSpPr>
          <p:cNvPr id="27" name="Shape 25"/>
          <p:cNvSpPr/>
          <p:nvPr/>
        </p:nvSpPr>
        <p:spPr>
          <a:xfrm>
            <a:off x="960120" y="4215384"/>
            <a:ext cx="393192" cy="393192"/>
          </a:xfrm>
          <a:prstGeom prst="ellipse">
            <a:avLst/>
          </a:prstGeom>
          <a:solidFill>
            <a:srgbClr val="15A68C"/>
          </a:solidFill>
          <a:ln w="12700">
            <a:solidFill>
              <a:srgbClr val="15A68C">
                <a:alpha val="0"/>
              </a:srgbClr>
            </a:solidFill>
            <a:prstDash val="solid"/>
          </a:ln>
        </p:spPr>
        <p:txBody>
          <a:bodyPr/>
          <a:lstStyle/>
          <a:p>
            <a:endParaRPr lang="nb-NO"/>
          </a:p>
        </p:txBody>
      </p:sp>
      <p:sp>
        <p:nvSpPr>
          <p:cNvPr id="28" name="Text 26"/>
          <p:cNvSpPr txBox="1"/>
          <p:nvPr/>
        </p:nvSpPr>
        <p:spPr>
          <a:xfrm>
            <a:off x="969264" y="4233672"/>
            <a:ext cx="356616" cy="32004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9" name="Text 27"/>
          <p:cNvSpPr txBox="1"/>
          <p:nvPr/>
        </p:nvSpPr>
        <p:spPr>
          <a:xfrm>
            <a:off x="1517904" y="4151376"/>
            <a:ext cx="3310128" cy="274320"/>
          </a:xfrm>
          <a:prstGeom prst="rect">
            <a:avLst/>
          </a:prstGeom>
          <a:noFill/>
          <a:ln/>
        </p:spPr>
        <p:txBody>
          <a:bodyPr wrap="square" lIns="0" tIns="0" rIns="0" bIns="0" rtlCol="0" anchor="ctr">
            <a:normAutofit/>
          </a:bodyPr>
          <a:lstStyle/>
          <a:p>
            <a:pPr marL="0" indent="0" algn="l">
              <a:buNone/>
            </a:pPr>
            <a:r>
              <a:rPr lang="en-US" sz="1300" b="1" dirty="0">
                <a:solidFill>
                  <a:srgbClr val="142E53"/>
                </a:solidFill>
                <a:latin typeface="Aptos" pitchFamily="34" charset="0"/>
                <a:ea typeface="Aptos" pitchFamily="34" charset="-122"/>
                <a:cs typeface="Aptos" pitchFamily="34" charset="-120"/>
              </a:rPr>
              <a:t>Track centroid</a:t>
            </a:r>
            <a:endParaRPr lang="en-US" sz="1300" dirty="0"/>
          </a:p>
        </p:txBody>
      </p:sp>
      <p:sp>
        <p:nvSpPr>
          <p:cNvPr id="30" name="Text 28"/>
          <p:cNvSpPr txBox="1"/>
          <p:nvPr/>
        </p:nvSpPr>
        <p:spPr>
          <a:xfrm>
            <a:off x="1517904" y="4471416"/>
            <a:ext cx="3291840" cy="201168"/>
          </a:xfrm>
          <a:prstGeom prst="rect">
            <a:avLst/>
          </a:prstGeom>
          <a:noFill/>
          <a:ln/>
        </p:spPr>
        <p:txBody>
          <a:bodyPr wrap="square" lIns="0" tIns="0" rIns="0" bIns="0" rtlCol="0" anchor="ctr">
            <a:normAutofit/>
          </a:bodyPr>
          <a:lstStyle/>
          <a:p>
            <a:pPr marL="0" indent="0" algn="l">
              <a:buNone/>
            </a:pPr>
            <a:r>
              <a:rPr lang="en-US" sz="1000" dirty="0">
                <a:solidFill>
                  <a:srgbClr val="58687C"/>
                </a:solidFill>
                <a:latin typeface="Aptos" pitchFamily="34" charset="0"/>
                <a:ea typeface="Aptos" pitchFamily="34" charset="-122"/>
                <a:cs typeface="Aptos" pitchFamily="34" charset="-120"/>
              </a:rPr>
              <a:t>Mean XYZ across scans</a:t>
            </a:r>
            <a:endParaRPr lang="en-US" sz="1000" dirty="0"/>
          </a:p>
        </p:txBody>
      </p:sp>
      <p:sp>
        <p:nvSpPr>
          <p:cNvPr id="31" name="Shape 29"/>
          <p:cNvSpPr/>
          <p:nvPr/>
        </p:nvSpPr>
        <p:spPr>
          <a:xfrm>
            <a:off x="5449824" y="1188720"/>
            <a:ext cx="6144768" cy="3858768"/>
          </a:xfrm>
          <a:prstGeom prst="roundRect">
            <a:avLst>
              <a:gd name="adj" fmla="val 3081"/>
            </a:avLst>
          </a:prstGeom>
          <a:solidFill>
            <a:srgbClr val="FFFFFF"/>
          </a:solidFill>
          <a:ln w="7620">
            <a:solidFill>
              <a:srgbClr val="D7E2EE"/>
            </a:solidFill>
            <a:prstDash val="solid"/>
          </a:ln>
        </p:spPr>
        <p:txBody>
          <a:bodyPr/>
          <a:lstStyle/>
          <a:p>
            <a:endParaRPr lang="nb-NO"/>
          </a:p>
        </p:txBody>
      </p:sp>
      <p:sp>
        <p:nvSpPr>
          <p:cNvPr id="32" name="Shape 30"/>
          <p:cNvSpPr/>
          <p:nvPr/>
        </p:nvSpPr>
        <p:spPr>
          <a:xfrm>
            <a:off x="5577840" y="1298448"/>
            <a:ext cx="2651760" cy="274320"/>
          </a:xfrm>
          <a:prstGeom prst="roundRect">
            <a:avLst>
              <a:gd name="adj" fmla="val 43333"/>
            </a:avLst>
          </a:prstGeom>
          <a:solidFill>
            <a:srgbClr val="EFE8FA"/>
          </a:solidFill>
          <a:ln w="12700">
            <a:solidFill>
              <a:srgbClr val="EFE8FA">
                <a:alpha val="0"/>
              </a:srgbClr>
            </a:solidFill>
            <a:prstDash val="solid"/>
          </a:ln>
        </p:spPr>
        <p:txBody>
          <a:bodyPr/>
          <a:lstStyle/>
          <a:p>
            <a:endParaRPr lang="nb-NO"/>
          </a:p>
        </p:txBody>
      </p:sp>
      <p:sp>
        <p:nvSpPr>
          <p:cNvPr id="33" name="Text 31"/>
          <p:cNvSpPr txBox="1"/>
          <p:nvPr/>
        </p:nvSpPr>
        <p:spPr>
          <a:xfrm>
            <a:off x="5632704" y="1307592"/>
            <a:ext cx="2542032" cy="25603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Tracked load centroid (3D)</a:t>
            </a:r>
            <a:endParaRPr lang="en-US" sz="1000" dirty="0"/>
          </a:p>
        </p:txBody>
      </p:sp>
      <p:pic>
        <p:nvPicPr>
          <p:cNvPr id="34" name="Image 0" descr="/mnt/data/ppt_work/notebook_assets/cell_38_0.png"/>
          <p:cNvPicPr>
            <a:picLocks noChangeAspect="1"/>
          </p:cNvPicPr>
          <p:nvPr/>
        </p:nvPicPr>
        <p:blipFill>
          <a:blip r:embed="rId3"/>
          <a:stretch>
            <a:fillRect/>
          </a:stretch>
        </p:blipFill>
        <p:spPr>
          <a:xfrm>
            <a:off x="6880032" y="1627632"/>
            <a:ext cx="3284353" cy="3337560"/>
          </a:xfrm>
          <a:prstGeom prst="rect">
            <a:avLst/>
          </a:prstGeom>
        </p:spPr>
      </p:pic>
      <p:sp>
        <p:nvSpPr>
          <p:cNvPr id="35" name="Shape 32"/>
          <p:cNvSpPr/>
          <p:nvPr/>
        </p:nvSpPr>
        <p:spPr>
          <a:xfrm>
            <a:off x="795528" y="5138928"/>
            <a:ext cx="2176272" cy="219456"/>
          </a:xfrm>
          <a:prstGeom prst="roundRect">
            <a:avLst>
              <a:gd name="adj" fmla="val 54167"/>
            </a:avLst>
          </a:prstGeom>
          <a:solidFill>
            <a:srgbClr val="FFFFFF"/>
          </a:solidFill>
          <a:ln w="12700">
            <a:solidFill>
              <a:srgbClr val="FFFFFF">
                <a:alpha val="0"/>
              </a:srgbClr>
            </a:solidFill>
            <a:prstDash val="solid"/>
          </a:ln>
        </p:spPr>
        <p:txBody>
          <a:bodyPr/>
          <a:lstStyle/>
          <a:p>
            <a:endParaRPr lang="nb-NO"/>
          </a:p>
        </p:txBody>
      </p:sp>
      <p:sp>
        <p:nvSpPr>
          <p:cNvPr id="36" name="Text 33"/>
          <p:cNvSpPr txBox="1"/>
          <p:nvPr/>
        </p:nvSpPr>
        <p:spPr>
          <a:xfrm>
            <a:off x="850392" y="5148072"/>
            <a:ext cx="2066544" cy="201168"/>
          </a:xfrm>
          <a:prstGeom prst="rect">
            <a:avLst/>
          </a:prstGeom>
          <a:noFill/>
          <a:ln/>
        </p:spPr>
        <p:txBody>
          <a:bodyPr wrap="square" lIns="0" tIns="0" rIns="0" bIns="0" rtlCol="0" anchor="ctr">
            <a:normAutofit/>
          </a:bodyPr>
          <a:lstStyle/>
          <a:p>
            <a:pPr marL="0" indent="0" algn="ctr">
              <a:buNone/>
            </a:pPr>
            <a:r>
              <a:rPr lang="en-US" sz="1000" b="1" dirty="0">
                <a:solidFill>
                  <a:srgbClr val="15A68C"/>
                </a:solidFill>
                <a:latin typeface="Aptos" pitchFamily="34" charset="0"/>
                <a:ea typeface="Aptos" pitchFamily="34" charset="-122"/>
                <a:cs typeface="Aptos" pitchFamily="34" charset="-120"/>
              </a:rPr>
              <a:t>99 complete scans</a:t>
            </a:r>
            <a:endParaRPr lang="en-US" sz="1000" dirty="0"/>
          </a:p>
        </p:txBody>
      </p:sp>
      <p:sp>
        <p:nvSpPr>
          <p:cNvPr id="37" name="Shape 34"/>
          <p:cNvSpPr/>
          <p:nvPr/>
        </p:nvSpPr>
        <p:spPr>
          <a:xfrm>
            <a:off x="3035808" y="5138928"/>
            <a:ext cx="2286000" cy="219456"/>
          </a:xfrm>
          <a:prstGeom prst="roundRect">
            <a:avLst>
              <a:gd name="adj" fmla="val 54167"/>
            </a:avLst>
          </a:prstGeom>
          <a:solidFill>
            <a:srgbClr val="FFFFFF"/>
          </a:solidFill>
          <a:ln w="12700">
            <a:solidFill>
              <a:srgbClr val="FFFFFF">
                <a:alpha val="0"/>
              </a:srgbClr>
            </a:solidFill>
            <a:prstDash val="solid"/>
          </a:ln>
        </p:spPr>
        <p:txBody>
          <a:bodyPr/>
          <a:lstStyle/>
          <a:p>
            <a:endParaRPr lang="nb-NO"/>
          </a:p>
        </p:txBody>
      </p:sp>
      <p:sp>
        <p:nvSpPr>
          <p:cNvPr id="38" name="Text 35"/>
          <p:cNvSpPr txBox="1"/>
          <p:nvPr/>
        </p:nvSpPr>
        <p:spPr>
          <a:xfrm>
            <a:off x="3090672" y="5148072"/>
            <a:ext cx="2176272" cy="201168"/>
          </a:xfrm>
          <a:prstGeom prst="rect">
            <a:avLst/>
          </a:prstGeom>
          <a:noFill/>
          <a:ln/>
        </p:spPr>
        <p:txBody>
          <a:bodyPr wrap="square" lIns="0" tIns="0" rIns="0" bIns="0" rtlCol="0" anchor="ctr">
            <a:normAutofit/>
          </a:bodyPr>
          <a:lstStyle/>
          <a:p>
            <a:pPr marL="0" indent="0" algn="ctr">
              <a:buNone/>
            </a:pPr>
            <a:r>
              <a:rPr lang="en-US" sz="1000" b="1" dirty="0">
                <a:solidFill>
                  <a:srgbClr val="15A68C"/>
                </a:solidFill>
                <a:latin typeface="Aptos" pitchFamily="34" charset="0"/>
                <a:ea typeface="Aptos" pitchFamily="34" charset="-122"/>
                <a:cs typeface="Aptos" pitchFamily="34" charset="-120"/>
              </a:rPr>
              <a:t>99/99 clusters detected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Q2</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lang="en-US" sz="2500" b="1" dirty="0">
                <a:solidFill>
                  <a:srgbClr val="142E53"/>
                </a:solidFill>
                <a:latin typeface="Aptos Display" pitchFamily="34" charset="0"/>
                <a:ea typeface="Aptos Display" pitchFamily="34" charset="-122"/>
                <a:cs typeface="Aptos Display" pitchFamily="34" charset="-120"/>
              </a:rPr>
              <a:t>Q2(a) Load motion over time</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ctr">
              <a:buNone/>
            </a:pPr>
            <a:r>
              <a:rPr lang="en-US" sz="1000" dirty="0">
                <a:solidFill>
                  <a:srgbClr val="58687C"/>
                </a:solidFill>
                <a:latin typeface="Aptos" pitchFamily="34" charset="0"/>
                <a:ea typeface="Aptos" pitchFamily="34" charset="-122"/>
                <a:cs typeface="Aptos" pitchFamily="34" charset="-120"/>
              </a:rPr>
              <a:t>XYZ centroid positions reveal repeated swinging motion</a:t>
            </a:r>
            <a:endParaRPr lang="en-US" sz="1000" dirty="0"/>
          </a:p>
        </p:txBody>
      </p:sp>
      <p:sp>
        <p:nvSpPr>
          <p:cNvPr id="7" name="Shape 5"/>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76072"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10</a:t>
            </a:r>
            <a:endParaRPr lang="en-US" sz="1100" dirty="0"/>
          </a:p>
        </p:txBody>
      </p:sp>
      <p:sp>
        <p:nvSpPr>
          <p:cNvPr id="10" name="Shape 8"/>
          <p:cNvSpPr/>
          <p:nvPr/>
        </p:nvSpPr>
        <p:spPr>
          <a:xfrm>
            <a:off x="548640" y="1197864"/>
            <a:ext cx="7946136" cy="3849624"/>
          </a:xfrm>
          <a:prstGeom prst="roundRect">
            <a:avLst>
              <a:gd name="adj" fmla="val 3088"/>
            </a:avLst>
          </a:prstGeom>
          <a:solidFill>
            <a:srgbClr val="FFFFFF"/>
          </a:solidFill>
          <a:ln w="7620">
            <a:solidFill>
              <a:srgbClr val="D7E2EE"/>
            </a:solidFill>
            <a:prstDash val="solid"/>
          </a:ln>
        </p:spPr>
        <p:txBody>
          <a:bodyPr/>
          <a:lstStyle/>
          <a:p>
            <a:endParaRPr lang="nb-NO"/>
          </a:p>
        </p:txBody>
      </p:sp>
      <p:sp>
        <p:nvSpPr>
          <p:cNvPr id="11" name="Shape 9"/>
          <p:cNvSpPr/>
          <p:nvPr/>
        </p:nvSpPr>
        <p:spPr>
          <a:xfrm>
            <a:off x="676656" y="1307592"/>
            <a:ext cx="2651760" cy="274320"/>
          </a:xfrm>
          <a:prstGeom prst="roundRect">
            <a:avLst>
              <a:gd name="adj" fmla="val 43333"/>
            </a:avLst>
          </a:prstGeom>
          <a:solidFill>
            <a:srgbClr val="E4EEFF"/>
          </a:solidFill>
          <a:ln w="12700">
            <a:solidFill>
              <a:srgbClr val="E4EEFF">
                <a:alpha val="0"/>
              </a:srgbClr>
            </a:solidFill>
            <a:prstDash val="solid"/>
          </a:ln>
        </p:spPr>
        <p:txBody>
          <a:bodyPr/>
          <a:lstStyle/>
          <a:p>
            <a:endParaRPr lang="nb-NO"/>
          </a:p>
        </p:txBody>
      </p:sp>
      <p:sp>
        <p:nvSpPr>
          <p:cNvPr id="12" name="Text 10"/>
          <p:cNvSpPr txBox="1"/>
          <p:nvPr/>
        </p:nvSpPr>
        <p:spPr>
          <a:xfrm>
            <a:off x="731520" y="1316736"/>
            <a:ext cx="2542032" cy="25603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Measured centroid coordinates</a:t>
            </a:r>
            <a:endParaRPr lang="en-US" sz="1000" dirty="0"/>
          </a:p>
        </p:txBody>
      </p:sp>
      <p:pic>
        <p:nvPicPr>
          <p:cNvPr id="13" name="Image 0" descr="/mnt/data/ppt_work/notebook_assets/cell_38_1.png"/>
          <p:cNvPicPr>
            <a:picLocks noChangeAspect="1"/>
          </p:cNvPicPr>
          <p:nvPr/>
        </p:nvPicPr>
        <p:blipFill>
          <a:blip r:embed="rId3"/>
          <a:stretch>
            <a:fillRect/>
          </a:stretch>
        </p:blipFill>
        <p:spPr>
          <a:xfrm>
            <a:off x="2416664" y="1636776"/>
            <a:ext cx="4210088" cy="3328416"/>
          </a:xfrm>
          <a:prstGeom prst="rect">
            <a:avLst/>
          </a:prstGeom>
        </p:spPr>
      </p:pic>
      <p:sp>
        <p:nvSpPr>
          <p:cNvPr id="14" name="Shape 11"/>
          <p:cNvSpPr/>
          <p:nvPr/>
        </p:nvSpPr>
        <p:spPr>
          <a:xfrm>
            <a:off x="8659368" y="1234440"/>
            <a:ext cx="2935224" cy="923544"/>
          </a:xfrm>
          <a:prstGeom prst="roundRect">
            <a:avLst>
              <a:gd name="adj" fmla="val 12871"/>
            </a:avLst>
          </a:prstGeom>
          <a:solidFill>
            <a:srgbClr val="E1F5EF"/>
          </a:solidFill>
          <a:ln w="12700">
            <a:solidFill>
              <a:srgbClr val="E1F5EF">
                <a:alpha val="0"/>
              </a:srgbClr>
            </a:solidFill>
            <a:prstDash val="solid"/>
          </a:ln>
        </p:spPr>
        <p:txBody>
          <a:bodyPr/>
          <a:lstStyle/>
          <a:p>
            <a:endParaRPr lang="nb-NO"/>
          </a:p>
        </p:txBody>
      </p:sp>
      <p:sp>
        <p:nvSpPr>
          <p:cNvPr id="15" name="Text 12"/>
          <p:cNvSpPr txBox="1"/>
          <p:nvPr/>
        </p:nvSpPr>
        <p:spPr>
          <a:xfrm>
            <a:off x="8723376" y="1316736"/>
            <a:ext cx="2807208" cy="434066"/>
          </a:xfrm>
          <a:prstGeom prst="rect">
            <a:avLst/>
          </a:prstGeom>
          <a:noFill/>
          <a:ln/>
        </p:spPr>
        <p:txBody>
          <a:bodyPr wrap="square" lIns="0" tIns="0" rIns="0" bIns="0" rtlCol="0" anchor="ctr">
            <a:normAutofit/>
          </a:bodyPr>
          <a:lstStyle/>
          <a:p>
            <a:pPr marL="0" indent="0" algn="ctr">
              <a:buNone/>
            </a:pPr>
            <a:r>
              <a:rPr lang="en-US" sz="2200" b="1" dirty="0">
                <a:solidFill>
                  <a:srgbClr val="142E53"/>
                </a:solidFill>
                <a:latin typeface="Aptos" pitchFamily="34" charset="0"/>
                <a:ea typeface="Aptos" pitchFamily="34" charset="-122"/>
                <a:cs typeface="Aptos" pitchFamily="34" charset="-120"/>
              </a:rPr>
              <a:t>0.785 m</a:t>
            </a:r>
            <a:endParaRPr lang="en-US" sz="2200" dirty="0"/>
          </a:p>
        </p:txBody>
      </p:sp>
      <p:sp>
        <p:nvSpPr>
          <p:cNvPr id="16" name="Text 13"/>
          <p:cNvSpPr txBox="1"/>
          <p:nvPr/>
        </p:nvSpPr>
        <p:spPr>
          <a:xfrm>
            <a:off x="8741664" y="1797802"/>
            <a:ext cx="2770632" cy="258592"/>
          </a:xfrm>
          <a:prstGeom prst="rect">
            <a:avLst/>
          </a:prstGeom>
          <a:noFill/>
          <a:ln/>
        </p:spPr>
        <p:txBody>
          <a:bodyPr wrap="square" lIns="0" tIns="0" rIns="0" bIns="0" rtlCol="0" anchor="ctr">
            <a:normAutofit/>
          </a:bodyPr>
          <a:lstStyle/>
          <a:p>
            <a:pPr marL="0" indent="0" algn="ctr">
              <a:buNone/>
            </a:pPr>
            <a:r>
              <a:rPr lang="en-US" sz="940" dirty="0">
                <a:solidFill>
                  <a:srgbClr val="58687C"/>
                </a:solidFill>
                <a:latin typeface="Aptos" pitchFamily="34" charset="0"/>
                <a:ea typeface="Aptos" pitchFamily="34" charset="-122"/>
                <a:cs typeface="Aptos" pitchFamily="34" charset="-120"/>
              </a:rPr>
              <a:t>Y-coordinate span</a:t>
            </a:r>
            <a:endParaRPr lang="en-US" sz="940" dirty="0"/>
          </a:p>
        </p:txBody>
      </p:sp>
      <p:sp>
        <p:nvSpPr>
          <p:cNvPr id="17" name="Shape 14"/>
          <p:cNvSpPr/>
          <p:nvPr/>
        </p:nvSpPr>
        <p:spPr>
          <a:xfrm>
            <a:off x="8659368" y="2340864"/>
            <a:ext cx="2935224" cy="2706624"/>
          </a:xfrm>
          <a:prstGeom prst="roundRect">
            <a:avLst>
              <a:gd name="adj" fmla="val 4392"/>
            </a:avLst>
          </a:prstGeom>
          <a:solidFill>
            <a:srgbClr val="FFFFFF"/>
          </a:solidFill>
          <a:ln w="7620">
            <a:solidFill>
              <a:srgbClr val="D7E2EE"/>
            </a:solidFill>
            <a:prstDash val="solid"/>
          </a:ln>
        </p:spPr>
        <p:txBody>
          <a:bodyPr/>
          <a:lstStyle/>
          <a:p>
            <a:endParaRPr lang="nb-NO"/>
          </a:p>
        </p:txBody>
      </p:sp>
      <p:sp>
        <p:nvSpPr>
          <p:cNvPr id="18" name="Shape 15"/>
          <p:cNvSpPr/>
          <p:nvPr/>
        </p:nvSpPr>
        <p:spPr>
          <a:xfrm>
            <a:off x="8842248" y="2496312"/>
            <a:ext cx="2587752" cy="310896"/>
          </a:xfrm>
          <a:prstGeom prst="roundRect">
            <a:avLst>
              <a:gd name="adj" fmla="val 38235"/>
            </a:avLst>
          </a:prstGeom>
          <a:solidFill>
            <a:srgbClr val="EFE8FA"/>
          </a:solidFill>
          <a:ln w="12700">
            <a:solidFill>
              <a:srgbClr val="EFE8FA">
                <a:alpha val="0"/>
              </a:srgbClr>
            </a:solidFill>
            <a:prstDash val="solid"/>
          </a:ln>
        </p:spPr>
        <p:txBody>
          <a:bodyPr/>
          <a:lstStyle/>
          <a:p>
            <a:endParaRPr lang="nb-NO"/>
          </a:p>
        </p:txBody>
      </p:sp>
      <p:sp>
        <p:nvSpPr>
          <p:cNvPr id="19" name="Text 16"/>
          <p:cNvSpPr txBox="1"/>
          <p:nvPr/>
        </p:nvSpPr>
        <p:spPr>
          <a:xfrm>
            <a:off x="8897112" y="2505456"/>
            <a:ext cx="2478024" cy="292608"/>
          </a:xfrm>
          <a:prstGeom prst="rect">
            <a:avLst/>
          </a:prstGeom>
          <a:noFill/>
          <a:ln/>
        </p:spPr>
        <p:txBody>
          <a:bodyPr wrap="square" lIns="0" tIns="0" rIns="0" bIns="0" rtlCol="0" anchor="ctr">
            <a:normAutofit/>
          </a:bodyPr>
          <a:lstStyle/>
          <a:p>
            <a:pPr marL="0" indent="0" algn="ctr">
              <a:buNone/>
            </a:pPr>
            <a:r>
              <a:rPr lang="en-US" sz="1100" b="1" dirty="0">
                <a:solidFill>
                  <a:srgbClr val="142E53"/>
                </a:solidFill>
                <a:latin typeface="Aptos" pitchFamily="34" charset="0"/>
                <a:ea typeface="Aptos" pitchFamily="34" charset="-122"/>
                <a:cs typeface="Aptos" pitchFamily="34" charset="-120"/>
              </a:rPr>
              <a:t>Observed ranges</a:t>
            </a:r>
            <a:endParaRPr lang="en-US" sz="1100" dirty="0"/>
          </a:p>
        </p:txBody>
      </p:sp>
      <p:sp>
        <p:nvSpPr>
          <p:cNvPr id="20" name="Shape 17"/>
          <p:cNvSpPr/>
          <p:nvPr/>
        </p:nvSpPr>
        <p:spPr>
          <a:xfrm>
            <a:off x="8851392" y="3017520"/>
            <a:ext cx="2551176" cy="512064"/>
          </a:xfrm>
          <a:prstGeom prst="roundRect">
            <a:avLst>
              <a:gd name="adj" fmla="val 23214"/>
            </a:avLst>
          </a:prstGeom>
          <a:solidFill>
            <a:srgbClr val="E4EEFF"/>
          </a:solidFill>
          <a:ln w="12700">
            <a:solidFill>
              <a:srgbClr val="E4EEFF">
                <a:alpha val="0"/>
              </a:srgbClr>
            </a:solidFill>
            <a:prstDash val="solid"/>
          </a:ln>
        </p:spPr>
        <p:txBody>
          <a:bodyPr/>
          <a:lstStyle/>
          <a:p>
            <a:endParaRPr lang="nb-NO"/>
          </a:p>
        </p:txBody>
      </p:sp>
      <p:sp>
        <p:nvSpPr>
          <p:cNvPr id="21" name="Text 18"/>
          <p:cNvSpPr txBox="1"/>
          <p:nvPr/>
        </p:nvSpPr>
        <p:spPr>
          <a:xfrm>
            <a:off x="8933688" y="3090672"/>
            <a:ext cx="1479682" cy="338328"/>
          </a:xfrm>
          <a:prstGeom prst="rect">
            <a:avLst/>
          </a:prstGeom>
          <a:noFill/>
          <a:ln/>
        </p:spPr>
        <p:txBody>
          <a:bodyPr wrap="square" lIns="0" tIns="0" rIns="0" bIns="0" rtlCol="0" anchor="ctr">
            <a:normAutofit/>
          </a:bodyPr>
          <a:lstStyle/>
          <a:p>
            <a:pPr marL="0" indent="0" algn="l">
              <a:buNone/>
            </a:pPr>
            <a:r>
              <a:rPr lang="en-US" sz="1000" dirty="0">
                <a:solidFill>
                  <a:srgbClr val="58687C"/>
                </a:solidFill>
                <a:latin typeface="Aptos" pitchFamily="34" charset="0"/>
                <a:ea typeface="Aptos" pitchFamily="34" charset="-122"/>
                <a:cs typeface="Aptos" pitchFamily="34" charset="-120"/>
              </a:rPr>
              <a:t>X [m]</a:t>
            </a:r>
            <a:endParaRPr lang="en-US" sz="1000" dirty="0"/>
          </a:p>
        </p:txBody>
      </p:sp>
      <p:sp>
        <p:nvSpPr>
          <p:cNvPr id="22" name="Text 19"/>
          <p:cNvSpPr txBox="1"/>
          <p:nvPr/>
        </p:nvSpPr>
        <p:spPr>
          <a:xfrm>
            <a:off x="10305562" y="3090672"/>
            <a:ext cx="918423" cy="338328"/>
          </a:xfrm>
          <a:prstGeom prst="rect">
            <a:avLst/>
          </a:prstGeom>
          <a:noFill/>
          <a:ln/>
        </p:spPr>
        <p:txBody>
          <a:bodyPr wrap="square" lIns="0" tIns="0" rIns="0" bIns="0" rtlCol="0" anchor="ctr">
            <a:normAutofit fontScale="92500"/>
          </a:bodyPr>
          <a:lstStyle/>
          <a:p>
            <a:pPr marL="0" indent="0" algn="r">
              <a:buNone/>
            </a:pPr>
            <a:r>
              <a:rPr lang="en-US" sz="1400" b="1" dirty="0">
                <a:solidFill>
                  <a:srgbClr val="142E53"/>
                </a:solidFill>
                <a:latin typeface="Aptos" pitchFamily="34" charset="0"/>
                <a:ea typeface="Aptos" pitchFamily="34" charset="-122"/>
                <a:cs typeface="Aptos" pitchFamily="34" charset="-120"/>
              </a:rPr>
              <a:t>0.643–0.783</a:t>
            </a:r>
            <a:endParaRPr lang="en-US" sz="1400" dirty="0"/>
          </a:p>
        </p:txBody>
      </p:sp>
      <p:sp>
        <p:nvSpPr>
          <p:cNvPr id="23" name="Shape 20"/>
          <p:cNvSpPr/>
          <p:nvPr/>
        </p:nvSpPr>
        <p:spPr>
          <a:xfrm>
            <a:off x="8851392" y="3611880"/>
            <a:ext cx="2551176" cy="512064"/>
          </a:xfrm>
          <a:prstGeom prst="roundRect">
            <a:avLst>
              <a:gd name="adj" fmla="val 23214"/>
            </a:avLst>
          </a:prstGeom>
          <a:solidFill>
            <a:srgbClr val="E1F5EF"/>
          </a:solidFill>
          <a:ln w="12700">
            <a:solidFill>
              <a:srgbClr val="E1F5EF">
                <a:alpha val="0"/>
              </a:srgbClr>
            </a:solidFill>
            <a:prstDash val="solid"/>
          </a:ln>
        </p:spPr>
        <p:txBody>
          <a:bodyPr/>
          <a:lstStyle/>
          <a:p>
            <a:endParaRPr lang="nb-NO"/>
          </a:p>
        </p:txBody>
      </p:sp>
      <p:sp>
        <p:nvSpPr>
          <p:cNvPr id="24" name="Text 21"/>
          <p:cNvSpPr txBox="1"/>
          <p:nvPr/>
        </p:nvSpPr>
        <p:spPr>
          <a:xfrm>
            <a:off x="8933688" y="3685032"/>
            <a:ext cx="1479682" cy="338328"/>
          </a:xfrm>
          <a:prstGeom prst="rect">
            <a:avLst/>
          </a:prstGeom>
          <a:noFill/>
          <a:ln/>
        </p:spPr>
        <p:txBody>
          <a:bodyPr wrap="square" lIns="0" tIns="0" rIns="0" bIns="0" rtlCol="0" anchor="ctr">
            <a:normAutofit/>
          </a:bodyPr>
          <a:lstStyle/>
          <a:p>
            <a:pPr marL="0" indent="0" algn="l">
              <a:buNone/>
            </a:pPr>
            <a:r>
              <a:rPr lang="en-US" sz="1000" dirty="0">
                <a:solidFill>
                  <a:srgbClr val="58687C"/>
                </a:solidFill>
                <a:latin typeface="Aptos" pitchFamily="34" charset="0"/>
                <a:ea typeface="Aptos" pitchFamily="34" charset="-122"/>
                <a:cs typeface="Aptos" pitchFamily="34" charset="-120"/>
              </a:rPr>
              <a:t>Y [m]</a:t>
            </a:r>
            <a:endParaRPr lang="en-US" sz="1000" dirty="0"/>
          </a:p>
        </p:txBody>
      </p:sp>
      <p:sp>
        <p:nvSpPr>
          <p:cNvPr id="25" name="Text 22"/>
          <p:cNvSpPr txBox="1"/>
          <p:nvPr/>
        </p:nvSpPr>
        <p:spPr>
          <a:xfrm>
            <a:off x="10305562" y="3685032"/>
            <a:ext cx="918423" cy="338328"/>
          </a:xfrm>
          <a:prstGeom prst="rect">
            <a:avLst/>
          </a:prstGeom>
          <a:noFill/>
          <a:ln/>
        </p:spPr>
        <p:txBody>
          <a:bodyPr wrap="square" lIns="0" tIns="0" rIns="0" bIns="0" rtlCol="0" anchor="ctr">
            <a:normAutofit fontScale="92500"/>
          </a:bodyPr>
          <a:lstStyle/>
          <a:p>
            <a:pPr marL="0" indent="0" algn="r">
              <a:buNone/>
            </a:pPr>
            <a:r>
              <a:rPr lang="en-US" sz="1400" b="1" dirty="0">
                <a:solidFill>
                  <a:srgbClr val="142E53"/>
                </a:solidFill>
                <a:latin typeface="Aptos" pitchFamily="34" charset="0"/>
                <a:ea typeface="Aptos" pitchFamily="34" charset="-122"/>
                <a:cs typeface="Aptos" pitchFamily="34" charset="-120"/>
              </a:rPr>
              <a:t>1.354–2.139</a:t>
            </a:r>
            <a:endParaRPr lang="en-US" sz="1400" dirty="0"/>
          </a:p>
        </p:txBody>
      </p:sp>
      <p:sp>
        <p:nvSpPr>
          <p:cNvPr id="26" name="Shape 23"/>
          <p:cNvSpPr/>
          <p:nvPr/>
        </p:nvSpPr>
        <p:spPr>
          <a:xfrm>
            <a:off x="8851392" y="4206240"/>
            <a:ext cx="2551176" cy="512064"/>
          </a:xfrm>
          <a:prstGeom prst="roundRect">
            <a:avLst>
              <a:gd name="adj" fmla="val 23214"/>
            </a:avLst>
          </a:prstGeom>
          <a:solidFill>
            <a:srgbClr val="FBE6F0"/>
          </a:solidFill>
          <a:ln w="12700">
            <a:solidFill>
              <a:srgbClr val="FBE6F0">
                <a:alpha val="0"/>
              </a:srgbClr>
            </a:solidFill>
            <a:prstDash val="solid"/>
          </a:ln>
        </p:spPr>
        <p:txBody>
          <a:bodyPr/>
          <a:lstStyle/>
          <a:p>
            <a:endParaRPr lang="nb-NO"/>
          </a:p>
        </p:txBody>
      </p:sp>
      <p:sp>
        <p:nvSpPr>
          <p:cNvPr id="27" name="Text 24"/>
          <p:cNvSpPr txBox="1"/>
          <p:nvPr/>
        </p:nvSpPr>
        <p:spPr>
          <a:xfrm>
            <a:off x="8933688" y="4279392"/>
            <a:ext cx="1479682" cy="338328"/>
          </a:xfrm>
          <a:prstGeom prst="rect">
            <a:avLst/>
          </a:prstGeom>
          <a:noFill/>
          <a:ln/>
        </p:spPr>
        <p:txBody>
          <a:bodyPr wrap="square" lIns="0" tIns="0" rIns="0" bIns="0" rtlCol="0" anchor="ctr">
            <a:normAutofit/>
          </a:bodyPr>
          <a:lstStyle/>
          <a:p>
            <a:pPr marL="0" indent="0" algn="l">
              <a:buNone/>
            </a:pPr>
            <a:r>
              <a:rPr lang="en-US" sz="1000" dirty="0">
                <a:solidFill>
                  <a:srgbClr val="58687C"/>
                </a:solidFill>
                <a:latin typeface="Aptos" pitchFamily="34" charset="0"/>
                <a:ea typeface="Aptos" pitchFamily="34" charset="-122"/>
                <a:cs typeface="Aptos" pitchFamily="34" charset="-120"/>
              </a:rPr>
              <a:t>Z [m]</a:t>
            </a:r>
            <a:endParaRPr lang="en-US" sz="1000" dirty="0"/>
          </a:p>
        </p:txBody>
      </p:sp>
      <p:sp>
        <p:nvSpPr>
          <p:cNvPr id="28" name="Text 25"/>
          <p:cNvSpPr txBox="1"/>
          <p:nvPr/>
        </p:nvSpPr>
        <p:spPr>
          <a:xfrm>
            <a:off x="10305562" y="4279392"/>
            <a:ext cx="918423" cy="338328"/>
          </a:xfrm>
          <a:prstGeom prst="rect">
            <a:avLst/>
          </a:prstGeom>
          <a:noFill/>
          <a:ln/>
        </p:spPr>
        <p:txBody>
          <a:bodyPr wrap="square" lIns="0" tIns="0" rIns="0" bIns="0" rtlCol="0" anchor="ctr">
            <a:normAutofit fontScale="92500"/>
          </a:bodyPr>
          <a:lstStyle/>
          <a:p>
            <a:pPr marL="0" indent="0" algn="r">
              <a:buNone/>
            </a:pPr>
            <a:r>
              <a:rPr lang="en-US" sz="1400" b="1" dirty="0">
                <a:solidFill>
                  <a:srgbClr val="142E53"/>
                </a:solidFill>
                <a:latin typeface="Aptos" pitchFamily="34" charset="0"/>
                <a:ea typeface="Aptos" pitchFamily="34" charset="-122"/>
                <a:cs typeface="Aptos" pitchFamily="34" charset="-120"/>
              </a:rPr>
              <a:t>0.157–0.231</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Q2</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lang="en-US" sz="2500" b="1" dirty="0">
                <a:solidFill>
                  <a:srgbClr val="142E53"/>
                </a:solidFill>
                <a:latin typeface="Aptos Display" pitchFamily="34" charset="0"/>
                <a:ea typeface="Aptos Display" pitchFamily="34" charset="-122"/>
                <a:cs typeface="Aptos Display" pitchFamily="34" charset="-120"/>
              </a:rPr>
              <a:t>Q2(b) How KISS-ICP works</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ctr">
              <a:buNone/>
            </a:pPr>
            <a:r>
              <a:rPr lang="en-US" sz="1000" dirty="0">
                <a:solidFill>
                  <a:srgbClr val="58687C"/>
                </a:solidFill>
                <a:latin typeface="Aptos" pitchFamily="34" charset="0"/>
                <a:ea typeface="Aptos" pitchFamily="34" charset="-122"/>
                <a:cs typeface="Aptos" pitchFamily="34" charset="-120"/>
              </a:rPr>
              <a:t>LiDAR odometry: align each new scan to a local map to estimate how the sensor moved</a:t>
            </a:r>
            <a:endParaRPr lang="en-US" sz="1000" dirty="0"/>
          </a:p>
        </p:txBody>
      </p:sp>
      <p:sp>
        <p:nvSpPr>
          <p:cNvPr id="7" name="Shape 5"/>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02920" y="5495227"/>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11</a:t>
            </a:r>
            <a:endParaRPr lang="en-US" sz="1100" dirty="0"/>
          </a:p>
        </p:txBody>
      </p:sp>
      <p:sp>
        <p:nvSpPr>
          <p:cNvPr id="10" name="Shape 8"/>
          <p:cNvSpPr/>
          <p:nvPr/>
        </p:nvSpPr>
        <p:spPr>
          <a:xfrm>
            <a:off x="603504" y="1188720"/>
            <a:ext cx="4663440" cy="3858768"/>
          </a:xfrm>
          <a:prstGeom prst="roundRect">
            <a:avLst>
              <a:gd name="adj" fmla="val 3081"/>
            </a:avLst>
          </a:prstGeom>
          <a:solidFill>
            <a:srgbClr val="E1F5EF"/>
          </a:solidFill>
          <a:ln w="12700">
            <a:solidFill>
              <a:srgbClr val="E1F5EF">
                <a:alpha val="0"/>
              </a:srgbClr>
            </a:solidFill>
            <a:prstDash val="solid"/>
          </a:ln>
        </p:spPr>
        <p:txBody>
          <a:bodyPr/>
          <a:lstStyle/>
          <a:p>
            <a:endParaRPr lang="nb-NO"/>
          </a:p>
        </p:txBody>
      </p:sp>
      <p:sp>
        <p:nvSpPr>
          <p:cNvPr id="11" name="Shape 9"/>
          <p:cNvSpPr/>
          <p:nvPr/>
        </p:nvSpPr>
        <p:spPr>
          <a:xfrm>
            <a:off x="804672" y="1389888"/>
            <a:ext cx="4261104" cy="740664"/>
          </a:xfrm>
          <a:prstGeom prst="roundRect">
            <a:avLst>
              <a:gd name="adj" fmla="val 16049"/>
            </a:avLst>
          </a:prstGeom>
          <a:solidFill>
            <a:srgbClr val="FFFFFF"/>
          </a:solidFill>
          <a:ln w="12700">
            <a:solidFill>
              <a:srgbClr val="FFFFFF">
                <a:alpha val="0"/>
              </a:srgbClr>
            </a:solidFill>
            <a:prstDash val="solid"/>
          </a:ln>
        </p:spPr>
        <p:txBody>
          <a:bodyPr/>
          <a:lstStyle/>
          <a:p>
            <a:endParaRPr lang="nb-NO"/>
          </a:p>
        </p:txBody>
      </p:sp>
      <p:sp>
        <p:nvSpPr>
          <p:cNvPr id="12" name="Shape 10"/>
          <p:cNvSpPr/>
          <p:nvPr/>
        </p:nvSpPr>
        <p:spPr>
          <a:xfrm>
            <a:off x="960120" y="1554480"/>
            <a:ext cx="393192" cy="393192"/>
          </a:xfrm>
          <a:prstGeom prst="ellipse">
            <a:avLst/>
          </a:prstGeom>
          <a:solidFill>
            <a:srgbClr val="15A68C"/>
          </a:solidFill>
          <a:ln w="12700">
            <a:solidFill>
              <a:srgbClr val="15A68C">
                <a:alpha val="0"/>
              </a:srgbClr>
            </a:solidFill>
            <a:prstDash val="solid"/>
          </a:ln>
        </p:spPr>
        <p:txBody>
          <a:bodyPr/>
          <a:lstStyle/>
          <a:p>
            <a:endParaRPr lang="nb-NO"/>
          </a:p>
        </p:txBody>
      </p:sp>
      <p:sp>
        <p:nvSpPr>
          <p:cNvPr id="13" name="Text 11"/>
          <p:cNvSpPr txBox="1"/>
          <p:nvPr/>
        </p:nvSpPr>
        <p:spPr>
          <a:xfrm>
            <a:off x="969264" y="1572768"/>
            <a:ext cx="356616" cy="32004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14" name="Text 12"/>
          <p:cNvSpPr txBox="1"/>
          <p:nvPr/>
        </p:nvSpPr>
        <p:spPr>
          <a:xfrm>
            <a:off x="1517904" y="1490472"/>
            <a:ext cx="3310128" cy="274320"/>
          </a:xfrm>
          <a:prstGeom prst="rect">
            <a:avLst/>
          </a:prstGeom>
          <a:noFill/>
          <a:ln/>
        </p:spPr>
        <p:txBody>
          <a:bodyPr wrap="square" lIns="0" tIns="0" rIns="0" bIns="0" rtlCol="0" anchor="ctr">
            <a:normAutofit/>
          </a:bodyPr>
          <a:lstStyle/>
          <a:p>
            <a:pPr marL="0" indent="0" algn="l">
              <a:buNone/>
            </a:pPr>
            <a:r>
              <a:rPr lang="en-US" sz="1300" b="1" dirty="0">
                <a:solidFill>
                  <a:srgbClr val="142E53"/>
                </a:solidFill>
                <a:latin typeface="Aptos" pitchFamily="34" charset="0"/>
                <a:ea typeface="Aptos" pitchFamily="34" charset="-122"/>
                <a:cs typeface="Aptos" pitchFamily="34" charset="-120"/>
              </a:rPr>
              <a:t>Voxel downsample</a:t>
            </a:r>
            <a:endParaRPr lang="en-US" sz="1300" dirty="0"/>
          </a:p>
        </p:txBody>
      </p:sp>
      <p:sp>
        <p:nvSpPr>
          <p:cNvPr id="15" name="Text 13"/>
          <p:cNvSpPr txBox="1"/>
          <p:nvPr/>
        </p:nvSpPr>
        <p:spPr>
          <a:xfrm>
            <a:off x="1517904" y="1810512"/>
            <a:ext cx="3291840" cy="201168"/>
          </a:xfrm>
          <a:prstGeom prst="rect">
            <a:avLst/>
          </a:prstGeom>
          <a:noFill/>
          <a:ln/>
        </p:spPr>
        <p:txBody>
          <a:bodyPr wrap="square" lIns="0" tIns="0" rIns="0" bIns="0" rtlCol="0" anchor="ctr">
            <a:normAutofit/>
          </a:bodyPr>
          <a:lstStyle/>
          <a:p>
            <a:pPr marL="0" indent="0" algn="l">
              <a:buNone/>
            </a:pPr>
            <a:r>
              <a:rPr lang="en-US" sz="1000" dirty="0">
                <a:solidFill>
                  <a:srgbClr val="58687C"/>
                </a:solidFill>
                <a:latin typeface="Aptos" pitchFamily="34" charset="0"/>
                <a:ea typeface="Aptos" pitchFamily="34" charset="-122"/>
                <a:cs typeface="Aptos" pitchFamily="34" charset="-120"/>
              </a:rPr>
              <a:t>Thin the scan into a sparse voxel grid</a:t>
            </a:r>
            <a:endParaRPr lang="en-US" sz="1000" dirty="0"/>
          </a:p>
        </p:txBody>
      </p:sp>
      <p:sp>
        <p:nvSpPr>
          <p:cNvPr id="16" name="Shape 14"/>
          <p:cNvSpPr/>
          <p:nvPr/>
        </p:nvSpPr>
        <p:spPr>
          <a:xfrm>
            <a:off x="804672" y="2276856"/>
            <a:ext cx="4261104" cy="740664"/>
          </a:xfrm>
          <a:prstGeom prst="roundRect">
            <a:avLst>
              <a:gd name="adj" fmla="val 16049"/>
            </a:avLst>
          </a:prstGeom>
          <a:solidFill>
            <a:srgbClr val="FFFFFF"/>
          </a:solidFill>
          <a:ln w="12700">
            <a:solidFill>
              <a:srgbClr val="FFFFFF">
                <a:alpha val="0"/>
              </a:srgbClr>
            </a:solidFill>
            <a:prstDash val="solid"/>
          </a:ln>
        </p:spPr>
        <p:txBody>
          <a:bodyPr/>
          <a:lstStyle/>
          <a:p>
            <a:endParaRPr lang="nb-NO"/>
          </a:p>
        </p:txBody>
      </p:sp>
      <p:sp>
        <p:nvSpPr>
          <p:cNvPr id="17" name="Shape 15"/>
          <p:cNvSpPr/>
          <p:nvPr/>
        </p:nvSpPr>
        <p:spPr>
          <a:xfrm>
            <a:off x="960120" y="2441448"/>
            <a:ext cx="393192" cy="393192"/>
          </a:xfrm>
          <a:prstGeom prst="ellipse">
            <a:avLst/>
          </a:prstGeom>
          <a:solidFill>
            <a:srgbClr val="15A68C"/>
          </a:solidFill>
          <a:ln w="12700">
            <a:solidFill>
              <a:srgbClr val="15A68C">
                <a:alpha val="0"/>
              </a:srgbClr>
            </a:solidFill>
            <a:prstDash val="solid"/>
          </a:ln>
        </p:spPr>
        <p:txBody>
          <a:bodyPr/>
          <a:lstStyle/>
          <a:p>
            <a:endParaRPr lang="nb-NO"/>
          </a:p>
        </p:txBody>
      </p:sp>
      <p:sp>
        <p:nvSpPr>
          <p:cNvPr id="18" name="Text 16"/>
          <p:cNvSpPr txBox="1"/>
          <p:nvPr/>
        </p:nvSpPr>
        <p:spPr>
          <a:xfrm>
            <a:off x="969264" y="2459736"/>
            <a:ext cx="356616" cy="32004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9" name="Text 17"/>
          <p:cNvSpPr txBox="1"/>
          <p:nvPr/>
        </p:nvSpPr>
        <p:spPr>
          <a:xfrm>
            <a:off x="1517904" y="2377440"/>
            <a:ext cx="3310128" cy="274320"/>
          </a:xfrm>
          <a:prstGeom prst="rect">
            <a:avLst/>
          </a:prstGeom>
          <a:noFill/>
          <a:ln/>
        </p:spPr>
        <p:txBody>
          <a:bodyPr wrap="square" lIns="0" tIns="0" rIns="0" bIns="0" rtlCol="0" anchor="ctr">
            <a:normAutofit/>
          </a:bodyPr>
          <a:lstStyle/>
          <a:p>
            <a:pPr marL="0" indent="0" algn="l">
              <a:buNone/>
            </a:pPr>
            <a:r>
              <a:rPr lang="en-US" sz="1300" b="1" dirty="0">
                <a:solidFill>
                  <a:srgbClr val="142E53"/>
                </a:solidFill>
                <a:latin typeface="Aptos" pitchFamily="34" charset="0"/>
                <a:ea typeface="Aptos" pitchFamily="34" charset="-122"/>
                <a:cs typeface="Aptos" pitchFamily="34" charset="-120"/>
              </a:rPr>
              <a:t>Predict pose</a:t>
            </a:r>
            <a:endParaRPr lang="en-US" sz="1300" dirty="0"/>
          </a:p>
        </p:txBody>
      </p:sp>
      <p:sp>
        <p:nvSpPr>
          <p:cNvPr id="20" name="Text 18"/>
          <p:cNvSpPr txBox="1"/>
          <p:nvPr/>
        </p:nvSpPr>
        <p:spPr>
          <a:xfrm>
            <a:off x="1517904" y="2697480"/>
            <a:ext cx="3291840" cy="201168"/>
          </a:xfrm>
          <a:prstGeom prst="rect">
            <a:avLst/>
          </a:prstGeom>
          <a:noFill/>
          <a:ln/>
        </p:spPr>
        <p:txBody>
          <a:bodyPr wrap="square" lIns="0" tIns="0" rIns="0" bIns="0" rtlCol="0" anchor="ctr">
            <a:normAutofit/>
          </a:bodyPr>
          <a:lstStyle/>
          <a:p>
            <a:pPr marL="0" indent="0" algn="l">
              <a:buNone/>
            </a:pPr>
            <a:r>
              <a:rPr lang="en-US" sz="1000" dirty="0">
                <a:solidFill>
                  <a:srgbClr val="58687C"/>
                </a:solidFill>
                <a:latin typeface="Aptos" pitchFamily="34" charset="0"/>
                <a:ea typeface="Aptos" pitchFamily="34" charset="-122"/>
                <a:cs typeface="Aptos" pitchFamily="34" charset="-120"/>
              </a:rPr>
              <a:t>Constant-velocity guess from the last poses</a:t>
            </a:r>
            <a:endParaRPr lang="en-US" sz="1000" dirty="0"/>
          </a:p>
        </p:txBody>
      </p:sp>
      <p:sp>
        <p:nvSpPr>
          <p:cNvPr id="21" name="Shape 19"/>
          <p:cNvSpPr/>
          <p:nvPr/>
        </p:nvSpPr>
        <p:spPr>
          <a:xfrm>
            <a:off x="804672" y="3163824"/>
            <a:ext cx="4261104" cy="740664"/>
          </a:xfrm>
          <a:prstGeom prst="roundRect">
            <a:avLst>
              <a:gd name="adj" fmla="val 16049"/>
            </a:avLst>
          </a:prstGeom>
          <a:solidFill>
            <a:srgbClr val="FFFFFF"/>
          </a:solidFill>
          <a:ln w="12700">
            <a:solidFill>
              <a:srgbClr val="FFFFFF">
                <a:alpha val="0"/>
              </a:srgbClr>
            </a:solidFill>
            <a:prstDash val="solid"/>
          </a:ln>
        </p:spPr>
        <p:txBody>
          <a:bodyPr/>
          <a:lstStyle/>
          <a:p>
            <a:endParaRPr lang="nb-NO"/>
          </a:p>
        </p:txBody>
      </p:sp>
      <p:sp>
        <p:nvSpPr>
          <p:cNvPr id="22" name="Shape 20"/>
          <p:cNvSpPr/>
          <p:nvPr/>
        </p:nvSpPr>
        <p:spPr>
          <a:xfrm>
            <a:off x="960120" y="3328416"/>
            <a:ext cx="393192" cy="393192"/>
          </a:xfrm>
          <a:prstGeom prst="ellipse">
            <a:avLst/>
          </a:prstGeom>
          <a:solidFill>
            <a:srgbClr val="15A68C"/>
          </a:solidFill>
          <a:ln w="12700">
            <a:solidFill>
              <a:srgbClr val="15A68C">
                <a:alpha val="0"/>
              </a:srgbClr>
            </a:solidFill>
            <a:prstDash val="solid"/>
          </a:ln>
        </p:spPr>
        <p:txBody>
          <a:bodyPr/>
          <a:lstStyle/>
          <a:p>
            <a:endParaRPr lang="nb-NO"/>
          </a:p>
        </p:txBody>
      </p:sp>
      <p:sp>
        <p:nvSpPr>
          <p:cNvPr id="23" name="Text 21"/>
          <p:cNvSpPr txBox="1"/>
          <p:nvPr/>
        </p:nvSpPr>
        <p:spPr>
          <a:xfrm>
            <a:off x="969264" y="3346704"/>
            <a:ext cx="356616" cy="32004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24" name="Text 22"/>
          <p:cNvSpPr txBox="1"/>
          <p:nvPr/>
        </p:nvSpPr>
        <p:spPr>
          <a:xfrm>
            <a:off x="1517904" y="3264408"/>
            <a:ext cx="3310128" cy="274320"/>
          </a:xfrm>
          <a:prstGeom prst="rect">
            <a:avLst/>
          </a:prstGeom>
          <a:noFill/>
          <a:ln/>
        </p:spPr>
        <p:txBody>
          <a:bodyPr wrap="square" lIns="0" tIns="0" rIns="0" bIns="0" rtlCol="0" anchor="ctr">
            <a:normAutofit/>
          </a:bodyPr>
          <a:lstStyle/>
          <a:p>
            <a:pPr marL="0" indent="0" algn="l">
              <a:buNone/>
            </a:pPr>
            <a:r>
              <a:rPr lang="en-US" sz="1300" b="1" dirty="0">
                <a:solidFill>
                  <a:srgbClr val="142E53"/>
                </a:solidFill>
                <a:latin typeface="Aptos" pitchFamily="34" charset="0"/>
                <a:ea typeface="Aptos" pitchFamily="34" charset="-122"/>
                <a:cs typeface="Aptos" pitchFamily="34" charset="-120"/>
              </a:rPr>
              <a:t>Point-to-point ICP</a:t>
            </a:r>
            <a:endParaRPr lang="en-US" sz="1300" dirty="0"/>
          </a:p>
        </p:txBody>
      </p:sp>
      <p:sp>
        <p:nvSpPr>
          <p:cNvPr id="25" name="Text 23"/>
          <p:cNvSpPr txBox="1"/>
          <p:nvPr/>
        </p:nvSpPr>
        <p:spPr>
          <a:xfrm>
            <a:off x="1517904" y="3584448"/>
            <a:ext cx="3291840" cy="201168"/>
          </a:xfrm>
          <a:prstGeom prst="rect">
            <a:avLst/>
          </a:prstGeom>
          <a:noFill/>
          <a:ln/>
        </p:spPr>
        <p:txBody>
          <a:bodyPr wrap="square" lIns="0" tIns="0" rIns="0" bIns="0" rtlCol="0" anchor="ctr">
            <a:normAutofit/>
          </a:bodyPr>
          <a:lstStyle/>
          <a:p>
            <a:pPr marL="0" indent="0" algn="l">
              <a:buNone/>
            </a:pPr>
            <a:r>
              <a:rPr lang="en-US" sz="1000" dirty="0">
                <a:solidFill>
                  <a:srgbClr val="58687C"/>
                </a:solidFill>
                <a:latin typeface="Aptos" pitchFamily="34" charset="0"/>
                <a:ea typeface="Aptos" pitchFamily="34" charset="-122"/>
                <a:cs typeface="Aptos" pitchFamily="34" charset="-120"/>
              </a:rPr>
              <a:t>Nearest-point matches</a:t>
            </a:r>
            <a:endParaRPr lang="en-US" sz="1000" dirty="0"/>
          </a:p>
        </p:txBody>
      </p:sp>
      <p:sp>
        <p:nvSpPr>
          <p:cNvPr id="26" name="Shape 24"/>
          <p:cNvSpPr/>
          <p:nvPr/>
        </p:nvSpPr>
        <p:spPr>
          <a:xfrm>
            <a:off x="804672" y="4050792"/>
            <a:ext cx="4261104" cy="740664"/>
          </a:xfrm>
          <a:prstGeom prst="roundRect">
            <a:avLst>
              <a:gd name="adj" fmla="val 16049"/>
            </a:avLst>
          </a:prstGeom>
          <a:solidFill>
            <a:srgbClr val="FFFFFF"/>
          </a:solidFill>
          <a:ln w="12700">
            <a:solidFill>
              <a:srgbClr val="FFFFFF">
                <a:alpha val="0"/>
              </a:srgbClr>
            </a:solidFill>
            <a:prstDash val="solid"/>
          </a:ln>
        </p:spPr>
        <p:txBody>
          <a:bodyPr/>
          <a:lstStyle/>
          <a:p>
            <a:endParaRPr lang="nb-NO"/>
          </a:p>
        </p:txBody>
      </p:sp>
      <p:sp>
        <p:nvSpPr>
          <p:cNvPr id="27" name="Shape 25"/>
          <p:cNvSpPr/>
          <p:nvPr/>
        </p:nvSpPr>
        <p:spPr>
          <a:xfrm>
            <a:off x="960120" y="4215384"/>
            <a:ext cx="393192" cy="393192"/>
          </a:xfrm>
          <a:prstGeom prst="ellipse">
            <a:avLst/>
          </a:prstGeom>
          <a:solidFill>
            <a:srgbClr val="15A68C"/>
          </a:solidFill>
          <a:ln w="12700">
            <a:solidFill>
              <a:srgbClr val="15A68C">
                <a:alpha val="0"/>
              </a:srgbClr>
            </a:solidFill>
            <a:prstDash val="solid"/>
          </a:ln>
        </p:spPr>
        <p:txBody>
          <a:bodyPr/>
          <a:lstStyle/>
          <a:p>
            <a:endParaRPr lang="nb-NO"/>
          </a:p>
        </p:txBody>
      </p:sp>
      <p:sp>
        <p:nvSpPr>
          <p:cNvPr id="28" name="Text 26"/>
          <p:cNvSpPr txBox="1"/>
          <p:nvPr/>
        </p:nvSpPr>
        <p:spPr>
          <a:xfrm>
            <a:off x="969264" y="4233672"/>
            <a:ext cx="356616" cy="320040"/>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9" name="Text 27"/>
          <p:cNvSpPr txBox="1"/>
          <p:nvPr/>
        </p:nvSpPr>
        <p:spPr>
          <a:xfrm>
            <a:off x="1517904" y="4151376"/>
            <a:ext cx="3310128" cy="274320"/>
          </a:xfrm>
          <a:prstGeom prst="rect">
            <a:avLst/>
          </a:prstGeom>
          <a:noFill/>
          <a:ln/>
        </p:spPr>
        <p:txBody>
          <a:bodyPr wrap="square" lIns="0" tIns="0" rIns="0" bIns="0" rtlCol="0" anchor="ctr">
            <a:normAutofit/>
          </a:bodyPr>
          <a:lstStyle/>
          <a:p>
            <a:pPr marL="0" indent="0" algn="l">
              <a:buNone/>
            </a:pPr>
            <a:r>
              <a:rPr lang="en-US" sz="1300" b="1" dirty="0">
                <a:solidFill>
                  <a:srgbClr val="142E53"/>
                </a:solidFill>
                <a:latin typeface="Aptos" pitchFamily="34" charset="0"/>
                <a:ea typeface="Aptos" pitchFamily="34" charset="-122"/>
                <a:cs typeface="Aptos" pitchFamily="34" charset="-120"/>
              </a:rPr>
              <a:t>Update local map</a:t>
            </a:r>
            <a:endParaRPr lang="en-US" sz="1300" dirty="0"/>
          </a:p>
        </p:txBody>
      </p:sp>
      <p:sp>
        <p:nvSpPr>
          <p:cNvPr id="30" name="Text 28"/>
          <p:cNvSpPr txBox="1"/>
          <p:nvPr/>
        </p:nvSpPr>
        <p:spPr>
          <a:xfrm>
            <a:off x="1517904" y="4471416"/>
            <a:ext cx="3291840" cy="201168"/>
          </a:xfrm>
          <a:prstGeom prst="rect">
            <a:avLst/>
          </a:prstGeom>
          <a:noFill/>
          <a:ln/>
        </p:spPr>
        <p:txBody>
          <a:bodyPr wrap="square" lIns="0" tIns="0" rIns="0" bIns="0" rtlCol="0" anchor="ctr">
            <a:normAutofit/>
          </a:bodyPr>
          <a:lstStyle/>
          <a:p>
            <a:pPr marL="0" indent="0" algn="l">
              <a:buNone/>
            </a:pPr>
            <a:r>
              <a:rPr lang="en-US" sz="1000" dirty="0">
                <a:solidFill>
                  <a:srgbClr val="58687C"/>
                </a:solidFill>
                <a:latin typeface="Aptos" pitchFamily="34" charset="0"/>
                <a:ea typeface="Aptos" pitchFamily="34" charset="-122"/>
                <a:cs typeface="Aptos" pitchFamily="34" charset="-120"/>
              </a:rPr>
              <a:t>Add scan to map; adapt the match threshold</a:t>
            </a:r>
            <a:endParaRPr lang="en-US" sz="1000" dirty="0"/>
          </a:p>
        </p:txBody>
      </p:sp>
      <p:sp>
        <p:nvSpPr>
          <p:cNvPr id="31" name="Shape 29"/>
          <p:cNvSpPr/>
          <p:nvPr/>
        </p:nvSpPr>
        <p:spPr>
          <a:xfrm>
            <a:off x="5449824" y="1188720"/>
            <a:ext cx="6144768" cy="3858768"/>
          </a:xfrm>
          <a:prstGeom prst="roundRect">
            <a:avLst>
              <a:gd name="adj" fmla="val 3081"/>
            </a:avLst>
          </a:prstGeom>
          <a:solidFill>
            <a:srgbClr val="FFFFFF"/>
          </a:solidFill>
          <a:ln w="7620">
            <a:solidFill>
              <a:srgbClr val="D7E2EE"/>
            </a:solidFill>
            <a:prstDash val="solid"/>
          </a:ln>
        </p:spPr>
        <p:txBody>
          <a:bodyPr/>
          <a:lstStyle/>
          <a:p>
            <a:endParaRPr lang="nb-NO"/>
          </a:p>
        </p:txBody>
      </p:sp>
      <p:sp>
        <p:nvSpPr>
          <p:cNvPr id="32" name="Shape 30"/>
          <p:cNvSpPr/>
          <p:nvPr/>
        </p:nvSpPr>
        <p:spPr>
          <a:xfrm>
            <a:off x="5577840" y="1298448"/>
            <a:ext cx="2651760" cy="274320"/>
          </a:xfrm>
          <a:prstGeom prst="roundRect">
            <a:avLst>
              <a:gd name="adj" fmla="val 43333"/>
            </a:avLst>
          </a:prstGeom>
          <a:solidFill>
            <a:srgbClr val="EFE8FA"/>
          </a:solidFill>
          <a:ln w="12700">
            <a:solidFill>
              <a:srgbClr val="EFE8FA">
                <a:alpha val="0"/>
              </a:srgbClr>
            </a:solidFill>
            <a:prstDash val="solid"/>
          </a:ln>
        </p:spPr>
        <p:txBody>
          <a:bodyPr/>
          <a:lstStyle/>
          <a:p>
            <a:endParaRPr lang="nb-NO"/>
          </a:p>
        </p:txBody>
      </p:sp>
      <p:sp>
        <p:nvSpPr>
          <p:cNvPr id="33" name="Text 31"/>
          <p:cNvSpPr txBox="1"/>
          <p:nvPr/>
        </p:nvSpPr>
        <p:spPr>
          <a:xfrm>
            <a:off x="5632704" y="1307592"/>
            <a:ext cx="2542032" cy="25603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Uses and drawbacks</a:t>
            </a:r>
            <a:endParaRPr lang="en-US" sz="1000" dirty="0"/>
          </a:p>
        </p:txBody>
      </p:sp>
      <p:sp>
        <p:nvSpPr>
          <p:cNvPr id="35" name="Shape 32"/>
          <p:cNvSpPr/>
          <p:nvPr/>
        </p:nvSpPr>
        <p:spPr>
          <a:xfrm>
            <a:off x="795528" y="5138928"/>
            <a:ext cx="2176272" cy="219456"/>
          </a:xfrm>
          <a:prstGeom prst="roundRect">
            <a:avLst>
              <a:gd name="adj" fmla="val 54167"/>
            </a:avLst>
          </a:prstGeom>
          <a:solidFill>
            <a:srgbClr val="FFFFFF"/>
          </a:solidFill>
          <a:ln w="12700">
            <a:solidFill>
              <a:srgbClr val="FFFFFF">
                <a:alpha val="0"/>
              </a:srgbClr>
            </a:solidFill>
            <a:prstDash val="solid"/>
          </a:ln>
        </p:spPr>
        <p:txBody>
          <a:bodyPr/>
          <a:lstStyle/>
          <a:p>
            <a:endParaRPr lang="nb-NO"/>
          </a:p>
        </p:txBody>
      </p:sp>
      <p:sp>
        <p:nvSpPr>
          <p:cNvPr id="36" name="Text 33"/>
          <p:cNvSpPr txBox="1"/>
          <p:nvPr/>
        </p:nvSpPr>
        <p:spPr>
          <a:xfrm>
            <a:off x="850392" y="5148072"/>
            <a:ext cx="2066544" cy="201168"/>
          </a:xfrm>
          <a:prstGeom prst="rect">
            <a:avLst/>
          </a:prstGeom>
          <a:noFill/>
          <a:ln/>
        </p:spPr>
        <p:txBody>
          <a:bodyPr wrap="square" lIns="0" tIns="0" rIns="0" bIns="0" rtlCol="0" anchor="ctr">
            <a:normAutofit/>
          </a:bodyPr>
          <a:lstStyle/>
          <a:p>
            <a:pPr marL="0" indent="0" algn="ctr">
              <a:buNone/>
            </a:pPr>
            <a:r>
              <a:rPr lang="en-US" sz="1000" b="1" dirty="0">
                <a:solidFill>
                  <a:srgbClr val="15A68C"/>
                </a:solidFill>
                <a:latin typeface="Aptos" pitchFamily="34" charset="0"/>
                <a:ea typeface="Aptos" pitchFamily="34" charset="-122"/>
                <a:cs typeface="Aptos" pitchFamily="34" charset="-120"/>
              </a:rPr>
              <a:t>Keep It Small and Simple</a:t>
            </a:r>
            <a:endParaRPr lang="en-US" sz="1000" dirty="0"/>
          </a:p>
        </p:txBody>
      </p:sp>
      <p:sp>
        <p:nvSpPr>
          <p:cNvPr id="37" name="Shape 34"/>
          <p:cNvSpPr/>
          <p:nvPr/>
        </p:nvSpPr>
        <p:spPr>
          <a:xfrm>
            <a:off x="3035808" y="5138928"/>
            <a:ext cx="2286000" cy="219456"/>
          </a:xfrm>
          <a:prstGeom prst="roundRect">
            <a:avLst>
              <a:gd name="adj" fmla="val 54167"/>
            </a:avLst>
          </a:prstGeom>
          <a:solidFill>
            <a:srgbClr val="FFFFFF"/>
          </a:solidFill>
          <a:ln w="12700">
            <a:solidFill>
              <a:srgbClr val="FFFFFF">
                <a:alpha val="0"/>
              </a:srgbClr>
            </a:solidFill>
            <a:prstDash val="solid"/>
          </a:ln>
        </p:spPr>
        <p:txBody>
          <a:bodyPr/>
          <a:lstStyle/>
          <a:p>
            <a:endParaRPr lang="nb-NO"/>
          </a:p>
        </p:txBody>
      </p:sp>
      <p:sp>
        <p:nvSpPr>
          <p:cNvPr id="38" name="Text 35"/>
          <p:cNvSpPr txBox="1"/>
          <p:nvPr/>
        </p:nvSpPr>
        <p:spPr>
          <a:xfrm>
            <a:off x="3090672" y="5148072"/>
            <a:ext cx="2176272" cy="201168"/>
          </a:xfrm>
          <a:prstGeom prst="rect">
            <a:avLst/>
          </a:prstGeom>
          <a:noFill/>
          <a:ln/>
        </p:spPr>
        <p:txBody>
          <a:bodyPr wrap="square" lIns="0" tIns="0" rIns="0" bIns="0" rtlCol="0" anchor="ctr">
            <a:normAutofit/>
          </a:bodyPr>
          <a:lstStyle/>
          <a:p>
            <a:pPr marL="0" indent="0" algn="ctr">
              <a:buNone/>
            </a:pPr>
            <a:r>
              <a:rPr lang="en-US" sz="1000" b="1" dirty="0">
                <a:solidFill>
                  <a:srgbClr val="15A68C"/>
                </a:solidFill>
                <a:latin typeface="Aptos" pitchFamily="34" charset="0"/>
                <a:ea typeface="Aptos" pitchFamily="34" charset="-122"/>
                <a:cs typeface="Aptos" pitchFamily="34" charset="-120"/>
              </a:rPr>
              <a:t>Vizzo et al., RA-L 2023</a:t>
            </a:r>
            <a:endParaRPr lang="en-US" sz="1000" dirty="0"/>
          </a:p>
        </p:txBody>
      </p:sp>
      <p:sp>
        <p:nvSpPr>
          <p:cNvPr id="39" name="TextBox 38"/>
          <p:cNvSpPr txBox="1"/>
          <p:nvPr/>
        </p:nvSpPr>
        <p:spPr>
          <a:xfrm>
            <a:off x="5669280" y="1737360"/>
            <a:ext cx="2697480" cy="1751762"/>
          </a:xfrm>
          <a:prstGeom prst="rect">
            <a:avLst/>
          </a:prstGeom>
          <a:noFill/>
        </p:spPr>
        <p:txBody>
          <a:bodyPr wrap="square" lIns="0" rIns="0">
            <a:spAutoFit/>
          </a:bodyPr>
          <a:lstStyle/>
          <a:p>
            <a:pPr>
              <a:spcAft>
                <a:spcPts val="1000"/>
              </a:spcAft>
            </a:pPr>
            <a:r>
              <a:rPr sz="1700" b="1" dirty="0">
                <a:solidFill>
                  <a:srgbClr val="15A68C"/>
                </a:solidFill>
                <a:latin typeface="Aptos"/>
              </a:rPr>
              <a:t>Uses</a:t>
            </a:r>
          </a:p>
          <a:p>
            <a:pPr>
              <a:spcAft>
                <a:spcPts val="900"/>
              </a:spcAft>
            </a:pPr>
            <a:r>
              <a:rPr sz="1350" dirty="0">
                <a:solidFill>
                  <a:srgbClr val="142E53"/>
                </a:solidFill>
                <a:latin typeface="Aptos"/>
              </a:rPr>
              <a:t>•  Robot and vehicle odometry</a:t>
            </a:r>
          </a:p>
          <a:p>
            <a:pPr>
              <a:spcAft>
                <a:spcPts val="900"/>
              </a:spcAft>
            </a:pPr>
            <a:r>
              <a:rPr sz="1350" dirty="0">
                <a:solidFill>
                  <a:srgbClr val="142E53"/>
                </a:solidFill>
                <a:latin typeface="Aptos"/>
              </a:rPr>
              <a:t>•  Front end of a SLAM system</a:t>
            </a:r>
            <a:r>
              <a:rPr lang="nb-NO" sz="1350" dirty="0">
                <a:solidFill>
                  <a:srgbClr val="142E53"/>
                </a:solidFill>
                <a:latin typeface="Aptos"/>
              </a:rPr>
              <a:t> ( </a:t>
            </a:r>
            <a:r>
              <a:rPr lang="nb-NO" sz="1350" dirty="0" err="1">
                <a:solidFill>
                  <a:srgbClr val="142E53"/>
                </a:solidFill>
                <a:latin typeface="Aptos"/>
              </a:rPr>
              <a:t>own</a:t>
            </a:r>
            <a:r>
              <a:rPr lang="nb-NO" sz="1350" dirty="0">
                <a:solidFill>
                  <a:srgbClr val="142E53"/>
                </a:solidFill>
                <a:latin typeface="Aptos"/>
              </a:rPr>
              <a:t> </a:t>
            </a:r>
            <a:r>
              <a:rPr lang="nb-NO" sz="1350" dirty="0" err="1">
                <a:solidFill>
                  <a:srgbClr val="142E53"/>
                </a:solidFill>
                <a:latin typeface="Aptos"/>
              </a:rPr>
              <a:t>position</a:t>
            </a:r>
            <a:r>
              <a:rPr lang="nb-NO" sz="1350" dirty="0">
                <a:solidFill>
                  <a:srgbClr val="142E53"/>
                </a:solidFill>
                <a:latin typeface="Aptos"/>
              </a:rPr>
              <a:t> </a:t>
            </a:r>
            <a:r>
              <a:rPr lang="nb-NO" sz="1350" dirty="0" err="1">
                <a:solidFill>
                  <a:srgbClr val="142E53"/>
                </a:solidFill>
                <a:latin typeface="Aptos"/>
              </a:rPr>
              <a:t>tracking</a:t>
            </a:r>
            <a:r>
              <a:rPr lang="nb-NO" sz="1350" dirty="0">
                <a:solidFill>
                  <a:srgbClr val="142E53"/>
                </a:solidFill>
                <a:latin typeface="Aptos"/>
              </a:rPr>
              <a:t> in </a:t>
            </a:r>
            <a:r>
              <a:rPr lang="nb-NO" sz="1350" dirty="0" err="1">
                <a:solidFill>
                  <a:srgbClr val="142E53"/>
                </a:solidFill>
                <a:latin typeface="Aptos"/>
              </a:rPr>
              <a:t>uknown</a:t>
            </a:r>
            <a:r>
              <a:rPr lang="nb-NO" sz="1350" dirty="0">
                <a:solidFill>
                  <a:srgbClr val="142E53"/>
                </a:solidFill>
                <a:latin typeface="Aptos"/>
              </a:rPr>
              <a:t> </a:t>
            </a:r>
            <a:r>
              <a:rPr lang="nb-NO" sz="1350" dirty="0" err="1">
                <a:solidFill>
                  <a:srgbClr val="142E53"/>
                </a:solidFill>
                <a:latin typeface="Aptos"/>
              </a:rPr>
              <a:t>places</a:t>
            </a:r>
            <a:r>
              <a:rPr lang="nb-NO" sz="1350" dirty="0">
                <a:solidFill>
                  <a:srgbClr val="142E53"/>
                </a:solidFill>
                <a:latin typeface="Aptos"/>
              </a:rPr>
              <a:t>)</a:t>
            </a:r>
            <a:endParaRPr sz="1350" dirty="0">
              <a:solidFill>
                <a:srgbClr val="142E53"/>
              </a:solidFill>
              <a:latin typeface="Aptos"/>
            </a:endParaRPr>
          </a:p>
          <a:p>
            <a:pPr>
              <a:spcAft>
                <a:spcPts val="900"/>
              </a:spcAft>
            </a:pPr>
            <a:r>
              <a:rPr sz="1350" dirty="0">
                <a:solidFill>
                  <a:srgbClr val="142E53"/>
                </a:solidFill>
                <a:latin typeface="Aptos"/>
              </a:rPr>
              <a:t>•  No camera, GPS or training data needed</a:t>
            </a:r>
            <a:endParaRPr lang="nb-NO" sz="1350" dirty="0">
              <a:solidFill>
                <a:srgbClr val="142E53"/>
              </a:solidFill>
              <a:latin typeface="Aptos"/>
            </a:endParaRPr>
          </a:p>
        </p:txBody>
      </p:sp>
      <p:sp>
        <p:nvSpPr>
          <p:cNvPr id="40" name="TextBox 39"/>
          <p:cNvSpPr txBox="1"/>
          <p:nvPr/>
        </p:nvSpPr>
        <p:spPr>
          <a:xfrm>
            <a:off x="8595360" y="1737360"/>
            <a:ext cx="2834640" cy="2074927"/>
          </a:xfrm>
          <a:prstGeom prst="rect">
            <a:avLst/>
          </a:prstGeom>
          <a:noFill/>
        </p:spPr>
        <p:txBody>
          <a:bodyPr wrap="square" lIns="0" rIns="0">
            <a:spAutoFit/>
          </a:bodyPr>
          <a:lstStyle/>
          <a:p>
            <a:pPr>
              <a:spcAft>
                <a:spcPts val="1000"/>
              </a:spcAft>
            </a:pPr>
            <a:r>
              <a:rPr sz="1700" b="1" dirty="0">
                <a:solidFill>
                  <a:srgbClr val="DC5791"/>
                </a:solidFill>
                <a:latin typeface="Aptos"/>
              </a:rPr>
              <a:t>Drawbacks</a:t>
            </a:r>
          </a:p>
          <a:p>
            <a:pPr>
              <a:spcAft>
                <a:spcPts val="900"/>
              </a:spcAft>
            </a:pPr>
            <a:r>
              <a:rPr sz="1350" dirty="0">
                <a:solidFill>
                  <a:srgbClr val="142E53"/>
                </a:solidFill>
                <a:latin typeface="Aptos"/>
              </a:rPr>
              <a:t>•  Drifts over time (no loop closure)</a:t>
            </a:r>
          </a:p>
          <a:p>
            <a:pPr>
              <a:spcAft>
                <a:spcPts val="900"/>
              </a:spcAft>
            </a:pPr>
            <a:r>
              <a:rPr sz="1350" dirty="0">
                <a:solidFill>
                  <a:srgbClr val="142E53"/>
                </a:solidFill>
                <a:latin typeface="Aptos"/>
              </a:rPr>
              <a:t>•  Weak in repetitive or sparse scenes</a:t>
            </a:r>
          </a:p>
          <a:p>
            <a:pPr>
              <a:spcAft>
                <a:spcPts val="900"/>
              </a:spcAft>
            </a:pPr>
            <a:r>
              <a:rPr sz="1350" dirty="0">
                <a:solidFill>
                  <a:srgbClr val="142E53"/>
                </a:solidFill>
                <a:latin typeface="Aptos"/>
              </a:rPr>
              <a:t>•  Assumes a mostly static world; moving objects bias it</a:t>
            </a:r>
          </a:p>
          <a:p>
            <a:pPr>
              <a:spcAft>
                <a:spcPts val="900"/>
              </a:spcAft>
            </a:pPr>
            <a:r>
              <a:rPr sz="1350" dirty="0">
                <a:solidFill>
                  <a:srgbClr val="142E53"/>
                </a:solidFill>
                <a:latin typeface="Aptos"/>
              </a:rPr>
              <a:t>•  Gives the sensor pose, not object poses</a:t>
            </a:r>
            <a:r>
              <a:rPr lang="nb-NO" sz="1350" dirty="0">
                <a:solidFill>
                  <a:srgbClr val="142E53"/>
                </a:solidFill>
                <a:latin typeface="Aptos"/>
              </a:rPr>
              <a:t> (</a:t>
            </a:r>
            <a:r>
              <a:rPr lang="nb-NO" sz="1350" dirty="0" err="1">
                <a:solidFill>
                  <a:srgbClr val="142E53"/>
                </a:solidFill>
                <a:latin typeface="Aptos"/>
              </a:rPr>
              <a:t>position</a:t>
            </a:r>
            <a:r>
              <a:rPr lang="nb-NO" sz="1350" dirty="0">
                <a:solidFill>
                  <a:srgbClr val="142E53"/>
                </a:solidFill>
                <a:latin typeface="Aptos"/>
              </a:rPr>
              <a:t> and </a:t>
            </a:r>
            <a:r>
              <a:rPr lang="nb-NO" sz="1350" dirty="0" err="1">
                <a:solidFill>
                  <a:srgbClr val="142E53"/>
                </a:solidFill>
                <a:latin typeface="Aptos"/>
              </a:rPr>
              <a:t>orientation</a:t>
            </a:r>
            <a:r>
              <a:rPr lang="nb-NO" sz="1350" dirty="0">
                <a:solidFill>
                  <a:srgbClr val="142E53"/>
                </a:solidFill>
                <a:latin typeface="Aptos"/>
              </a:rPr>
              <a:t>)</a:t>
            </a:r>
            <a:endParaRPr sz="1350" dirty="0">
              <a:solidFill>
                <a:srgbClr val="142E53"/>
              </a:solidFill>
              <a:latin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Q2</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lang="en-US" sz="2500" b="1" dirty="0">
                <a:solidFill>
                  <a:srgbClr val="142E53"/>
                </a:solidFill>
                <a:latin typeface="Aptos Display" pitchFamily="34" charset="0"/>
                <a:ea typeface="Aptos Display" pitchFamily="34" charset="-122"/>
                <a:cs typeface="Aptos Display" pitchFamily="34" charset="-120"/>
              </a:rPr>
              <a:t>Q2(b) KISS-ICP — sensor motion vs load motion</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ctr">
              <a:buNone/>
            </a:pPr>
            <a:r>
              <a:rPr lang="en-US" sz="1000" dirty="0">
                <a:solidFill>
                  <a:srgbClr val="58687C"/>
                </a:solidFill>
                <a:latin typeface="Aptos" pitchFamily="34" charset="0"/>
                <a:ea typeface="Aptos" pitchFamily="34" charset="-122"/>
                <a:cs typeface="Aptos" pitchFamily="34" charset="-120"/>
              </a:rPr>
              <a:t>ICP estimates LiDAR sensor poses; DBSCAN tracks the moving object</a:t>
            </a:r>
            <a:endParaRPr lang="en-US" sz="1000" dirty="0"/>
          </a:p>
        </p:txBody>
      </p:sp>
      <p:sp>
        <p:nvSpPr>
          <p:cNvPr id="7" name="Shape 5"/>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76072"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12</a:t>
            </a:r>
            <a:endParaRPr lang="en-US" sz="1100" dirty="0"/>
          </a:p>
        </p:txBody>
      </p:sp>
      <p:sp>
        <p:nvSpPr>
          <p:cNvPr id="10" name="Shape 8"/>
          <p:cNvSpPr/>
          <p:nvPr/>
        </p:nvSpPr>
        <p:spPr>
          <a:xfrm>
            <a:off x="512064" y="1078992"/>
            <a:ext cx="5541264" cy="3438144"/>
          </a:xfrm>
          <a:prstGeom prst="roundRect">
            <a:avLst>
              <a:gd name="adj" fmla="val 3457"/>
            </a:avLst>
          </a:prstGeom>
          <a:solidFill>
            <a:srgbClr val="FFFFFF"/>
          </a:solidFill>
          <a:ln w="7620">
            <a:solidFill>
              <a:srgbClr val="D7E2EE"/>
            </a:solidFill>
            <a:prstDash val="solid"/>
          </a:ln>
        </p:spPr>
        <p:txBody>
          <a:bodyPr/>
          <a:lstStyle/>
          <a:p>
            <a:endParaRPr lang="nb-NO"/>
          </a:p>
        </p:txBody>
      </p:sp>
      <p:sp>
        <p:nvSpPr>
          <p:cNvPr id="11" name="Shape 9"/>
          <p:cNvSpPr/>
          <p:nvPr/>
        </p:nvSpPr>
        <p:spPr>
          <a:xfrm>
            <a:off x="640080" y="1188720"/>
            <a:ext cx="2651760" cy="274320"/>
          </a:xfrm>
          <a:prstGeom prst="roundRect">
            <a:avLst>
              <a:gd name="adj" fmla="val 43333"/>
            </a:avLst>
          </a:prstGeom>
          <a:solidFill>
            <a:srgbClr val="E4EEFF"/>
          </a:solidFill>
          <a:ln w="12700">
            <a:solidFill>
              <a:srgbClr val="E4EEFF">
                <a:alpha val="0"/>
              </a:srgbClr>
            </a:solidFill>
            <a:prstDash val="solid"/>
          </a:ln>
        </p:spPr>
        <p:txBody>
          <a:bodyPr/>
          <a:lstStyle/>
          <a:p>
            <a:endParaRPr lang="nb-NO"/>
          </a:p>
        </p:txBody>
      </p:sp>
      <p:sp>
        <p:nvSpPr>
          <p:cNvPr id="12" name="Text 10"/>
          <p:cNvSpPr txBox="1"/>
          <p:nvPr/>
        </p:nvSpPr>
        <p:spPr>
          <a:xfrm>
            <a:off x="694944" y="1197864"/>
            <a:ext cx="2542032" cy="25603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KISS-ICP: sensor trajectory</a:t>
            </a:r>
            <a:endParaRPr lang="en-US" sz="1000" dirty="0"/>
          </a:p>
        </p:txBody>
      </p:sp>
      <p:pic>
        <p:nvPicPr>
          <p:cNvPr id="13" name="Image 0" descr="/mnt/data/ppt_work/notebook_assets/cell_40_1.png"/>
          <p:cNvPicPr>
            <a:picLocks noChangeAspect="1"/>
          </p:cNvPicPr>
          <p:nvPr/>
        </p:nvPicPr>
        <p:blipFill>
          <a:blip r:embed="rId3"/>
          <a:stretch>
            <a:fillRect/>
          </a:stretch>
        </p:blipFill>
        <p:spPr>
          <a:xfrm>
            <a:off x="1828455" y="1517904"/>
            <a:ext cx="2908481" cy="2916936"/>
          </a:xfrm>
          <a:prstGeom prst="rect">
            <a:avLst/>
          </a:prstGeom>
        </p:spPr>
      </p:pic>
      <p:sp>
        <p:nvSpPr>
          <p:cNvPr id="14" name="Shape 11"/>
          <p:cNvSpPr/>
          <p:nvPr/>
        </p:nvSpPr>
        <p:spPr>
          <a:xfrm>
            <a:off x="6135624" y="1078992"/>
            <a:ext cx="5541264" cy="3438144"/>
          </a:xfrm>
          <a:prstGeom prst="roundRect">
            <a:avLst>
              <a:gd name="adj" fmla="val 3457"/>
            </a:avLst>
          </a:prstGeom>
          <a:solidFill>
            <a:srgbClr val="FFFFFF"/>
          </a:solidFill>
          <a:ln w="7620">
            <a:solidFill>
              <a:srgbClr val="D7E2EE"/>
            </a:solidFill>
            <a:prstDash val="solid"/>
          </a:ln>
        </p:spPr>
        <p:txBody>
          <a:bodyPr/>
          <a:lstStyle/>
          <a:p>
            <a:endParaRPr lang="nb-NO"/>
          </a:p>
        </p:txBody>
      </p:sp>
      <p:sp>
        <p:nvSpPr>
          <p:cNvPr id="15" name="Shape 12"/>
          <p:cNvSpPr/>
          <p:nvPr/>
        </p:nvSpPr>
        <p:spPr>
          <a:xfrm>
            <a:off x="6263640" y="1188720"/>
            <a:ext cx="2651760" cy="274320"/>
          </a:xfrm>
          <a:prstGeom prst="roundRect">
            <a:avLst>
              <a:gd name="adj" fmla="val 43333"/>
            </a:avLst>
          </a:prstGeom>
          <a:solidFill>
            <a:srgbClr val="E1F5EF"/>
          </a:solidFill>
          <a:ln w="12700">
            <a:solidFill>
              <a:srgbClr val="E1F5EF">
                <a:alpha val="0"/>
              </a:srgbClr>
            </a:solidFill>
            <a:prstDash val="solid"/>
          </a:ln>
        </p:spPr>
        <p:txBody>
          <a:bodyPr/>
          <a:lstStyle/>
          <a:p>
            <a:endParaRPr lang="nb-NO"/>
          </a:p>
        </p:txBody>
      </p:sp>
      <p:sp>
        <p:nvSpPr>
          <p:cNvPr id="16" name="Text 13"/>
          <p:cNvSpPr txBox="1"/>
          <p:nvPr/>
        </p:nvSpPr>
        <p:spPr>
          <a:xfrm>
            <a:off x="6318504" y="1197864"/>
            <a:ext cx="2542032" cy="25603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Load in first-scan reference frame</a:t>
            </a:r>
            <a:endParaRPr lang="en-US" sz="1000" dirty="0"/>
          </a:p>
        </p:txBody>
      </p:sp>
      <p:pic>
        <p:nvPicPr>
          <p:cNvPr id="17" name="Image 1" descr="/mnt/data/ppt_work/notebook_assets/cell_40_2.png"/>
          <p:cNvPicPr>
            <a:picLocks noChangeAspect="1"/>
          </p:cNvPicPr>
          <p:nvPr/>
        </p:nvPicPr>
        <p:blipFill>
          <a:blip r:embed="rId4"/>
          <a:stretch>
            <a:fillRect/>
          </a:stretch>
        </p:blipFill>
        <p:spPr>
          <a:xfrm>
            <a:off x="7471039" y="1517904"/>
            <a:ext cx="2870434" cy="2916936"/>
          </a:xfrm>
          <a:prstGeom prst="rect">
            <a:avLst/>
          </a:prstGeom>
        </p:spPr>
      </p:pic>
      <p:sp>
        <p:nvSpPr>
          <p:cNvPr id="18" name="Shape 14"/>
          <p:cNvSpPr/>
          <p:nvPr/>
        </p:nvSpPr>
        <p:spPr>
          <a:xfrm>
            <a:off x="950976" y="4608576"/>
            <a:ext cx="2807208" cy="640080"/>
          </a:xfrm>
          <a:prstGeom prst="roundRect">
            <a:avLst>
              <a:gd name="adj" fmla="val 18571"/>
            </a:avLst>
          </a:prstGeom>
          <a:solidFill>
            <a:srgbClr val="E4EEFF"/>
          </a:solidFill>
          <a:ln w="12700">
            <a:solidFill>
              <a:srgbClr val="E4EEFF">
                <a:alpha val="0"/>
              </a:srgbClr>
            </a:solidFill>
            <a:prstDash val="solid"/>
          </a:ln>
        </p:spPr>
        <p:txBody>
          <a:bodyPr/>
          <a:lstStyle/>
          <a:p>
            <a:endParaRPr lang="nb-NO"/>
          </a:p>
        </p:txBody>
      </p:sp>
      <p:sp>
        <p:nvSpPr>
          <p:cNvPr id="19" name="Text 15"/>
          <p:cNvSpPr txBox="1"/>
          <p:nvPr/>
        </p:nvSpPr>
        <p:spPr>
          <a:xfrm>
            <a:off x="1014984" y="4690872"/>
            <a:ext cx="2679192" cy="300838"/>
          </a:xfrm>
          <a:prstGeom prst="rect">
            <a:avLst/>
          </a:prstGeom>
          <a:noFill/>
          <a:ln/>
        </p:spPr>
        <p:txBody>
          <a:bodyPr wrap="square" lIns="0" tIns="0" rIns="0" bIns="0" rtlCol="0" anchor="ctr">
            <a:normAutofit fontScale="92500" lnSpcReduction="10000"/>
          </a:bodyPr>
          <a:lstStyle/>
          <a:p>
            <a:pPr marL="0" indent="0" algn="ctr">
              <a:buNone/>
            </a:pPr>
            <a:r>
              <a:rPr lang="en-US" sz="2200" b="1" dirty="0">
                <a:solidFill>
                  <a:srgbClr val="142E53"/>
                </a:solidFill>
                <a:latin typeface="Aptos" pitchFamily="34" charset="0"/>
                <a:ea typeface="Aptos" pitchFamily="34" charset="-122"/>
                <a:cs typeface="Aptos" pitchFamily="34" charset="-120"/>
              </a:rPr>
              <a:t>0.0046 m</a:t>
            </a:r>
            <a:endParaRPr lang="en-US" sz="2200" dirty="0"/>
          </a:p>
        </p:txBody>
      </p:sp>
      <p:sp>
        <p:nvSpPr>
          <p:cNvPr id="20" name="Text 16"/>
          <p:cNvSpPr txBox="1"/>
          <p:nvPr/>
        </p:nvSpPr>
        <p:spPr>
          <a:xfrm>
            <a:off x="1033272" y="4999025"/>
            <a:ext cx="2642616" cy="179222"/>
          </a:xfrm>
          <a:prstGeom prst="rect">
            <a:avLst/>
          </a:prstGeom>
          <a:noFill/>
          <a:ln/>
        </p:spPr>
        <p:txBody>
          <a:bodyPr wrap="square" lIns="0" tIns="0" rIns="0" bIns="0" rtlCol="0" anchor="ctr">
            <a:normAutofit/>
          </a:bodyPr>
          <a:lstStyle/>
          <a:p>
            <a:pPr marL="0" indent="0" algn="ctr">
              <a:buNone/>
            </a:pPr>
            <a:r>
              <a:rPr lang="en-US" sz="940" dirty="0">
                <a:solidFill>
                  <a:srgbClr val="58687C"/>
                </a:solidFill>
                <a:latin typeface="Aptos" pitchFamily="34" charset="0"/>
                <a:ea typeface="Aptos" pitchFamily="34" charset="-122"/>
                <a:cs typeface="Aptos" pitchFamily="34" charset="-120"/>
              </a:rPr>
              <a:t>Max sensor translation</a:t>
            </a:r>
            <a:endParaRPr lang="en-US" sz="940" dirty="0"/>
          </a:p>
        </p:txBody>
      </p:sp>
      <p:sp>
        <p:nvSpPr>
          <p:cNvPr id="21" name="Shape 17"/>
          <p:cNvSpPr/>
          <p:nvPr/>
        </p:nvSpPr>
        <p:spPr>
          <a:xfrm>
            <a:off x="3886200" y="4608576"/>
            <a:ext cx="2788920" cy="640080"/>
          </a:xfrm>
          <a:prstGeom prst="roundRect">
            <a:avLst>
              <a:gd name="adj" fmla="val 18571"/>
            </a:avLst>
          </a:prstGeom>
          <a:solidFill>
            <a:srgbClr val="EFE8FA"/>
          </a:solidFill>
          <a:ln w="12700">
            <a:solidFill>
              <a:srgbClr val="EFE8FA">
                <a:alpha val="0"/>
              </a:srgbClr>
            </a:solidFill>
            <a:prstDash val="solid"/>
          </a:ln>
        </p:spPr>
        <p:txBody>
          <a:bodyPr/>
          <a:lstStyle/>
          <a:p>
            <a:endParaRPr lang="nb-NO"/>
          </a:p>
        </p:txBody>
      </p:sp>
      <p:sp>
        <p:nvSpPr>
          <p:cNvPr id="22" name="Text 18"/>
          <p:cNvSpPr txBox="1"/>
          <p:nvPr/>
        </p:nvSpPr>
        <p:spPr>
          <a:xfrm>
            <a:off x="3950208" y="4690872"/>
            <a:ext cx="2660904" cy="300838"/>
          </a:xfrm>
          <a:prstGeom prst="rect">
            <a:avLst/>
          </a:prstGeom>
          <a:noFill/>
          <a:ln/>
        </p:spPr>
        <p:txBody>
          <a:bodyPr wrap="square" lIns="0" tIns="0" rIns="0" bIns="0" rtlCol="0" anchor="ctr">
            <a:normAutofit fontScale="92500" lnSpcReduction="10000"/>
          </a:bodyPr>
          <a:lstStyle/>
          <a:p>
            <a:pPr marL="0" indent="0" algn="ctr">
              <a:buNone/>
            </a:pPr>
            <a:r>
              <a:rPr lang="en-US" sz="2200" b="1" dirty="0">
                <a:solidFill>
                  <a:srgbClr val="142E53"/>
                </a:solidFill>
                <a:latin typeface="Aptos" pitchFamily="34" charset="0"/>
                <a:ea typeface="Aptos" pitchFamily="34" charset="-122"/>
                <a:cs typeface="Aptos" pitchFamily="34" charset="-120"/>
              </a:rPr>
              <a:t>0.0191°</a:t>
            </a:r>
            <a:endParaRPr lang="en-US" sz="2200" dirty="0"/>
          </a:p>
        </p:txBody>
      </p:sp>
      <p:sp>
        <p:nvSpPr>
          <p:cNvPr id="23" name="Text 19"/>
          <p:cNvSpPr txBox="1"/>
          <p:nvPr/>
        </p:nvSpPr>
        <p:spPr>
          <a:xfrm>
            <a:off x="3968496" y="4999025"/>
            <a:ext cx="2624328" cy="179222"/>
          </a:xfrm>
          <a:prstGeom prst="rect">
            <a:avLst/>
          </a:prstGeom>
          <a:noFill/>
          <a:ln/>
        </p:spPr>
        <p:txBody>
          <a:bodyPr wrap="square" lIns="0" tIns="0" rIns="0" bIns="0" rtlCol="0" anchor="ctr">
            <a:normAutofit/>
          </a:bodyPr>
          <a:lstStyle/>
          <a:p>
            <a:pPr marL="0" indent="0" algn="ctr">
              <a:buNone/>
            </a:pPr>
            <a:r>
              <a:rPr lang="en-US" sz="940" dirty="0">
                <a:solidFill>
                  <a:srgbClr val="58687C"/>
                </a:solidFill>
                <a:latin typeface="Aptos" pitchFamily="34" charset="0"/>
                <a:ea typeface="Aptos" pitchFamily="34" charset="-122"/>
                <a:cs typeface="Aptos" pitchFamily="34" charset="-120"/>
              </a:rPr>
              <a:t>Max sensor rotation</a:t>
            </a:r>
            <a:endParaRPr lang="en-US" sz="940" dirty="0"/>
          </a:p>
        </p:txBody>
      </p:sp>
      <p:sp>
        <p:nvSpPr>
          <p:cNvPr id="24" name="Shape 20"/>
          <p:cNvSpPr/>
          <p:nvPr/>
        </p:nvSpPr>
        <p:spPr>
          <a:xfrm>
            <a:off x="6830568" y="4608576"/>
            <a:ext cx="4443984" cy="640080"/>
          </a:xfrm>
          <a:prstGeom prst="roundRect">
            <a:avLst>
              <a:gd name="adj" fmla="val 18571"/>
            </a:avLst>
          </a:prstGeom>
          <a:solidFill>
            <a:srgbClr val="FFF2D4"/>
          </a:solidFill>
          <a:ln w="12700">
            <a:solidFill>
              <a:srgbClr val="FFF2D4">
                <a:alpha val="0"/>
              </a:srgbClr>
            </a:solidFill>
            <a:prstDash val="solid"/>
          </a:ln>
        </p:spPr>
        <p:txBody>
          <a:bodyPr/>
          <a:lstStyle/>
          <a:p>
            <a:endParaRPr lang="nb-NO"/>
          </a:p>
        </p:txBody>
      </p:sp>
      <p:sp>
        <p:nvSpPr>
          <p:cNvPr id="25" name="Text 21"/>
          <p:cNvSpPr txBox="1"/>
          <p:nvPr/>
        </p:nvSpPr>
        <p:spPr>
          <a:xfrm>
            <a:off x="7095744" y="4764024"/>
            <a:ext cx="3950208" cy="256032"/>
          </a:xfrm>
          <a:prstGeom prst="rect">
            <a:avLst/>
          </a:prstGeom>
          <a:noFill/>
          <a:ln/>
        </p:spPr>
        <p:txBody>
          <a:bodyPr wrap="square" lIns="0" tIns="0" rIns="0" bIns="0" rtlCol="0" anchor="ctr">
            <a:normAutofit/>
          </a:bodyPr>
          <a:lstStyle/>
          <a:p>
            <a:pPr marL="0" indent="0" algn="ctr">
              <a:buNone/>
            </a:pPr>
            <a:r>
              <a:rPr lang="en-US" sz="1200" b="1" dirty="0">
                <a:solidFill>
                  <a:srgbClr val="142E53"/>
                </a:solidFill>
                <a:latin typeface="Aptos" pitchFamily="34" charset="0"/>
                <a:ea typeface="Aptos" pitchFamily="34" charset="-122"/>
                <a:cs typeface="Aptos" pitchFamily="34" charset="-120"/>
              </a:rPr>
              <a:t>Near-zero sensor motion ≠ stationary load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Q3</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lang="en-US" sz="2500" b="1" dirty="0">
                <a:solidFill>
                  <a:srgbClr val="142E53"/>
                </a:solidFill>
                <a:latin typeface="Aptos Display" pitchFamily="34" charset="0"/>
                <a:ea typeface="Aptos Display" pitchFamily="34" charset="-122"/>
                <a:cs typeface="Aptos Display" pitchFamily="34" charset="-120"/>
              </a:rPr>
              <a:t>Q3(a) KITTI dataset and calibration</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ctr">
              <a:buNone/>
            </a:pPr>
            <a:r>
              <a:rPr lang="en-US" sz="1000" dirty="0"/>
              <a:t>Q1 – Pixel to 3D - Q3 3D to pixel.</a:t>
            </a:r>
          </a:p>
        </p:txBody>
      </p:sp>
      <p:sp>
        <p:nvSpPr>
          <p:cNvPr id="7" name="Shape 5"/>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76072"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13</a:t>
            </a:r>
            <a:endParaRPr lang="en-US" sz="1100" dirty="0"/>
          </a:p>
        </p:txBody>
      </p:sp>
      <p:sp>
        <p:nvSpPr>
          <p:cNvPr id="10" name="Shape 8"/>
          <p:cNvSpPr/>
          <p:nvPr/>
        </p:nvSpPr>
        <p:spPr>
          <a:xfrm>
            <a:off x="557784" y="1143000"/>
            <a:ext cx="6099048" cy="2651760"/>
          </a:xfrm>
          <a:prstGeom prst="roundRect">
            <a:avLst>
              <a:gd name="adj" fmla="val 4483"/>
            </a:avLst>
          </a:prstGeom>
          <a:solidFill>
            <a:srgbClr val="FFFFFF"/>
          </a:solidFill>
          <a:ln w="7620">
            <a:solidFill>
              <a:srgbClr val="D7E2EE"/>
            </a:solidFill>
            <a:prstDash val="solid"/>
          </a:ln>
        </p:spPr>
        <p:txBody>
          <a:bodyPr/>
          <a:lstStyle/>
          <a:p>
            <a:endParaRPr lang="nb-NO"/>
          </a:p>
        </p:txBody>
      </p:sp>
      <p:sp>
        <p:nvSpPr>
          <p:cNvPr id="11" name="Shape 9"/>
          <p:cNvSpPr/>
          <p:nvPr/>
        </p:nvSpPr>
        <p:spPr>
          <a:xfrm>
            <a:off x="685800" y="1252728"/>
            <a:ext cx="2651760" cy="274320"/>
          </a:xfrm>
          <a:prstGeom prst="roundRect">
            <a:avLst>
              <a:gd name="adj" fmla="val 43333"/>
            </a:avLst>
          </a:prstGeom>
          <a:solidFill>
            <a:srgbClr val="E4EEFF"/>
          </a:solidFill>
          <a:ln w="12700">
            <a:solidFill>
              <a:srgbClr val="E4EEFF">
                <a:alpha val="0"/>
              </a:srgbClr>
            </a:solidFill>
            <a:prstDash val="solid"/>
          </a:ln>
        </p:spPr>
        <p:txBody>
          <a:bodyPr/>
          <a:lstStyle/>
          <a:p>
            <a:endParaRPr lang="nb-NO"/>
          </a:p>
        </p:txBody>
      </p:sp>
      <p:sp>
        <p:nvSpPr>
          <p:cNvPr id="12" name="Text 10"/>
          <p:cNvSpPr txBox="1"/>
          <p:nvPr/>
        </p:nvSpPr>
        <p:spPr>
          <a:xfrm>
            <a:off x="740664" y="1261872"/>
            <a:ext cx="2542032" cy="25603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Example: annotated KITTI subset</a:t>
            </a:r>
            <a:endParaRPr lang="en-US" sz="1000" dirty="0"/>
          </a:p>
        </p:txBody>
      </p:sp>
      <p:pic>
        <p:nvPicPr>
          <p:cNvPr id="13" name="Image 0" descr="/mnt/data/ppt_work/notebook_assets/cell_45_1.png"/>
          <p:cNvPicPr>
            <a:picLocks noChangeAspect="1"/>
          </p:cNvPicPr>
          <p:nvPr/>
        </p:nvPicPr>
        <p:blipFill>
          <a:blip r:embed="rId3"/>
          <a:stretch>
            <a:fillRect/>
          </a:stretch>
        </p:blipFill>
        <p:spPr>
          <a:xfrm>
            <a:off x="658368" y="1679069"/>
            <a:ext cx="5897880" cy="1936237"/>
          </a:xfrm>
          <a:prstGeom prst="rect">
            <a:avLst/>
          </a:prstGeom>
        </p:spPr>
      </p:pic>
      <p:sp>
        <p:nvSpPr>
          <p:cNvPr id="14" name="Shape 11"/>
          <p:cNvSpPr/>
          <p:nvPr/>
        </p:nvSpPr>
        <p:spPr>
          <a:xfrm>
            <a:off x="6830568" y="1143000"/>
            <a:ext cx="4736592" cy="2651760"/>
          </a:xfrm>
          <a:prstGeom prst="roundRect">
            <a:avLst>
              <a:gd name="adj" fmla="val 4483"/>
            </a:avLst>
          </a:prstGeom>
          <a:solidFill>
            <a:srgbClr val="E1F5EF"/>
          </a:solidFill>
          <a:ln w="12700">
            <a:solidFill>
              <a:srgbClr val="E1F5EF">
                <a:alpha val="0"/>
              </a:srgbClr>
            </a:solidFill>
            <a:prstDash val="solid"/>
          </a:ln>
        </p:spPr>
        <p:txBody>
          <a:bodyPr/>
          <a:lstStyle/>
          <a:p>
            <a:endParaRPr lang="nb-NO"/>
          </a:p>
        </p:txBody>
      </p:sp>
      <p:sp>
        <p:nvSpPr>
          <p:cNvPr id="15" name="Text 12"/>
          <p:cNvSpPr txBox="1"/>
          <p:nvPr/>
        </p:nvSpPr>
        <p:spPr>
          <a:xfrm>
            <a:off x="7059168" y="1353312"/>
            <a:ext cx="4270248" cy="292608"/>
          </a:xfrm>
          <a:prstGeom prst="rect">
            <a:avLst/>
          </a:prstGeom>
          <a:noFill/>
          <a:ln/>
        </p:spPr>
        <p:txBody>
          <a:bodyPr wrap="square" lIns="0" tIns="0" rIns="0" bIns="0" rtlCol="0" anchor="ctr">
            <a:normAutofit/>
          </a:bodyPr>
          <a:lstStyle/>
          <a:p>
            <a:pPr marL="0" indent="0" algn="l">
              <a:buNone/>
            </a:pPr>
            <a:r>
              <a:rPr lang="en-US" sz="1500" b="1" dirty="0">
                <a:solidFill>
                  <a:srgbClr val="142E53"/>
                </a:solidFill>
                <a:latin typeface="Aptos" pitchFamily="34" charset="0"/>
              </a:rPr>
              <a:t>Every </a:t>
            </a:r>
            <a:r>
              <a:rPr lang="en-US" sz="1500" b="1" dirty="0" err="1">
                <a:solidFill>
                  <a:srgbClr val="142E53"/>
                </a:solidFill>
                <a:latin typeface="Aptos" pitchFamily="34" charset="0"/>
              </a:rPr>
              <a:t>fram</a:t>
            </a:r>
            <a:r>
              <a:rPr lang="en-US" sz="1500" b="1" dirty="0">
                <a:solidFill>
                  <a:srgbClr val="142E53"/>
                </a:solidFill>
                <a:latin typeface="Aptos" pitchFamily="34" charset="0"/>
              </a:rPr>
              <a:t> ID – Dataset saves:</a:t>
            </a:r>
            <a:endParaRPr lang="en-US" sz="1500" dirty="0"/>
          </a:p>
        </p:txBody>
      </p:sp>
      <p:sp>
        <p:nvSpPr>
          <p:cNvPr id="16" name="Shape 13"/>
          <p:cNvSpPr/>
          <p:nvPr/>
        </p:nvSpPr>
        <p:spPr>
          <a:xfrm>
            <a:off x="7077456" y="1764792"/>
            <a:ext cx="4242816" cy="347472"/>
          </a:xfrm>
          <a:prstGeom prst="roundRect">
            <a:avLst>
              <a:gd name="adj" fmla="val 34211"/>
            </a:avLst>
          </a:prstGeom>
          <a:solidFill>
            <a:srgbClr val="FFFFFF"/>
          </a:solidFill>
          <a:ln w="12700">
            <a:solidFill>
              <a:srgbClr val="FFFFFF">
                <a:alpha val="0"/>
              </a:srgbClr>
            </a:solidFill>
            <a:prstDash val="solid"/>
          </a:ln>
        </p:spPr>
        <p:txBody>
          <a:bodyPr/>
          <a:lstStyle/>
          <a:p>
            <a:endParaRPr lang="nb-NO"/>
          </a:p>
        </p:txBody>
      </p:sp>
      <p:sp>
        <p:nvSpPr>
          <p:cNvPr id="17" name="Text 14"/>
          <p:cNvSpPr txBox="1"/>
          <p:nvPr/>
        </p:nvSpPr>
        <p:spPr>
          <a:xfrm>
            <a:off x="7178040" y="1801368"/>
            <a:ext cx="1399032" cy="237744"/>
          </a:xfrm>
          <a:prstGeom prst="rect">
            <a:avLst/>
          </a:prstGeom>
          <a:noFill/>
          <a:ln/>
        </p:spPr>
        <p:txBody>
          <a:bodyPr wrap="square" lIns="0" tIns="0" rIns="0" bIns="0" rtlCol="0" anchor="ctr">
            <a:normAutofit/>
          </a:bodyPr>
          <a:lstStyle/>
          <a:p>
            <a:pPr marL="0" indent="0" algn="l">
              <a:buNone/>
            </a:pPr>
            <a:r>
              <a:rPr lang="en-US" sz="1000" b="1" dirty="0">
                <a:solidFill>
                  <a:srgbClr val="142E53"/>
                </a:solidFill>
                <a:latin typeface="Aptos" pitchFamily="34" charset="0"/>
                <a:ea typeface="Aptos" pitchFamily="34" charset="-122"/>
                <a:cs typeface="Aptos" pitchFamily="34" charset="-120"/>
              </a:rPr>
              <a:t>image_2</a:t>
            </a:r>
            <a:endParaRPr lang="en-US" sz="1000" dirty="0"/>
          </a:p>
        </p:txBody>
      </p:sp>
      <p:sp>
        <p:nvSpPr>
          <p:cNvPr id="18" name="Text 15"/>
          <p:cNvSpPr txBox="1"/>
          <p:nvPr/>
        </p:nvSpPr>
        <p:spPr>
          <a:xfrm>
            <a:off x="8577072" y="1801368"/>
            <a:ext cx="2569464" cy="237744"/>
          </a:xfrm>
          <a:prstGeom prst="rect">
            <a:avLst/>
          </a:prstGeom>
          <a:noFill/>
          <a:ln/>
        </p:spPr>
        <p:txBody>
          <a:bodyPr wrap="square" lIns="0" tIns="0" rIns="0" bIns="0" rtlCol="0" anchor="ctr">
            <a:normAutofit/>
          </a:bodyPr>
          <a:lstStyle/>
          <a:p>
            <a:pPr marL="0" indent="0" algn="l">
              <a:buNone/>
            </a:pPr>
            <a:r>
              <a:rPr lang="en-US" sz="960" dirty="0">
                <a:solidFill>
                  <a:srgbClr val="58687C"/>
                </a:solidFill>
                <a:latin typeface="Aptos" pitchFamily="34" charset="0"/>
              </a:rPr>
              <a:t>Camera Images</a:t>
            </a:r>
            <a:endParaRPr lang="en-US" sz="960" dirty="0"/>
          </a:p>
        </p:txBody>
      </p:sp>
      <p:sp>
        <p:nvSpPr>
          <p:cNvPr id="19" name="Shape 16"/>
          <p:cNvSpPr/>
          <p:nvPr/>
        </p:nvSpPr>
        <p:spPr>
          <a:xfrm>
            <a:off x="7077456" y="2194560"/>
            <a:ext cx="4242816" cy="347472"/>
          </a:xfrm>
          <a:prstGeom prst="roundRect">
            <a:avLst>
              <a:gd name="adj" fmla="val 34211"/>
            </a:avLst>
          </a:prstGeom>
          <a:solidFill>
            <a:srgbClr val="FFFFFF"/>
          </a:solidFill>
          <a:ln w="12700">
            <a:solidFill>
              <a:srgbClr val="FFFFFF">
                <a:alpha val="0"/>
              </a:srgbClr>
            </a:solidFill>
            <a:prstDash val="solid"/>
          </a:ln>
        </p:spPr>
        <p:txBody>
          <a:bodyPr/>
          <a:lstStyle/>
          <a:p>
            <a:endParaRPr lang="nb-NO"/>
          </a:p>
        </p:txBody>
      </p:sp>
      <p:sp>
        <p:nvSpPr>
          <p:cNvPr id="20" name="Text 17"/>
          <p:cNvSpPr txBox="1"/>
          <p:nvPr/>
        </p:nvSpPr>
        <p:spPr>
          <a:xfrm>
            <a:off x="7178040" y="2231136"/>
            <a:ext cx="1399032" cy="237744"/>
          </a:xfrm>
          <a:prstGeom prst="rect">
            <a:avLst/>
          </a:prstGeom>
          <a:noFill/>
          <a:ln/>
        </p:spPr>
        <p:txBody>
          <a:bodyPr wrap="square" lIns="0" tIns="0" rIns="0" bIns="0" rtlCol="0" anchor="ctr">
            <a:normAutofit/>
          </a:bodyPr>
          <a:lstStyle/>
          <a:p>
            <a:pPr marL="0" indent="0" algn="l">
              <a:buNone/>
            </a:pPr>
            <a:r>
              <a:rPr lang="en-US" sz="1000" b="1" dirty="0">
                <a:solidFill>
                  <a:srgbClr val="142E53"/>
                </a:solidFill>
                <a:latin typeface="Aptos" pitchFamily="34" charset="0"/>
                <a:ea typeface="Aptos" pitchFamily="34" charset="-122"/>
                <a:cs typeface="Aptos" pitchFamily="34" charset="-120"/>
              </a:rPr>
              <a:t>Velodyne (Lidar)</a:t>
            </a:r>
            <a:endParaRPr lang="en-US" sz="1000" dirty="0"/>
          </a:p>
        </p:txBody>
      </p:sp>
      <p:sp>
        <p:nvSpPr>
          <p:cNvPr id="21" name="Text 18"/>
          <p:cNvSpPr txBox="1"/>
          <p:nvPr/>
        </p:nvSpPr>
        <p:spPr>
          <a:xfrm>
            <a:off x="8577072" y="2231136"/>
            <a:ext cx="2569464" cy="237744"/>
          </a:xfrm>
          <a:prstGeom prst="rect">
            <a:avLst/>
          </a:prstGeom>
          <a:noFill/>
          <a:ln/>
        </p:spPr>
        <p:txBody>
          <a:bodyPr wrap="square" lIns="0" tIns="0" rIns="0" bIns="0" rtlCol="0" anchor="ctr">
            <a:normAutofit/>
          </a:bodyPr>
          <a:lstStyle/>
          <a:p>
            <a:pPr marL="0" indent="0" algn="l">
              <a:buNone/>
            </a:pPr>
            <a:r>
              <a:rPr lang="en-US" sz="960" dirty="0">
                <a:solidFill>
                  <a:srgbClr val="58687C"/>
                </a:solidFill>
                <a:latin typeface="Aptos" pitchFamily="34" charset="0"/>
                <a:ea typeface="Aptos" pitchFamily="34" charset="-122"/>
                <a:cs typeface="Aptos" pitchFamily="34" charset="-120"/>
              </a:rPr>
              <a:t>XYZ Lidar Coordinates/points</a:t>
            </a:r>
            <a:endParaRPr lang="en-US" sz="960" dirty="0"/>
          </a:p>
        </p:txBody>
      </p:sp>
      <p:sp>
        <p:nvSpPr>
          <p:cNvPr id="22" name="Shape 19"/>
          <p:cNvSpPr/>
          <p:nvPr/>
        </p:nvSpPr>
        <p:spPr>
          <a:xfrm>
            <a:off x="7077456" y="2624328"/>
            <a:ext cx="4242816" cy="347472"/>
          </a:xfrm>
          <a:prstGeom prst="roundRect">
            <a:avLst>
              <a:gd name="adj" fmla="val 34211"/>
            </a:avLst>
          </a:prstGeom>
          <a:solidFill>
            <a:srgbClr val="FFFFFF"/>
          </a:solidFill>
          <a:ln w="12700">
            <a:solidFill>
              <a:srgbClr val="FFFFFF">
                <a:alpha val="0"/>
              </a:srgbClr>
            </a:solidFill>
            <a:prstDash val="solid"/>
          </a:ln>
        </p:spPr>
        <p:txBody>
          <a:bodyPr/>
          <a:lstStyle/>
          <a:p>
            <a:endParaRPr lang="nb-NO"/>
          </a:p>
        </p:txBody>
      </p:sp>
      <p:sp>
        <p:nvSpPr>
          <p:cNvPr id="23" name="Text 20"/>
          <p:cNvSpPr txBox="1"/>
          <p:nvPr/>
        </p:nvSpPr>
        <p:spPr>
          <a:xfrm>
            <a:off x="7178040" y="2660904"/>
            <a:ext cx="1399032" cy="237744"/>
          </a:xfrm>
          <a:prstGeom prst="rect">
            <a:avLst/>
          </a:prstGeom>
          <a:noFill/>
          <a:ln/>
        </p:spPr>
        <p:txBody>
          <a:bodyPr wrap="square" lIns="0" tIns="0" rIns="0" bIns="0" rtlCol="0" anchor="ctr">
            <a:normAutofit/>
          </a:bodyPr>
          <a:lstStyle/>
          <a:p>
            <a:pPr marL="0" indent="0" algn="l">
              <a:buNone/>
            </a:pPr>
            <a:r>
              <a:rPr lang="en-US" sz="1000" b="1" dirty="0" err="1">
                <a:solidFill>
                  <a:srgbClr val="142E53"/>
                </a:solidFill>
                <a:latin typeface="Aptos" pitchFamily="34" charset="0"/>
                <a:ea typeface="Aptos" pitchFamily="34" charset="-122"/>
                <a:cs typeface="Aptos" pitchFamily="34" charset="-120"/>
              </a:rPr>
              <a:t>calib</a:t>
            </a:r>
            <a:endParaRPr lang="en-US" sz="1000" dirty="0"/>
          </a:p>
        </p:txBody>
      </p:sp>
      <p:sp>
        <p:nvSpPr>
          <p:cNvPr id="24" name="Text 21"/>
          <p:cNvSpPr txBox="1"/>
          <p:nvPr/>
        </p:nvSpPr>
        <p:spPr>
          <a:xfrm>
            <a:off x="8577072" y="2660904"/>
            <a:ext cx="2569464" cy="237744"/>
          </a:xfrm>
          <a:prstGeom prst="rect">
            <a:avLst/>
          </a:prstGeom>
          <a:noFill/>
          <a:ln/>
        </p:spPr>
        <p:txBody>
          <a:bodyPr wrap="square" lIns="0" tIns="0" rIns="0" bIns="0" rtlCol="0" anchor="ctr">
            <a:normAutofit/>
          </a:bodyPr>
          <a:lstStyle/>
          <a:p>
            <a:pPr marL="0" indent="0" algn="l">
              <a:buNone/>
            </a:pPr>
            <a:r>
              <a:rPr lang="en-US" sz="960" dirty="0">
                <a:solidFill>
                  <a:srgbClr val="58687C"/>
                </a:solidFill>
                <a:latin typeface="Aptos" pitchFamily="34" charset="0"/>
                <a:ea typeface="Aptos" pitchFamily="34" charset="-122"/>
                <a:cs typeface="Aptos" pitchFamily="34" charset="-120"/>
              </a:rPr>
              <a:t>Calibration information</a:t>
            </a:r>
            <a:endParaRPr lang="en-US" sz="960" dirty="0"/>
          </a:p>
        </p:txBody>
      </p:sp>
      <p:sp>
        <p:nvSpPr>
          <p:cNvPr id="25" name="Shape 22"/>
          <p:cNvSpPr/>
          <p:nvPr/>
        </p:nvSpPr>
        <p:spPr>
          <a:xfrm>
            <a:off x="7077456" y="3054096"/>
            <a:ext cx="4242816" cy="347472"/>
          </a:xfrm>
          <a:prstGeom prst="roundRect">
            <a:avLst>
              <a:gd name="adj" fmla="val 34211"/>
            </a:avLst>
          </a:prstGeom>
          <a:solidFill>
            <a:srgbClr val="FFFFFF"/>
          </a:solidFill>
          <a:ln w="12700">
            <a:solidFill>
              <a:srgbClr val="FFFFFF">
                <a:alpha val="0"/>
              </a:srgbClr>
            </a:solidFill>
            <a:prstDash val="solid"/>
          </a:ln>
        </p:spPr>
        <p:txBody>
          <a:bodyPr/>
          <a:lstStyle/>
          <a:p>
            <a:endParaRPr lang="nb-NO"/>
          </a:p>
        </p:txBody>
      </p:sp>
      <p:sp>
        <p:nvSpPr>
          <p:cNvPr id="26" name="Text 23"/>
          <p:cNvSpPr txBox="1"/>
          <p:nvPr/>
        </p:nvSpPr>
        <p:spPr>
          <a:xfrm>
            <a:off x="7178040" y="3090672"/>
            <a:ext cx="1399032" cy="237744"/>
          </a:xfrm>
          <a:prstGeom prst="rect">
            <a:avLst/>
          </a:prstGeom>
          <a:noFill/>
          <a:ln/>
        </p:spPr>
        <p:txBody>
          <a:bodyPr wrap="square" lIns="0" tIns="0" rIns="0" bIns="0" rtlCol="0" anchor="ctr">
            <a:normAutofit/>
          </a:bodyPr>
          <a:lstStyle/>
          <a:p>
            <a:pPr marL="0" indent="0" algn="l">
              <a:buNone/>
            </a:pPr>
            <a:r>
              <a:rPr lang="en-US" sz="1000" b="1" dirty="0">
                <a:solidFill>
                  <a:srgbClr val="142E53"/>
                </a:solidFill>
                <a:latin typeface="Aptos" pitchFamily="34" charset="0"/>
                <a:ea typeface="Aptos" pitchFamily="34" charset="-122"/>
                <a:cs typeface="Aptos" pitchFamily="34" charset="-120"/>
              </a:rPr>
              <a:t>label_2</a:t>
            </a:r>
            <a:endParaRPr lang="en-US" sz="1000" dirty="0"/>
          </a:p>
        </p:txBody>
      </p:sp>
      <p:sp>
        <p:nvSpPr>
          <p:cNvPr id="27" name="Text 24"/>
          <p:cNvSpPr txBox="1"/>
          <p:nvPr/>
        </p:nvSpPr>
        <p:spPr>
          <a:xfrm>
            <a:off x="8577072" y="3090672"/>
            <a:ext cx="2569464" cy="237744"/>
          </a:xfrm>
          <a:prstGeom prst="rect">
            <a:avLst/>
          </a:prstGeom>
          <a:noFill/>
          <a:ln/>
        </p:spPr>
        <p:txBody>
          <a:bodyPr wrap="square" lIns="0" tIns="0" rIns="0" bIns="0" rtlCol="0" anchor="ctr">
            <a:normAutofit/>
          </a:bodyPr>
          <a:lstStyle/>
          <a:p>
            <a:pPr marL="0" indent="0" algn="l">
              <a:buNone/>
            </a:pPr>
            <a:r>
              <a:rPr lang="en-US" sz="960" dirty="0">
                <a:solidFill>
                  <a:srgbClr val="58687C"/>
                </a:solidFill>
                <a:latin typeface="Aptos" pitchFamily="34" charset="0"/>
                <a:ea typeface="Aptos" pitchFamily="34" charset="-122"/>
                <a:cs typeface="Aptos" pitchFamily="34" charset="-120"/>
              </a:rPr>
              <a:t>Reference object annotations</a:t>
            </a:r>
            <a:endParaRPr lang="en-US" sz="960" dirty="0"/>
          </a:p>
        </p:txBody>
      </p:sp>
      <p:sp>
        <p:nvSpPr>
          <p:cNvPr id="28" name="Shape 25"/>
          <p:cNvSpPr/>
          <p:nvPr/>
        </p:nvSpPr>
        <p:spPr>
          <a:xfrm>
            <a:off x="566928" y="3977640"/>
            <a:ext cx="11000232" cy="1042416"/>
          </a:xfrm>
          <a:prstGeom prst="roundRect">
            <a:avLst>
              <a:gd name="adj" fmla="val 11404"/>
            </a:avLst>
          </a:prstGeom>
          <a:solidFill>
            <a:srgbClr val="FFFFFF"/>
          </a:solidFill>
          <a:ln w="7620">
            <a:solidFill>
              <a:srgbClr val="D7E2EE"/>
            </a:solidFill>
            <a:prstDash val="solid"/>
          </a:ln>
        </p:spPr>
        <p:txBody>
          <a:bodyPr/>
          <a:lstStyle/>
          <a:p>
            <a:endParaRPr lang="nb-NO"/>
          </a:p>
        </p:txBody>
      </p:sp>
      <p:sp>
        <p:nvSpPr>
          <p:cNvPr id="29" name="Shape 26"/>
          <p:cNvSpPr/>
          <p:nvPr/>
        </p:nvSpPr>
        <p:spPr>
          <a:xfrm>
            <a:off x="768096" y="4142232"/>
            <a:ext cx="2542032" cy="246888"/>
          </a:xfrm>
          <a:prstGeom prst="roundRect">
            <a:avLst>
              <a:gd name="adj" fmla="val 48148"/>
            </a:avLst>
          </a:prstGeom>
          <a:solidFill>
            <a:srgbClr val="EFE8FA"/>
          </a:solidFill>
          <a:ln w="12700">
            <a:solidFill>
              <a:srgbClr val="EFE8FA">
                <a:alpha val="0"/>
              </a:srgbClr>
            </a:solidFill>
            <a:prstDash val="solid"/>
          </a:ln>
        </p:spPr>
        <p:txBody>
          <a:bodyPr/>
          <a:lstStyle/>
          <a:p>
            <a:endParaRPr lang="nb-NO"/>
          </a:p>
        </p:txBody>
      </p:sp>
      <p:sp>
        <p:nvSpPr>
          <p:cNvPr id="30" name="Text 27"/>
          <p:cNvSpPr txBox="1"/>
          <p:nvPr/>
        </p:nvSpPr>
        <p:spPr>
          <a:xfrm>
            <a:off x="822960" y="4151376"/>
            <a:ext cx="2432304" cy="228600"/>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Coordinate transformation</a:t>
            </a:r>
            <a:endParaRPr lang="en-US" sz="1000" dirty="0"/>
          </a:p>
        </p:txBody>
      </p:sp>
      <p:sp>
        <p:nvSpPr>
          <p:cNvPr id="31" name="Text 28"/>
          <p:cNvSpPr txBox="1"/>
          <p:nvPr/>
        </p:nvSpPr>
        <p:spPr>
          <a:xfrm>
            <a:off x="950976" y="4526280"/>
            <a:ext cx="10332720" cy="320040"/>
          </a:xfrm>
          <a:prstGeom prst="rect">
            <a:avLst/>
          </a:prstGeom>
          <a:noFill/>
          <a:ln/>
        </p:spPr>
        <p:txBody>
          <a:bodyPr wrap="square" lIns="0" tIns="0" rIns="0" bIns="0" rtlCol="0" anchor="ctr">
            <a:normAutofit/>
          </a:bodyPr>
          <a:lstStyle/>
          <a:p>
            <a:pPr marL="0" indent="0" algn="ctr">
              <a:buNone/>
            </a:pPr>
            <a:r>
              <a:rPr lang="en-US" sz="1700" b="1" dirty="0">
                <a:solidFill>
                  <a:srgbClr val="142E53"/>
                </a:solidFill>
                <a:latin typeface="Aptos" pitchFamily="34" charset="0"/>
                <a:ea typeface="Aptos" pitchFamily="34" charset="-122"/>
                <a:cs typeface="Aptos" pitchFamily="34" charset="-120"/>
              </a:rPr>
              <a:t>LiDAR XYZ   →   Tr_velo_to_cam   →   R0_rect   →   P2   →   image pixel (u, v)</a:t>
            </a:r>
            <a:endParaRPr lang="en-US" sz="1700" dirty="0"/>
          </a:p>
        </p:txBody>
      </p:sp>
      <p:sp>
        <p:nvSpPr>
          <p:cNvPr id="32" name="Text 29"/>
          <p:cNvSpPr txBox="1"/>
          <p:nvPr/>
        </p:nvSpPr>
        <p:spPr>
          <a:xfrm>
            <a:off x="950976" y="5166360"/>
            <a:ext cx="10149840" cy="173736"/>
          </a:xfrm>
          <a:prstGeom prst="rect">
            <a:avLst/>
          </a:prstGeom>
          <a:noFill/>
          <a:ln/>
        </p:spPr>
        <p:txBody>
          <a:bodyPr wrap="square" lIns="0" tIns="0" rIns="0" bIns="0" rtlCol="0" anchor="ctr">
            <a:normAutofit/>
          </a:bodyPr>
          <a:lstStyle/>
          <a:p>
            <a:pPr marL="0" indent="0" algn="l">
              <a:buNone/>
            </a:pPr>
            <a:endParaRPr lang="en-US" sz="9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Q3</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lang="en-US" sz="2500" b="1" dirty="0">
                <a:solidFill>
                  <a:srgbClr val="142E53"/>
                </a:solidFill>
                <a:latin typeface="Aptos Display" pitchFamily="34" charset="0"/>
                <a:ea typeface="Aptos Display" pitchFamily="34" charset="-122"/>
                <a:cs typeface="Aptos Display" pitchFamily="34" charset="-120"/>
              </a:rPr>
              <a:t>Q3 Camera–LiDAR fusion in five KITTI frames</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ctr">
              <a:buNone/>
            </a:pPr>
            <a:r>
              <a:rPr lang="en-US" sz="1000" dirty="0">
                <a:solidFill>
                  <a:srgbClr val="58687C"/>
                </a:solidFill>
                <a:latin typeface="Aptos" pitchFamily="34" charset="0"/>
                <a:ea typeface="Aptos" pitchFamily="34" charset="-122"/>
                <a:cs typeface="Aptos" pitchFamily="34" charset="-120"/>
              </a:rPr>
              <a:t>Projected LiDAR points are overlaid with YOLO boxes and distance estimates</a:t>
            </a:r>
            <a:endParaRPr lang="en-US" sz="1000" dirty="0"/>
          </a:p>
        </p:txBody>
      </p:sp>
      <p:sp>
        <p:nvSpPr>
          <p:cNvPr id="7" name="Shape 5"/>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76072"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14</a:t>
            </a:r>
            <a:endParaRPr lang="en-US" sz="1100" dirty="0"/>
          </a:p>
        </p:txBody>
      </p:sp>
      <p:sp>
        <p:nvSpPr>
          <p:cNvPr id="10" name="Shape 8"/>
          <p:cNvSpPr/>
          <p:nvPr/>
        </p:nvSpPr>
        <p:spPr>
          <a:xfrm>
            <a:off x="603504" y="1216152"/>
            <a:ext cx="5449824" cy="1847088"/>
          </a:xfrm>
          <a:prstGeom prst="roundRect">
            <a:avLst>
              <a:gd name="adj" fmla="val 6436"/>
            </a:avLst>
          </a:prstGeom>
          <a:solidFill>
            <a:srgbClr val="FFFFFF"/>
          </a:solidFill>
          <a:ln w="7620">
            <a:solidFill>
              <a:srgbClr val="D7E2EE"/>
            </a:solidFill>
            <a:prstDash val="solid"/>
          </a:ln>
        </p:spPr>
        <p:txBody>
          <a:bodyPr/>
          <a:lstStyle/>
          <a:p>
            <a:endParaRPr lang="nb-NO"/>
          </a:p>
        </p:txBody>
      </p:sp>
      <p:sp>
        <p:nvSpPr>
          <p:cNvPr id="11" name="Shape 9"/>
          <p:cNvSpPr/>
          <p:nvPr/>
        </p:nvSpPr>
        <p:spPr>
          <a:xfrm>
            <a:off x="740664" y="1289304"/>
            <a:ext cx="5175504" cy="265176"/>
          </a:xfrm>
          <a:prstGeom prst="roundRect">
            <a:avLst>
              <a:gd name="adj" fmla="val 44828"/>
            </a:avLst>
          </a:prstGeom>
          <a:solidFill>
            <a:srgbClr val="E4EEFF"/>
          </a:solidFill>
          <a:ln w="12700">
            <a:solidFill>
              <a:srgbClr val="E4EEFF">
                <a:alpha val="0"/>
              </a:srgbClr>
            </a:solidFill>
            <a:prstDash val="solid"/>
          </a:ln>
        </p:spPr>
        <p:txBody>
          <a:bodyPr/>
          <a:lstStyle/>
          <a:p>
            <a:endParaRPr lang="nb-NO"/>
          </a:p>
        </p:txBody>
      </p:sp>
      <p:sp>
        <p:nvSpPr>
          <p:cNvPr id="12" name="Text 10"/>
          <p:cNvSpPr txBox="1"/>
          <p:nvPr/>
        </p:nvSpPr>
        <p:spPr>
          <a:xfrm>
            <a:off x="795528" y="1298448"/>
            <a:ext cx="5065776" cy="246888"/>
          </a:xfrm>
          <a:prstGeom prst="rect">
            <a:avLst/>
          </a:prstGeom>
          <a:noFill/>
          <a:ln/>
        </p:spPr>
        <p:txBody>
          <a:bodyPr wrap="square" lIns="0" tIns="0" rIns="0" bIns="0" rtlCol="0" anchor="ctr">
            <a:normAutofit/>
          </a:bodyPr>
          <a:lstStyle/>
          <a:p>
            <a:pPr marL="0" indent="0" algn="ctr">
              <a:buNone/>
            </a:pPr>
            <a:r>
              <a:rPr lang="en-US" sz="1050" b="1" dirty="0">
                <a:solidFill>
                  <a:srgbClr val="142E53"/>
                </a:solidFill>
                <a:latin typeface="Aptos" pitchFamily="34" charset="0"/>
                <a:ea typeface="Aptos" pitchFamily="34" charset="-122"/>
                <a:cs typeface="Aptos" pitchFamily="34" charset="-120"/>
              </a:rPr>
              <a:t>000004 · IoU 0.93 · 40.06 m</a:t>
            </a:r>
            <a:endParaRPr lang="en-US" sz="1050" dirty="0"/>
          </a:p>
        </p:txBody>
      </p:sp>
      <p:pic>
        <p:nvPicPr>
          <p:cNvPr id="13" name="Image 0" descr="/mnt/data/ppt_work/notebook_assets/q3_fusion_1.png"/>
          <p:cNvPicPr>
            <a:picLocks noChangeAspect="1"/>
          </p:cNvPicPr>
          <p:nvPr/>
        </p:nvPicPr>
        <p:blipFill>
          <a:blip r:embed="rId3"/>
          <a:stretch>
            <a:fillRect/>
          </a:stretch>
        </p:blipFill>
        <p:spPr>
          <a:xfrm>
            <a:off x="1210031" y="1627632"/>
            <a:ext cx="4236770" cy="1307592"/>
          </a:xfrm>
          <a:prstGeom prst="rect">
            <a:avLst/>
          </a:prstGeom>
        </p:spPr>
      </p:pic>
      <p:sp>
        <p:nvSpPr>
          <p:cNvPr id="14" name="Shape 11"/>
          <p:cNvSpPr/>
          <p:nvPr/>
        </p:nvSpPr>
        <p:spPr>
          <a:xfrm>
            <a:off x="6153912" y="1216152"/>
            <a:ext cx="5449824" cy="1847088"/>
          </a:xfrm>
          <a:prstGeom prst="roundRect">
            <a:avLst>
              <a:gd name="adj" fmla="val 6436"/>
            </a:avLst>
          </a:prstGeom>
          <a:solidFill>
            <a:srgbClr val="FFFFFF"/>
          </a:solidFill>
          <a:ln w="7620">
            <a:solidFill>
              <a:srgbClr val="D7E2EE"/>
            </a:solidFill>
            <a:prstDash val="solid"/>
          </a:ln>
        </p:spPr>
        <p:txBody>
          <a:bodyPr/>
          <a:lstStyle/>
          <a:p>
            <a:endParaRPr lang="nb-NO"/>
          </a:p>
        </p:txBody>
      </p:sp>
      <p:sp>
        <p:nvSpPr>
          <p:cNvPr id="15" name="Shape 12"/>
          <p:cNvSpPr/>
          <p:nvPr/>
        </p:nvSpPr>
        <p:spPr>
          <a:xfrm>
            <a:off x="6291072" y="1289304"/>
            <a:ext cx="5175504" cy="265176"/>
          </a:xfrm>
          <a:prstGeom prst="roundRect">
            <a:avLst>
              <a:gd name="adj" fmla="val 44828"/>
            </a:avLst>
          </a:prstGeom>
          <a:solidFill>
            <a:srgbClr val="E1F5EF"/>
          </a:solidFill>
          <a:ln w="12700">
            <a:solidFill>
              <a:srgbClr val="E1F5EF">
                <a:alpha val="0"/>
              </a:srgbClr>
            </a:solidFill>
            <a:prstDash val="solid"/>
          </a:ln>
        </p:spPr>
        <p:txBody>
          <a:bodyPr/>
          <a:lstStyle/>
          <a:p>
            <a:endParaRPr lang="nb-NO"/>
          </a:p>
        </p:txBody>
      </p:sp>
      <p:sp>
        <p:nvSpPr>
          <p:cNvPr id="16" name="Text 13"/>
          <p:cNvSpPr txBox="1"/>
          <p:nvPr/>
        </p:nvSpPr>
        <p:spPr>
          <a:xfrm>
            <a:off x="6345936" y="1298448"/>
            <a:ext cx="5065776" cy="246888"/>
          </a:xfrm>
          <a:prstGeom prst="rect">
            <a:avLst/>
          </a:prstGeom>
          <a:noFill/>
          <a:ln/>
        </p:spPr>
        <p:txBody>
          <a:bodyPr wrap="square" lIns="0" tIns="0" rIns="0" bIns="0" rtlCol="0" anchor="ctr">
            <a:normAutofit/>
          </a:bodyPr>
          <a:lstStyle/>
          <a:p>
            <a:pPr marL="0" indent="0" algn="ctr">
              <a:buNone/>
            </a:pPr>
            <a:r>
              <a:rPr lang="en-US" sz="1050" b="1" dirty="0">
                <a:solidFill>
                  <a:srgbClr val="142E53"/>
                </a:solidFill>
                <a:latin typeface="Aptos" pitchFamily="34" charset="0"/>
                <a:ea typeface="Aptos" pitchFamily="34" charset="-122"/>
                <a:cs typeface="Aptos" pitchFamily="34" charset="-120"/>
              </a:rPr>
              <a:t>000008 · IoU 0.86 · 32.57 m</a:t>
            </a:r>
            <a:endParaRPr lang="en-US" sz="1050" dirty="0"/>
          </a:p>
        </p:txBody>
      </p:sp>
      <p:pic>
        <p:nvPicPr>
          <p:cNvPr id="17" name="Image 1" descr="/mnt/data/ppt_work/notebook_assets/q3_fusion_2.png"/>
          <p:cNvPicPr>
            <a:picLocks noChangeAspect="1"/>
          </p:cNvPicPr>
          <p:nvPr/>
        </p:nvPicPr>
        <p:blipFill>
          <a:blip r:embed="rId4"/>
          <a:stretch>
            <a:fillRect/>
          </a:stretch>
        </p:blipFill>
        <p:spPr>
          <a:xfrm>
            <a:off x="6762590" y="1627632"/>
            <a:ext cx="4232469" cy="1307592"/>
          </a:xfrm>
          <a:prstGeom prst="rect">
            <a:avLst/>
          </a:prstGeom>
        </p:spPr>
      </p:pic>
      <p:sp>
        <p:nvSpPr>
          <p:cNvPr id="18" name="Shape 14"/>
          <p:cNvSpPr/>
          <p:nvPr/>
        </p:nvSpPr>
        <p:spPr>
          <a:xfrm>
            <a:off x="603504" y="3218688"/>
            <a:ext cx="5449824" cy="1847088"/>
          </a:xfrm>
          <a:prstGeom prst="roundRect">
            <a:avLst>
              <a:gd name="adj" fmla="val 6436"/>
            </a:avLst>
          </a:prstGeom>
          <a:solidFill>
            <a:srgbClr val="FFFFFF"/>
          </a:solidFill>
          <a:ln w="7620">
            <a:solidFill>
              <a:srgbClr val="D7E2EE"/>
            </a:solidFill>
            <a:prstDash val="solid"/>
          </a:ln>
        </p:spPr>
        <p:txBody>
          <a:bodyPr/>
          <a:lstStyle/>
          <a:p>
            <a:endParaRPr lang="nb-NO"/>
          </a:p>
        </p:txBody>
      </p:sp>
      <p:sp>
        <p:nvSpPr>
          <p:cNvPr id="19" name="Shape 15"/>
          <p:cNvSpPr/>
          <p:nvPr/>
        </p:nvSpPr>
        <p:spPr>
          <a:xfrm>
            <a:off x="740664" y="3291840"/>
            <a:ext cx="5175504" cy="265176"/>
          </a:xfrm>
          <a:prstGeom prst="roundRect">
            <a:avLst>
              <a:gd name="adj" fmla="val 44828"/>
            </a:avLst>
          </a:prstGeom>
          <a:solidFill>
            <a:srgbClr val="E4EEFF"/>
          </a:solidFill>
          <a:ln w="12700">
            <a:solidFill>
              <a:srgbClr val="E4EEFF">
                <a:alpha val="0"/>
              </a:srgbClr>
            </a:solidFill>
            <a:prstDash val="solid"/>
          </a:ln>
        </p:spPr>
        <p:txBody>
          <a:bodyPr/>
          <a:lstStyle/>
          <a:p>
            <a:endParaRPr lang="nb-NO"/>
          </a:p>
        </p:txBody>
      </p:sp>
      <p:sp>
        <p:nvSpPr>
          <p:cNvPr id="20" name="Text 16"/>
          <p:cNvSpPr txBox="1"/>
          <p:nvPr/>
        </p:nvSpPr>
        <p:spPr>
          <a:xfrm>
            <a:off x="795528" y="3300984"/>
            <a:ext cx="5065776" cy="246888"/>
          </a:xfrm>
          <a:prstGeom prst="rect">
            <a:avLst/>
          </a:prstGeom>
          <a:noFill/>
          <a:ln/>
        </p:spPr>
        <p:txBody>
          <a:bodyPr wrap="square" lIns="0" tIns="0" rIns="0" bIns="0" rtlCol="0" anchor="ctr">
            <a:normAutofit/>
          </a:bodyPr>
          <a:lstStyle/>
          <a:p>
            <a:pPr marL="0" indent="0" algn="ctr">
              <a:buNone/>
            </a:pPr>
            <a:r>
              <a:rPr lang="en-US" sz="1050" b="1" dirty="0">
                <a:solidFill>
                  <a:srgbClr val="142E53"/>
                </a:solidFill>
                <a:latin typeface="Aptos" pitchFamily="34" charset="0"/>
                <a:ea typeface="Aptos" pitchFamily="34" charset="-122"/>
                <a:cs typeface="Aptos" pitchFamily="34" charset="-120"/>
              </a:rPr>
              <a:t>000019 · IoU 0.92 · 8.91 m</a:t>
            </a:r>
            <a:endParaRPr lang="en-US" sz="1050" dirty="0"/>
          </a:p>
        </p:txBody>
      </p:sp>
      <p:pic>
        <p:nvPicPr>
          <p:cNvPr id="21" name="Image 2" descr="/mnt/data/ppt_work/notebook_assets/q3_fusion_3.png"/>
          <p:cNvPicPr>
            <a:picLocks noChangeAspect="1"/>
          </p:cNvPicPr>
          <p:nvPr/>
        </p:nvPicPr>
        <p:blipFill>
          <a:blip r:embed="rId5"/>
          <a:stretch>
            <a:fillRect/>
          </a:stretch>
        </p:blipFill>
        <p:spPr>
          <a:xfrm>
            <a:off x="1230732" y="3630168"/>
            <a:ext cx="4195368" cy="1307592"/>
          </a:xfrm>
          <a:prstGeom prst="rect">
            <a:avLst/>
          </a:prstGeom>
        </p:spPr>
      </p:pic>
      <p:sp>
        <p:nvSpPr>
          <p:cNvPr id="22" name="Shape 17"/>
          <p:cNvSpPr/>
          <p:nvPr/>
        </p:nvSpPr>
        <p:spPr>
          <a:xfrm>
            <a:off x="6153912" y="3218688"/>
            <a:ext cx="5449824" cy="1847088"/>
          </a:xfrm>
          <a:prstGeom prst="roundRect">
            <a:avLst>
              <a:gd name="adj" fmla="val 6436"/>
            </a:avLst>
          </a:prstGeom>
          <a:solidFill>
            <a:srgbClr val="FFFFFF"/>
          </a:solidFill>
          <a:ln w="7620">
            <a:solidFill>
              <a:srgbClr val="D7E2EE"/>
            </a:solidFill>
            <a:prstDash val="solid"/>
          </a:ln>
        </p:spPr>
        <p:txBody>
          <a:bodyPr/>
          <a:lstStyle/>
          <a:p>
            <a:endParaRPr lang="nb-NO"/>
          </a:p>
        </p:txBody>
      </p:sp>
      <p:sp>
        <p:nvSpPr>
          <p:cNvPr id="23" name="Shape 18"/>
          <p:cNvSpPr/>
          <p:nvPr/>
        </p:nvSpPr>
        <p:spPr>
          <a:xfrm>
            <a:off x="6291072" y="3291840"/>
            <a:ext cx="5175504" cy="265176"/>
          </a:xfrm>
          <a:prstGeom prst="roundRect">
            <a:avLst>
              <a:gd name="adj" fmla="val 44828"/>
            </a:avLst>
          </a:prstGeom>
          <a:solidFill>
            <a:srgbClr val="E1F5EF"/>
          </a:solidFill>
          <a:ln w="12700">
            <a:solidFill>
              <a:srgbClr val="E1F5EF">
                <a:alpha val="0"/>
              </a:srgbClr>
            </a:solidFill>
            <a:prstDash val="solid"/>
          </a:ln>
        </p:spPr>
        <p:txBody>
          <a:bodyPr/>
          <a:lstStyle/>
          <a:p>
            <a:endParaRPr lang="nb-NO"/>
          </a:p>
        </p:txBody>
      </p:sp>
      <p:sp>
        <p:nvSpPr>
          <p:cNvPr id="24" name="Text 19"/>
          <p:cNvSpPr txBox="1"/>
          <p:nvPr/>
        </p:nvSpPr>
        <p:spPr>
          <a:xfrm>
            <a:off x="6345936" y="3300984"/>
            <a:ext cx="5065776" cy="246888"/>
          </a:xfrm>
          <a:prstGeom prst="rect">
            <a:avLst/>
          </a:prstGeom>
          <a:noFill/>
          <a:ln/>
        </p:spPr>
        <p:txBody>
          <a:bodyPr wrap="square" lIns="0" tIns="0" rIns="0" bIns="0" rtlCol="0" anchor="ctr">
            <a:normAutofit/>
          </a:bodyPr>
          <a:lstStyle/>
          <a:p>
            <a:pPr marL="0" indent="0" algn="ctr">
              <a:buNone/>
            </a:pPr>
            <a:r>
              <a:rPr lang="en-US" sz="1050" b="1" dirty="0">
                <a:solidFill>
                  <a:srgbClr val="142E53"/>
                </a:solidFill>
                <a:latin typeface="Aptos" pitchFamily="34" charset="0"/>
                <a:ea typeface="Aptos" pitchFamily="34" charset="-122"/>
                <a:cs typeface="Aptos" pitchFamily="34" charset="-120"/>
              </a:rPr>
              <a:t>000027 · IoU 0.87 · 12.90 m</a:t>
            </a:r>
            <a:endParaRPr lang="en-US" sz="1050" dirty="0"/>
          </a:p>
        </p:txBody>
      </p:sp>
      <p:pic>
        <p:nvPicPr>
          <p:cNvPr id="25" name="Image 3" descr="/mnt/data/ppt_work/notebook_assets/q3_fusion_4.png"/>
          <p:cNvPicPr>
            <a:picLocks noChangeAspect="1"/>
          </p:cNvPicPr>
          <p:nvPr/>
        </p:nvPicPr>
        <p:blipFill>
          <a:blip r:embed="rId6"/>
          <a:stretch>
            <a:fillRect/>
          </a:stretch>
        </p:blipFill>
        <p:spPr>
          <a:xfrm>
            <a:off x="6783269" y="3630168"/>
            <a:ext cx="4191109" cy="1307592"/>
          </a:xfrm>
          <a:prstGeom prst="rect">
            <a:avLst/>
          </a:prstGeom>
        </p:spPr>
      </p:pic>
      <p:sp>
        <p:nvSpPr>
          <p:cNvPr id="26" name="Text 20"/>
          <p:cNvSpPr txBox="1"/>
          <p:nvPr/>
        </p:nvSpPr>
        <p:spPr>
          <a:xfrm>
            <a:off x="923544" y="5193792"/>
            <a:ext cx="6949440" cy="182880"/>
          </a:xfrm>
          <a:prstGeom prst="rect">
            <a:avLst/>
          </a:prstGeom>
          <a:noFill/>
          <a:ln/>
        </p:spPr>
        <p:txBody>
          <a:bodyPr wrap="square" lIns="0" tIns="0" rIns="0" bIns="0" rtlCol="0" anchor="ctr">
            <a:normAutofit/>
          </a:bodyPr>
          <a:lstStyle/>
          <a:p>
            <a:pPr marL="0" indent="0" algn="ctr">
              <a:buNone/>
            </a:pPr>
            <a:r>
              <a:rPr lang="en-US" sz="920" dirty="0">
                <a:solidFill>
                  <a:srgbClr val="58687C"/>
                </a:solidFill>
                <a:latin typeface="Aptos" pitchFamily="34" charset="0"/>
                <a:ea typeface="Aptos" pitchFamily="34" charset="-122"/>
                <a:cs typeface="Aptos" pitchFamily="34" charset="-120"/>
              </a:rPr>
              <a:t>Green = YOLO prediction  ·  Cyan dashed = matched KITTI label  ·  Fifth frame (000029, unmatched) on next slide</a:t>
            </a:r>
            <a:endParaRPr lang="en-US" sz="920" dirty="0"/>
          </a:p>
        </p:txBody>
      </p:sp>
      <p:pic>
        <p:nvPicPr>
          <p:cNvPr id="27" name="Picture 26" descr="colorbar.png"/>
          <p:cNvPicPr>
            <a:picLocks noChangeAspect="1"/>
          </p:cNvPicPr>
          <p:nvPr/>
        </p:nvPicPr>
        <p:blipFill>
          <a:blip r:embed="rId7"/>
          <a:stretch>
            <a:fillRect/>
          </a:stretch>
        </p:blipFill>
        <p:spPr>
          <a:xfrm>
            <a:off x="8001000" y="5074920"/>
            <a:ext cx="3566160" cy="34747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Q3</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lang="en-US" sz="2500" b="1" dirty="0">
                <a:solidFill>
                  <a:srgbClr val="142E53"/>
                </a:solidFill>
                <a:latin typeface="Aptos Display" pitchFamily="34" charset="0"/>
                <a:ea typeface="Aptos Display" pitchFamily="34" charset="-122"/>
                <a:cs typeface="Aptos Display" pitchFamily="34" charset="-120"/>
              </a:rPr>
              <a:t>Q3 Fusion range validation</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ctr">
              <a:buNone/>
            </a:pPr>
            <a:r>
              <a:rPr lang="en-US" sz="1000" dirty="0">
                <a:solidFill>
                  <a:srgbClr val="58687C"/>
                </a:solidFill>
                <a:latin typeface="Aptos" pitchFamily="34" charset="0"/>
                <a:ea typeface="Aptos" pitchFamily="34" charset="-122"/>
                <a:cs typeface="Aptos" pitchFamily="34" charset="-120"/>
              </a:rPr>
              <a:t>Compare LiDAR-estimated object range to matched KITTI 3D annotations</a:t>
            </a:r>
            <a:endParaRPr lang="en-US" sz="1000" dirty="0"/>
          </a:p>
        </p:txBody>
      </p:sp>
      <p:sp>
        <p:nvSpPr>
          <p:cNvPr id="7" name="Shape 5"/>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76072"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15</a:t>
            </a:r>
            <a:endParaRPr lang="en-US" sz="1100" dirty="0"/>
          </a:p>
        </p:txBody>
      </p:sp>
      <p:sp>
        <p:nvSpPr>
          <p:cNvPr id="10" name="Shape 8"/>
          <p:cNvSpPr/>
          <p:nvPr/>
        </p:nvSpPr>
        <p:spPr>
          <a:xfrm>
            <a:off x="603504" y="1097280"/>
            <a:ext cx="2743200" cy="859536"/>
          </a:xfrm>
          <a:prstGeom prst="roundRect">
            <a:avLst>
              <a:gd name="adj" fmla="val 13830"/>
            </a:avLst>
          </a:prstGeom>
          <a:solidFill>
            <a:srgbClr val="E1F5EF"/>
          </a:solidFill>
          <a:ln w="12700">
            <a:solidFill>
              <a:srgbClr val="E1F5EF">
                <a:alpha val="0"/>
              </a:srgbClr>
            </a:solidFill>
            <a:prstDash val="solid"/>
          </a:ln>
        </p:spPr>
        <p:txBody>
          <a:bodyPr/>
          <a:lstStyle/>
          <a:p>
            <a:endParaRPr lang="nb-NO"/>
          </a:p>
        </p:txBody>
      </p:sp>
      <p:sp>
        <p:nvSpPr>
          <p:cNvPr id="11" name="Text 9"/>
          <p:cNvSpPr txBox="1"/>
          <p:nvPr/>
        </p:nvSpPr>
        <p:spPr>
          <a:xfrm>
            <a:off x="667512" y="1179576"/>
            <a:ext cx="2615184" cy="403982"/>
          </a:xfrm>
          <a:prstGeom prst="rect">
            <a:avLst/>
          </a:prstGeom>
          <a:noFill/>
          <a:ln/>
        </p:spPr>
        <p:txBody>
          <a:bodyPr wrap="square" lIns="0" tIns="0" rIns="0" bIns="0" rtlCol="0" anchor="ctr">
            <a:normAutofit/>
          </a:bodyPr>
          <a:lstStyle/>
          <a:p>
            <a:pPr marL="0" indent="0" algn="ctr">
              <a:buNone/>
            </a:pPr>
            <a:r>
              <a:rPr lang="en-US" sz="2200" b="1" dirty="0">
                <a:solidFill>
                  <a:srgbClr val="142E53"/>
                </a:solidFill>
                <a:latin typeface="Aptos" pitchFamily="34" charset="0"/>
                <a:ea typeface="Aptos" pitchFamily="34" charset="-122"/>
                <a:cs typeface="Aptos" pitchFamily="34" charset="-120"/>
              </a:rPr>
              <a:t>4 / 5</a:t>
            </a:r>
            <a:endParaRPr lang="en-US" sz="2200" dirty="0"/>
          </a:p>
        </p:txBody>
      </p:sp>
      <p:sp>
        <p:nvSpPr>
          <p:cNvPr id="12" name="Text 10"/>
          <p:cNvSpPr txBox="1"/>
          <p:nvPr/>
        </p:nvSpPr>
        <p:spPr>
          <a:xfrm>
            <a:off x="685800" y="1621597"/>
            <a:ext cx="2578608" cy="240670"/>
          </a:xfrm>
          <a:prstGeom prst="rect">
            <a:avLst/>
          </a:prstGeom>
          <a:noFill/>
          <a:ln/>
        </p:spPr>
        <p:txBody>
          <a:bodyPr wrap="square" lIns="0" tIns="0" rIns="0" bIns="0" rtlCol="0" anchor="ctr">
            <a:normAutofit/>
          </a:bodyPr>
          <a:lstStyle/>
          <a:p>
            <a:pPr marL="0" indent="0" algn="ctr">
              <a:buNone/>
            </a:pPr>
            <a:r>
              <a:rPr lang="en-US" sz="940" dirty="0">
                <a:solidFill>
                  <a:srgbClr val="58687C"/>
                </a:solidFill>
                <a:latin typeface="Aptos" pitchFamily="34" charset="0"/>
                <a:ea typeface="Aptos" pitchFamily="34" charset="-122"/>
                <a:cs typeface="Aptos" pitchFamily="34" charset="-120"/>
              </a:rPr>
              <a:t>Matched 2D detections</a:t>
            </a:r>
            <a:endParaRPr lang="en-US" sz="940" dirty="0"/>
          </a:p>
        </p:txBody>
      </p:sp>
      <p:sp>
        <p:nvSpPr>
          <p:cNvPr id="13" name="Shape 11"/>
          <p:cNvSpPr/>
          <p:nvPr/>
        </p:nvSpPr>
        <p:spPr>
          <a:xfrm>
            <a:off x="3493008" y="1097280"/>
            <a:ext cx="2743200" cy="859536"/>
          </a:xfrm>
          <a:prstGeom prst="roundRect">
            <a:avLst>
              <a:gd name="adj" fmla="val 13830"/>
            </a:avLst>
          </a:prstGeom>
          <a:solidFill>
            <a:srgbClr val="E4EEFF"/>
          </a:solidFill>
          <a:ln w="12700">
            <a:solidFill>
              <a:srgbClr val="E4EEFF">
                <a:alpha val="0"/>
              </a:srgbClr>
            </a:solidFill>
            <a:prstDash val="solid"/>
          </a:ln>
        </p:spPr>
        <p:txBody>
          <a:bodyPr/>
          <a:lstStyle/>
          <a:p>
            <a:endParaRPr lang="nb-NO"/>
          </a:p>
        </p:txBody>
      </p:sp>
      <p:sp>
        <p:nvSpPr>
          <p:cNvPr id="14" name="Text 12"/>
          <p:cNvSpPr txBox="1"/>
          <p:nvPr/>
        </p:nvSpPr>
        <p:spPr>
          <a:xfrm>
            <a:off x="3557016" y="1179576"/>
            <a:ext cx="2615184" cy="403982"/>
          </a:xfrm>
          <a:prstGeom prst="rect">
            <a:avLst/>
          </a:prstGeom>
          <a:noFill/>
          <a:ln/>
        </p:spPr>
        <p:txBody>
          <a:bodyPr wrap="square" lIns="0" tIns="0" rIns="0" bIns="0" rtlCol="0" anchor="ctr">
            <a:normAutofit/>
          </a:bodyPr>
          <a:lstStyle/>
          <a:p>
            <a:pPr marL="0" indent="0" algn="ctr">
              <a:buNone/>
            </a:pPr>
            <a:r>
              <a:rPr lang="en-US" sz="2200" b="1" dirty="0">
                <a:solidFill>
                  <a:srgbClr val="142E53"/>
                </a:solidFill>
                <a:latin typeface="Aptos" pitchFamily="34" charset="0"/>
                <a:ea typeface="Aptos" pitchFamily="34" charset="-122"/>
                <a:cs typeface="Aptos" pitchFamily="34" charset="-120"/>
              </a:rPr>
              <a:t>1.82 m</a:t>
            </a:r>
            <a:endParaRPr lang="en-US" sz="2200" dirty="0"/>
          </a:p>
        </p:txBody>
      </p:sp>
      <p:sp>
        <p:nvSpPr>
          <p:cNvPr id="15" name="Text 13"/>
          <p:cNvSpPr txBox="1"/>
          <p:nvPr/>
        </p:nvSpPr>
        <p:spPr>
          <a:xfrm>
            <a:off x="3575304" y="1621597"/>
            <a:ext cx="2578608" cy="240670"/>
          </a:xfrm>
          <a:prstGeom prst="rect">
            <a:avLst/>
          </a:prstGeom>
          <a:noFill/>
          <a:ln/>
        </p:spPr>
        <p:txBody>
          <a:bodyPr wrap="square" lIns="0" tIns="0" rIns="0" bIns="0" rtlCol="0" anchor="ctr">
            <a:normAutofit/>
          </a:bodyPr>
          <a:lstStyle/>
          <a:p>
            <a:pPr marL="0" indent="0" algn="ctr">
              <a:buNone/>
            </a:pPr>
            <a:r>
              <a:rPr lang="en-US" sz="940" dirty="0">
                <a:solidFill>
                  <a:srgbClr val="58687C"/>
                </a:solidFill>
                <a:latin typeface="Aptos" pitchFamily="34" charset="0"/>
                <a:ea typeface="Aptos" pitchFamily="34" charset="-122"/>
                <a:cs typeface="Aptos" pitchFamily="34" charset="-120"/>
              </a:rPr>
              <a:t>Matched range MAE</a:t>
            </a:r>
            <a:endParaRPr lang="en-US" sz="940" dirty="0"/>
          </a:p>
        </p:txBody>
      </p:sp>
      <p:sp>
        <p:nvSpPr>
          <p:cNvPr id="19" name="Shape 17"/>
          <p:cNvSpPr/>
          <p:nvPr/>
        </p:nvSpPr>
        <p:spPr>
          <a:xfrm>
            <a:off x="603504" y="2093976"/>
            <a:ext cx="8339328" cy="2679192"/>
          </a:xfrm>
          <a:prstGeom prst="roundRect">
            <a:avLst>
              <a:gd name="adj" fmla="val 4437"/>
            </a:avLst>
          </a:prstGeom>
          <a:solidFill>
            <a:srgbClr val="FFFFFF"/>
          </a:solidFill>
          <a:ln w="7620">
            <a:solidFill>
              <a:srgbClr val="D7E2EE"/>
            </a:solidFill>
            <a:prstDash val="solid"/>
          </a:ln>
        </p:spPr>
        <p:txBody>
          <a:bodyPr/>
          <a:lstStyle/>
          <a:p>
            <a:endParaRPr lang="nb-NO"/>
          </a:p>
        </p:txBody>
      </p:sp>
      <p:sp>
        <p:nvSpPr>
          <p:cNvPr id="20" name="Shape 18"/>
          <p:cNvSpPr/>
          <p:nvPr/>
        </p:nvSpPr>
        <p:spPr>
          <a:xfrm>
            <a:off x="740664" y="2258568"/>
            <a:ext cx="8037576" cy="448056"/>
          </a:xfrm>
          <a:prstGeom prst="rect">
            <a:avLst/>
          </a:prstGeom>
          <a:solidFill>
            <a:srgbClr val="142E53"/>
          </a:solidFill>
          <a:ln w="12700">
            <a:solidFill>
              <a:srgbClr val="142E53">
                <a:alpha val="0"/>
              </a:srgbClr>
            </a:solidFill>
            <a:prstDash val="solid"/>
          </a:ln>
        </p:spPr>
        <p:txBody>
          <a:bodyPr/>
          <a:lstStyle/>
          <a:p>
            <a:endParaRPr lang="nb-NO"/>
          </a:p>
        </p:txBody>
      </p:sp>
      <p:sp>
        <p:nvSpPr>
          <p:cNvPr id="21" name="Text 19"/>
          <p:cNvSpPr txBox="1"/>
          <p:nvPr/>
        </p:nvSpPr>
        <p:spPr>
          <a:xfrm>
            <a:off x="841248" y="2359152"/>
            <a:ext cx="1097280" cy="228600"/>
          </a:xfrm>
          <a:prstGeom prst="rect">
            <a:avLst/>
          </a:prstGeom>
          <a:noFill/>
          <a:ln/>
        </p:spPr>
        <p:txBody>
          <a:bodyPr wrap="square" lIns="0" tIns="0" rIns="0" bIns="0" rtlCol="0" anchor="ctr">
            <a:normAutofit/>
          </a:bodyPr>
          <a:lstStyle/>
          <a:p>
            <a:pPr marL="0" indent="0" algn="l">
              <a:buNone/>
            </a:pPr>
            <a:r>
              <a:rPr lang="en-US" sz="1000" b="1" dirty="0">
                <a:solidFill>
                  <a:srgbClr val="FFFFFF"/>
                </a:solidFill>
                <a:latin typeface="Aptos" pitchFamily="34" charset="0"/>
                <a:ea typeface="Aptos" pitchFamily="34" charset="-122"/>
                <a:cs typeface="Aptos" pitchFamily="34" charset="-120"/>
              </a:rPr>
              <a:t>Frame</a:t>
            </a:r>
            <a:endParaRPr lang="en-US" sz="1000" dirty="0"/>
          </a:p>
        </p:txBody>
      </p:sp>
      <p:sp>
        <p:nvSpPr>
          <p:cNvPr id="22" name="Text 20"/>
          <p:cNvSpPr txBox="1"/>
          <p:nvPr/>
        </p:nvSpPr>
        <p:spPr>
          <a:xfrm>
            <a:off x="2139696" y="2359152"/>
            <a:ext cx="1197864" cy="22860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Box IoU</a:t>
            </a:r>
            <a:endParaRPr lang="en-US" sz="1000" dirty="0"/>
          </a:p>
        </p:txBody>
      </p:sp>
      <p:sp>
        <p:nvSpPr>
          <p:cNvPr id="23" name="Text 21"/>
          <p:cNvSpPr txBox="1"/>
          <p:nvPr/>
        </p:nvSpPr>
        <p:spPr>
          <a:xfrm>
            <a:off x="3611880" y="2359152"/>
            <a:ext cx="1124712" cy="22860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LiDAR [m]</a:t>
            </a:r>
            <a:endParaRPr lang="en-US" sz="1000" dirty="0"/>
          </a:p>
        </p:txBody>
      </p:sp>
      <p:sp>
        <p:nvSpPr>
          <p:cNvPr id="24" name="Text 22"/>
          <p:cNvSpPr txBox="1"/>
          <p:nvPr/>
        </p:nvSpPr>
        <p:spPr>
          <a:xfrm>
            <a:off x="4873752" y="2359152"/>
            <a:ext cx="1097280" cy="22860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GT [m]</a:t>
            </a:r>
            <a:endParaRPr lang="en-US" sz="1000" dirty="0"/>
          </a:p>
        </p:txBody>
      </p:sp>
      <p:sp>
        <p:nvSpPr>
          <p:cNvPr id="25" name="Text 23"/>
          <p:cNvSpPr txBox="1"/>
          <p:nvPr/>
        </p:nvSpPr>
        <p:spPr>
          <a:xfrm>
            <a:off x="6464808" y="2359152"/>
            <a:ext cx="1938528" cy="22860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|Error| [m]</a:t>
            </a:r>
            <a:endParaRPr lang="en-US" sz="1000" dirty="0"/>
          </a:p>
        </p:txBody>
      </p:sp>
      <p:sp>
        <p:nvSpPr>
          <p:cNvPr id="26" name="Shape 24"/>
          <p:cNvSpPr/>
          <p:nvPr/>
        </p:nvSpPr>
        <p:spPr>
          <a:xfrm>
            <a:off x="749808" y="2724912"/>
            <a:ext cx="8010144" cy="356616"/>
          </a:xfrm>
          <a:prstGeom prst="rect">
            <a:avLst/>
          </a:prstGeom>
          <a:solidFill>
            <a:srgbClr val="F5F8FC"/>
          </a:solidFill>
          <a:ln w="12700">
            <a:solidFill>
              <a:srgbClr val="F5F8FC">
                <a:alpha val="0"/>
              </a:srgbClr>
            </a:solidFill>
            <a:prstDash val="solid"/>
          </a:ln>
        </p:spPr>
        <p:txBody>
          <a:bodyPr/>
          <a:lstStyle/>
          <a:p>
            <a:endParaRPr lang="nb-NO"/>
          </a:p>
        </p:txBody>
      </p:sp>
      <p:sp>
        <p:nvSpPr>
          <p:cNvPr id="27" name="Text 25"/>
          <p:cNvSpPr txBox="1"/>
          <p:nvPr/>
        </p:nvSpPr>
        <p:spPr>
          <a:xfrm>
            <a:off x="841248" y="2770632"/>
            <a:ext cx="1097280" cy="256032"/>
          </a:xfrm>
          <a:prstGeom prst="rect">
            <a:avLst/>
          </a:prstGeom>
          <a:noFill/>
          <a:ln/>
        </p:spPr>
        <p:txBody>
          <a:bodyPr wrap="square" lIns="0" tIns="0" rIns="0" bIns="0" rtlCol="0" anchor="ctr">
            <a:normAutofit/>
          </a:bodyPr>
          <a:lstStyle/>
          <a:p>
            <a:pPr marL="0" indent="0" algn="l">
              <a:buNone/>
            </a:pPr>
            <a:r>
              <a:rPr lang="en-US" sz="1040" dirty="0">
                <a:solidFill>
                  <a:srgbClr val="142E53"/>
                </a:solidFill>
                <a:latin typeface="Aptos" pitchFamily="34" charset="0"/>
                <a:ea typeface="Aptos" pitchFamily="34" charset="-122"/>
                <a:cs typeface="Aptos" pitchFamily="34" charset="-120"/>
              </a:rPr>
              <a:t>000004</a:t>
            </a:r>
            <a:endParaRPr lang="en-US" sz="1040" dirty="0"/>
          </a:p>
        </p:txBody>
      </p:sp>
      <p:sp>
        <p:nvSpPr>
          <p:cNvPr id="28" name="Text 26"/>
          <p:cNvSpPr txBox="1"/>
          <p:nvPr/>
        </p:nvSpPr>
        <p:spPr>
          <a:xfrm>
            <a:off x="2139696" y="2770632"/>
            <a:ext cx="1197864" cy="256032"/>
          </a:xfrm>
          <a:prstGeom prst="rect">
            <a:avLst/>
          </a:prstGeom>
          <a:noFill/>
          <a:ln/>
        </p:spPr>
        <p:txBody>
          <a:bodyPr wrap="square" lIns="0" tIns="0" rIns="0" bIns="0" rtlCol="0" anchor="ctr">
            <a:normAutofit/>
          </a:bodyPr>
          <a:lstStyle/>
          <a:p>
            <a:pPr marL="0" indent="0" algn="ctr">
              <a:buNone/>
            </a:pPr>
            <a:r>
              <a:rPr lang="en-US" sz="1040" dirty="0">
                <a:solidFill>
                  <a:srgbClr val="142E53"/>
                </a:solidFill>
                <a:latin typeface="Aptos" pitchFamily="34" charset="0"/>
                <a:ea typeface="Aptos" pitchFamily="34" charset="-122"/>
                <a:cs typeface="Aptos" pitchFamily="34" charset="-120"/>
              </a:rPr>
              <a:t>0.93</a:t>
            </a:r>
            <a:endParaRPr lang="en-US" sz="1040" dirty="0"/>
          </a:p>
        </p:txBody>
      </p:sp>
      <p:sp>
        <p:nvSpPr>
          <p:cNvPr id="29" name="Text 27"/>
          <p:cNvSpPr txBox="1"/>
          <p:nvPr/>
        </p:nvSpPr>
        <p:spPr>
          <a:xfrm>
            <a:off x="3611880" y="2770632"/>
            <a:ext cx="1124712" cy="256032"/>
          </a:xfrm>
          <a:prstGeom prst="rect">
            <a:avLst/>
          </a:prstGeom>
          <a:noFill/>
          <a:ln/>
        </p:spPr>
        <p:txBody>
          <a:bodyPr wrap="square" lIns="0" tIns="0" rIns="0" bIns="0" rtlCol="0" anchor="ctr">
            <a:normAutofit/>
          </a:bodyPr>
          <a:lstStyle/>
          <a:p>
            <a:pPr marL="0" indent="0" algn="ctr">
              <a:buNone/>
            </a:pPr>
            <a:r>
              <a:rPr lang="en-US" sz="1040" dirty="0">
                <a:solidFill>
                  <a:srgbClr val="142E53"/>
                </a:solidFill>
                <a:latin typeface="Aptos" pitchFamily="34" charset="0"/>
                <a:ea typeface="Aptos" pitchFamily="34" charset="-122"/>
                <a:cs typeface="Aptos" pitchFamily="34" charset="-120"/>
              </a:rPr>
              <a:t>40.06</a:t>
            </a:r>
            <a:endParaRPr lang="en-US" sz="1040" dirty="0"/>
          </a:p>
        </p:txBody>
      </p:sp>
      <p:sp>
        <p:nvSpPr>
          <p:cNvPr id="30" name="Text 28"/>
          <p:cNvSpPr txBox="1"/>
          <p:nvPr/>
        </p:nvSpPr>
        <p:spPr>
          <a:xfrm>
            <a:off x="4873752" y="2770632"/>
            <a:ext cx="1097280" cy="256032"/>
          </a:xfrm>
          <a:prstGeom prst="rect">
            <a:avLst/>
          </a:prstGeom>
          <a:noFill/>
          <a:ln/>
        </p:spPr>
        <p:txBody>
          <a:bodyPr wrap="square" lIns="0" tIns="0" rIns="0" bIns="0" rtlCol="0" anchor="ctr">
            <a:normAutofit/>
          </a:bodyPr>
          <a:lstStyle/>
          <a:p>
            <a:pPr marL="0" indent="0" algn="ctr">
              <a:buNone/>
            </a:pPr>
            <a:r>
              <a:rPr lang="en-US" sz="1040" dirty="0">
                <a:solidFill>
                  <a:srgbClr val="142E53"/>
                </a:solidFill>
                <a:latin typeface="Aptos" pitchFamily="34" charset="0"/>
                <a:ea typeface="Aptos" pitchFamily="34" charset="-122"/>
                <a:cs typeface="Aptos" pitchFamily="34" charset="-120"/>
              </a:rPr>
              <a:t>41.67</a:t>
            </a:r>
            <a:endParaRPr lang="en-US" sz="1040" dirty="0"/>
          </a:p>
        </p:txBody>
      </p:sp>
      <p:sp>
        <p:nvSpPr>
          <p:cNvPr id="31" name="Text 29"/>
          <p:cNvSpPr txBox="1"/>
          <p:nvPr/>
        </p:nvSpPr>
        <p:spPr>
          <a:xfrm>
            <a:off x="6464808" y="2770632"/>
            <a:ext cx="1938528" cy="256032"/>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1.61</a:t>
            </a:r>
            <a:endParaRPr lang="en-US" sz="1100" dirty="0"/>
          </a:p>
        </p:txBody>
      </p:sp>
      <p:sp>
        <p:nvSpPr>
          <p:cNvPr id="32" name="Shape 30"/>
          <p:cNvSpPr/>
          <p:nvPr/>
        </p:nvSpPr>
        <p:spPr>
          <a:xfrm>
            <a:off x="749808" y="3099816"/>
            <a:ext cx="8010144" cy="356616"/>
          </a:xfrm>
          <a:prstGeom prst="rect">
            <a:avLst/>
          </a:prstGeom>
          <a:solidFill>
            <a:srgbClr val="E4EEFF"/>
          </a:solidFill>
          <a:ln w="12700">
            <a:solidFill>
              <a:srgbClr val="E4EEFF">
                <a:alpha val="0"/>
              </a:srgbClr>
            </a:solidFill>
            <a:prstDash val="solid"/>
          </a:ln>
        </p:spPr>
        <p:txBody>
          <a:bodyPr/>
          <a:lstStyle/>
          <a:p>
            <a:endParaRPr lang="nb-NO"/>
          </a:p>
        </p:txBody>
      </p:sp>
      <p:sp>
        <p:nvSpPr>
          <p:cNvPr id="33" name="Text 31"/>
          <p:cNvSpPr txBox="1"/>
          <p:nvPr/>
        </p:nvSpPr>
        <p:spPr>
          <a:xfrm>
            <a:off x="841248" y="3145536"/>
            <a:ext cx="1097280" cy="256032"/>
          </a:xfrm>
          <a:prstGeom prst="rect">
            <a:avLst/>
          </a:prstGeom>
          <a:noFill/>
          <a:ln/>
        </p:spPr>
        <p:txBody>
          <a:bodyPr wrap="square" lIns="0" tIns="0" rIns="0" bIns="0" rtlCol="0" anchor="ctr">
            <a:normAutofit/>
          </a:bodyPr>
          <a:lstStyle/>
          <a:p>
            <a:pPr marL="0" indent="0" algn="l">
              <a:buNone/>
            </a:pPr>
            <a:r>
              <a:rPr lang="en-US" sz="1040" dirty="0">
                <a:solidFill>
                  <a:srgbClr val="142E53"/>
                </a:solidFill>
                <a:latin typeface="Aptos" pitchFamily="34" charset="0"/>
                <a:ea typeface="Aptos" pitchFamily="34" charset="-122"/>
                <a:cs typeface="Aptos" pitchFamily="34" charset="-120"/>
              </a:rPr>
              <a:t>000008</a:t>
            </a:r>
            <a:endParaRPr lang="en-US" sz="1040" dirty="0"/>
          </a:p>
        </p:txBody>
      </p:sp>
      <p:sp>
        <p:nvSpPr>
          <p:cNvPr id="34" name="Text 32"/>
          <p:cNvSpPr txBox="1"/>
          <p:nvPr/>
        </p:nvSpPr>
        <p:spPr>
          <a:xfrm>
            <a:off x="2139696" y="3145536"/>
            <a:ext cx="1197864" cy="256032"/>
          </a:xfrm>
          <a:prstGeom prst="rect">
            <a:avLst/>
          </a:prstGeom>
          <a:noFill/>
          <a:ln/>
        </p:spPr>
        <p:txBody>
          <a:bodyPr wrap="square" lIns="0" tIns="0" rIns="0" bIns="0" rtlCol="0" anchor="ctr">
            <a:normAutofit/>
          </a:bodyPr>
          <a:lstStyle/>
          <a:p>
            <a:pPr marL="0" indent="0" algn="ctr">
              <a:buNone/>
            </a:pPr>
            <a:r>
              <a:rPr lang="en-US" sz="1040" dirty="0">
                <a:solidFill>
                  <a:srgbClr val="142E53"/>
                </a:solidFill>
                <a:latin typeface="Aptos" pitchFamily="34" charset="0"/>
                <a:ea typeface="Aptos" pitchFamily="34" charset="-122"/>
                <a:cs typeface="Aptos" pitchFamily="34" charset="-120"/>
              </a:rPr>
              <a:t>0.86</a:t>
            </a:r>
            <a:endParaRPr lang="en-US" sz="1040" dirty="0"/>
          </a:p>
        </p:txBody>
      </p:sp>
      <p:sp>
        <p:nvSpPr>
          <p:cNvPr id="35" name="Text 33"/>
          <p:cNvSpPr txBox="1"/>
          <p:nvPr/>
        </p:nvSpPr>
        <p:spPr>
          <a:xfrm>
            <a:off x="3611880" y="3145536"/>
            <a:ext cx="1124712" cy="256032"/>
          </a:xfrm>
          <a:prstGeom prst="rect">
            <a:avLst/>
          </a:prstGeom>
          <a:noFill/>
          <a:ln/>
        </p:spPr>
        <p:txBody>
          <a:bodyPr wrap="square" lIns="0" tIns="0" rIns="0" bIns="0" rtlCol="0" anchor="ctr">
            <a:normAutofit/>
          </a:bodyPr>
          <a:lstStyle/>
          <a:p>
            <a:pPr marL="0" indent="0" algn="ctr">
              <a:buNone/>
            </a:pPr>
            <a:r>
              <a:rPr lang="en-US" sz="1040" dirty="0">
                <a:solidFill>
                  <a:srgbClr val="142E53"/>
                </a:solidFill>
                <a:latin typeface="Aptos" pitchFamily="34" charset="0"/>
                <a:ea typeface="Aptos" pitchFamily="34" charset="-122"/>
                <a:cs typeface="Aptos" pitchFamily="34" charset="-120"/>
              </a:rPr>
              <a:t>32.57</a:t>
            </a:r>
            <a:endParaRPr lang="en-US" sz="1040" dirty="0"/>
          </a:p>
        </p:txBody>
      </p:sp>
      <p:sp>
        <p:nvSpPr>
          <p:cNvPr id="36" name="Text 34"/>
          <p:cNvSpPr txBox="1"/>
          <p:nvPr/>
        </p:nvSpPr>
        <p:spPr>
          <a:xfrm>
            <a:off x="4873752" y="3145536"/>
            <a:ext cx="1097280" cy="256032"/>
          </a:xfrm>
          <a:prstGeom prst="rect">
            <a:avLst/>
          </a:prstGeom>
          <a:noFill/>
          <a:ln/>
        </p:spPr>
        <p:txBody>
          <a:bodyPr wrap="square" lIns="0" tIns="0" rIns="0" bIns="0" rtlCol="0" anchor="ctr">
            <a:normAutofit/>
          </a:bodyPr>
          <a:lstStyle/>
          <a:p>
            <a:pPr marL="0" indent="0" algn="ctr">
              <a:buNone/>
            </a:pPr>
            <a:r>
              <a:rPr lang="en-US" sz="1040" dirty="0">
                <a:solidFill>
                  <a:srgbClr val="142E53"/>
                </a:solidFill>
                <a:latin typeface="Aptos" pitchFamily="34" charset="0"/>
                <a:ea typeface="Aptos" pitchFamily="34" charset="-122"/>
                <a:cs typeface="Aptos" pitchFamily="34" charset="-120"/>
              </a:rPr>
              <a:t>34.29</a:t>
            </a:r>
            <a:endParaRPr lang="en-US" sz="1040" dirty="0"/>
          </a:p>
        </p:txBody>
      </p:sp>
      <p:sp>
        <p:nvSpPr>
          <p:cNvPr id="37" name="Text 35"/>
          <p:cNvSpPr txBox="1"/>
          <p:nvPr/>
        </p:nvSpPr>
        <p:spPr>
          <a:xfrm>
            <a:off x="6464808" y="3145536"/>
            <a:ext cx="1938528" cy="256032"/>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1.71</a:t>
            </a:r>
            <a:endParaRPr lang="en-US" sz="1100" dirty="0"/>
          </a:p>
        </p:txBody>
      </p:sp>
      <p:sp>
        <p:nvSpPr>
          <p:cNvPr id="38" name="Shape 36"/>
          <p:cNvSpPr/>
          <p:nvPr/>
        </p:nvSpPr>
        <p:spPr>
          <a:xfrm>
            <a:off x="749808" y="3474720"/>
            <a:ext cx="8010144" cy="356616"/>
          </a:xfrm>
          <a:prstGeom prst="rect">
            <a:avLst/>
          </a:prstGeom>
          <a:solidFill>
            <a:srgbClr val="F5F8FC"/>
          </a:solidFill>
          <a:ln w="12700">
            <a:solidFill>
              <a:srgbClr val="F5F8FC">
                <a:alpha val="0"/>
              </a:srgbClr>
            </a:solidFill>
            <a:prstDash val="solid"/>
          </a:ln>
        </p:spPr>
        <p:txBody>
          <a:bodyPr/>
          <a:lstStyle/>
          <a:p>
            <a:endParaRPr lang="nb-NO"/>
          </a:p>
        </p:txBody>
      </p:sp>
      <p:sp>
        <p:nvSpPr>
          <p:cNvPr id="39" name="Text 37"/>
          <p:cNvSpPr txBox="1"/>
          <p:nvPr/>
        </p:nvSpPr>
        <p:spPr>
          <a:xfrm>
            <a:off x="841248" y="3520440"/>
            <a:ext cx="1097280" cy="256032"/>
          </a:xfrm>
          <a:prstGeom prst="rect">
            <a:avLst/>
          </a:prstGeom>
          <a:noFill/>
          <a:ln/>
        </p:spPr>
        <p:txBody>
          <a:bodyPr wrap="square" lIns="0" tIns="0" rIns="0" bIns="0" rtlCol="0" anchor="ctr">
            <a:normAutofit/>
          </a:bodyPr>
          <a:lstStyle/>
          <a:p>
            <a:pPr marL="0" indent="0" algn="l">
              <a:buNone/>
            </a:pPr>
            <a:r>
              <a:rPr lang="en-US" sz="1040" dirty="0">
                <a:solidFill>
                  <a:srgbClr val="142E53"/>
                </a:solidFill>
                <a:latin typeface="Aptos" pitchFamily="34" charset="0"/>
                <a:ea typeface="Aptos" pitchFamily="34" charset="-122"/>
                <a:cs typeface="Aptos" pitchFamily="34" charset="-120"/>
              </a:rPr>
              <a:t>000019</a:t>
            </a:r>
            <a:endParaRPr lang="en-US" sz="1040" dirty="0"/>
          </a:p>
        </p:txBody>
      </p:sp>
      <p:sp>
        <p:nvSpPr>
          <p:cNvPr id="40" name="Text 38"/>
          <p:cNvSpPr txBox="1"/>
          <p:nvPr/>
        </p:nvSpPr>
        <p:spPr>
          <a:xfrm>
            <a:off x="2139696" y="3520440"/>
            <a:ext cx="1197864" cy="256032"/>
          </a:xfrm>
          <a:prstGeom prst="rect">
            <a:avLst/>
          </a:prstGeom>
          <a:noFill/>
          <a:ln/>
        </p:spPr>
        <p:txBody>
          <a:bodyPr wrap="square" lIns="0" tIns="0" rIns="0" bIns="0" rtlCol="0" anchor="ctr">
            <a:normAutofit/>
          </a:bodyPr>
          <a:lstStyle/>
          <a:p>
            <a:pPr marL="0" indent="0" algn="ctr">
              <a:buNone/>
            </a:pPr>
            <a:r>
              <a:rPr lang="en-US" sz="1040" dirty="0">
                <a:solidFill>
                  <a:srgbClr val="142E53"/>
                </a:solidFill>
                <a:latin typeface="Aptos" pitchFamily="34" charset="0"/>
                <a:ea typeface="Aptos" pitchFamily="34" charset="-122"/>
                <a:cs typeface="Aptos" pitchFamily="34" charset="-120"/>
              </a:rPr>
              <a:t>0.92</a:t>
            </a:r>
            <a:endParaRPr lang="en-US" sz="1040" dirty="0"/>
          </a:p>
        </p:txBody>
      </p:sp>
      <p:sp>
        <p:nvSpPr>
          <p:cNvPr id="41" name="Text 39"/>
          <p:cNvSpPr txBox="1"/>
          <p:nvPr/>
        </p:nvSpPr>
        <p:spPr>
          <a:xfrm>
            <a:off x="3611880" y="3520440"/>
            <a:ext cx="1124712" cy="256032"/>
          </a:xfrm>
          <a:prstGeom prst="rect">
            <a:avLst/>
          </a:prstGeom>
          <a:noFill/>
          <a:ln/>
        </p:spPr>
        <p:txBody>
          <a:bodyPr wrap="square" lIns="0" tIns="0" rIns="0" bIns="0" rtlCol="0" anchor="ctr">
            <a:normAutofit/>
          </a:bodyPr>
          <a:lstStyle/>
          <a:p>
            <a:pPr marL="0" indent="0" algn="ctr">
              <a:buNone/>
            </a:pPr>
            <a:r>
              <a:rPr lang="en-US" sz="1040" dirty="0">
                <a:solidFill>
                  <a:srgbClr val="142E53"/>
                </a:solidFill>
                <a:latin typeface="Aptos" pitchFamily="34" charset="0"/>
                <a:ea typeface="Aptos" pitchFamily="34" charset="-122"/>
                <a:cs typeface="Aptos" pitchFamily="34" charset="-120"/>
              </a:rPr>
              <a:t>8.91</a:t>
            </a:r>
            <a:endParaRPr lang="en-US" sz="1040" dirty="0"/>
          </a:p>
        </p:txBody>
      </p:sp>
      <p:sp>
        <p:nvSpPr>
          <p:cNvPr id="42" name="Text 40"/>
          <p:cNvSpPr txBox="1"/>
          <p:nvPr/>
        </p:nvSpPr>
        <p:spPr>
          <a:xfrm>
            <a:off x="4873752" y="3520440"/>
            <a:ext cx="1097280" cy="256032"/>
          </a:xfrm>
          <a:prstGeom prst="rect">
            <a:avLst/>
          </a:prstGeom>
          <a:noFill/>
          <a:ln/>
        </p:spPr>
        <p:txBody>
          <a:bodyPr wrap="square" lIns="0" tIns="0" rIns="0" bIns="0" rtlCol="0" anchor="ctr">
            <a:normAutofit/>
          </a:bodyPr>
          <a:lstStyle/>
          <a:p>
            <a:pPr marL="0" indent="0" algn="ctr">
              <a:buNone/>
            </a:pPr>
            <a:r>
              <a:rPr lang="en-US" sz="1040" dirty="0">
                <a:solidFill>
                  <a:srgbClr val="142E53"/>
                </a:solidFill>
                <a:latin typeface="Aptos" pitchFamily="34" charset="0"/>
                <a:ea typeface="Aptos" pitchFamily="34" charset="-122"/>
                <a:cs typeface="Aptos" pitchFamily="34" charset="-120"/>
              </a:rPr>
              <a:t>10.53</a:t>
            </a:r>
            <a:endParaRPr lang="en-US" sz="1040" dirty="0"/>
          </a:p>
        </p:txBody>
      </p:sp>
      <p:sp>
        <p:nvSpPr>
          <p:cNvPr id="43" name="Text 41"/>
          <p:cNvSpPr txBox="1"/>
          <p:nvPr/>
        </p:nvSpPr>
        <p:spPr>
          <a:xfrm>
            <a:off x="6464808" y="3520440"/>
            <a:ext cx="1938528" cy="256032"/>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1.62</a:t>
            </a:r>
            <a:endParaRPr lang="en-US" sz="1100" dirty="0"/>
          </a:p>
        </p:txBody>
      </p:sp>
      <p:sp>
        <p:nvSpPr>
          <p:cNvPr id="44" name="Shape 42"/>
          <p:cNvSpPr/>
          <p:nvPr/>
        </p:nvSpPr>
        <p:spPr>
          <a:xfrm>
            <a:off x="749808" y="3849624"/>
            <a:ext cx="8010144" cy="356616"/>
          </a:xfrm>
          <a:prstGeom prst="rect">
            <a:avLst/>
          </a:prstGeom>
          <a:solidFill>
            <a:srgbClr val="E4EEFF"/>
          </a:solidFill>
          <a:ln w="12700">
            <a:solidFill>
              <a:srgbClr val="E4EEFF">
                <a:alpha val="0"/>
              </a:srgbClr>
            </a:solidFill>
            <a:prstDash val="solid"/>
          </a:ln>
        </p:spPr>
        <p:txBody>
          <a:bodyPr/>
          <a:lstStyle/>
          <a:p>
            <a:endParaRPr lang="nb-NO"/>
          </a:p>
        </p:txBody>
      </p:sp>
      <p:sp>
        <p:nvSpPr>
          <p:cNvPr id="45" name="Text 43"/>
          <p:cNvSpPr txBox="1"/>
          <p:nvPr/>
        </p:nvSpPr>
        <p:spPr>
          <a:xfrm>
            <a:off x="841248" y="3895344"/>
            <a:ext cx="1097280" cy="256032"/>
          </a:xfrm>
          <a:prstGeom prst="rect">
            <a:avLst/>
          </a:prstGeom>
          <a:noFill/>
          <a:ln/>
        </p:spPr>
        <p:txBody>
          <a:bodyPr wrap="square" lIns="0" tIns="0" rIns="0" bIns="0" rtlCol="0" anchor="ctr">
            <a:normAutofit/>
          </a:bodyPr>
          <a:lstStyle/>
          <a:p>
            <a:pPr marL="0" indent="0" algn="l">
              <a:buNone/>
            </a:pPr>
            <a:r>
              <a:rPr lang="en-US" sz="1040" dirty="0">
                <a:solidFill>
                  <a:srgbClr val="142E53"/>
                </a:solidFill>
                <a:latin typeface="Aptos" pitchFamily="34" charset="0"/>
                <a:ea typeface="Aptos" pitchFamily="34" charset="-122"/>
                <a:cs typeface="Aptos" pitchFamily="34" charset="-120"/>
              </a:rPr>
              <a:t>000027</a:t>
            </a:r>
            <a:endParaRPr lang="en-US" sz="1040" dirty="0"/>
          </a:p>
        </p:txBody>
      </p:sp>
      <p:sp>
        <p:nvSpPr>
          <p:cNvPr id="46" name="Text 44"/>
          <p:cNvSpPr txBox="1"/>
          <p:nvPr/>
        </p:nvSpPr>
        <p:spPr>
          <a:xfrm>
            <a:off x="2139696" y="3895344"/>
            <a:ext cx="1197864" cy="256032"/>
          </a:xfrm>
          <a:prstGeom prst="rect">
            <a:avLst/>
          </a:prstGeom>
          <a:noFill/>
          <a:ln/>
        </p:spPr>
        <p:txBody>
          <a:bodyPr wrap="square" lIns="0" tIns="0" rIns="0" bIns="0" rtlCol="0" anchor="ctr">
            <a:normAutofit/>
          </a:bodyPr>
          <a:lstStyle/>
          <a:p>
            <a:pPr marL="0" indent="0" algn="ctr">
              <a:buNone/>
            </a:pPr>
            <a:r>
              <a:rPr lang="en-US" sz="1040" dirty="0">
                <a:solidFill>
                  <a:srgbClr val="142E53"/>
                </a:solidFill>
                <a:latin typeface="Aptos" pitchFamily="34" charset="0"/>
                <a:ea typeface="Aptos" pitchFamily="34" charset="-122"/>
                <a:cs typeface="Aptos" pitchFamily="34" charset="-120"/>
              </a:rPr>
              <a:t>0.87</a:t>
            </a:r>
            <a:endParaRPr lang="en-US" sz="1040" dirty="0"/>
          </a:p>
        </p:txBody>
      </p:sp>
      <p:sp>
        <p:nvSpPr>
          <p:cNvPr id="47" name="Text 45"/>
          <p:cNvSpPr txBox="1"/>
          <p:nvPr/>
        </p:nvSpPr>
        <p:spPr>
          <a:xfrm>
            <a:off x="3611880" y="3895344"/>
            <a:ext cx="1124712" cy="256032"/>
          </a:xfrm>
          <a:prstGeom prst="rect">
            <a:avLst/>
          </a:prstGeom>
          <a:noFill/>
          <a:ln/>
        </p:spPr>
        <p:txBody>
          <a:bodyPr wrap="square" lIns="0" tIns="0" rIns="0" bIns="0" rtlCol="0" anchor="ctr">
            <a:normAutofit/>
          </a:bodyPr>
          <a:lstStyle/>
          <a:p>
            <a:pPr marL="0" indent="0" algn="ctr">
              <a:buNone/>
            </a:pPr>
            <a:r>
              <a:rPr lang="en-US" sz="1040" dirty="0">
                <a:solidFill>
                  <a:srgbClr val="142E53"/>
                </a:solidFill>
                <a:latin typeface="Aptos" pitchFamily="34" charset="0"/>
                <a:ea typeface="Aptos" pitchFamily="34" charset="-122"/>
                <a:cs typeface="Aptos" pitchFamily="34" charset="-120"/>
              </a:rPr>
              <a:t>12.90</a:t>
            </a:r>
            <a:endParaRPr lang="en-US" sz="1040" dirty="0"/>
          </a:p>
        </p:txBody>
      </p:sp>
      <p:sp>
        <p:nvSpPr>
          <p:cNvPr id="48" name="Text 46"/>
          <p:cNvSpPr txBox="1"/>
          <p:nvPr/>
        </p:nvSpPr>
        <p:spPr>
          <a:xfrm>
            <a:off x="4873752" y="3895344"/>
            <a:ext cx="1097280" cy="256032"/>
          </a:xfrm>
          <a:prstGeom prst="rect">
            <a:avLst/>
          </a:prstGeom>
          <a:noFill/>
          <a:ln/>
        </p:spPr>
        <p:txBody>
          <a:bodyPr wrap="square" lIns="0" tIns="0" rIns="0" bIns="0" rtlCol="0" anchor="ctr">
            <a:normAutofit/>
          </a:bodyPr>
          <a:lstStyle/>
          <a:p>
            <a:pPr marL="0" indent="0" algn="ctr">
              <a:buNone/>
            </a:pPr>
            <a:r>
              <a:rPr lang="en-US" sz="1040" dirty="0">
                <a:solidFill>
                  <a:srgbClr val="142E53"/>
                </a:solidFill>
                <a:latin typeface="Aptos" pitchFamily="34" charset="0"/>
                <a:ea typeface="Aptos" pitchFamily="34" charset="-122"/>
                <a:cs typeface="Aptos" pitchFamily="34" charset="-120"/>
              </a:rPr>
              <a:t>15.24</a:t>
            </a:r>
            <a:endParaRPr lang="en-US" sz="1040" dirty="0"/>
          </a:p>
        </p:txBody>
      </p:sp>
      <p:sp>
        <p:nvSpPr>
          <p:cNvPr id="49" name="Text 47"/>
          <p:cNvSpPr txBox="1"/>
          <p:nvPr/>
        </p:nvSpPr>
        <p:spPr>
          <a:xfrm>
            <a:off x="6464808" y="3895344"/>
            <a:ext cx="1938528" cy="256032"/>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2.34</a:t>
            </a:r>
            <a:endParaRPr lang="en-US" sz="1100" dirty="0"/>
          </a:p>
        </p:txBody>
      </p:sp>
      <p:sp>
        <p:nvSpPr>
          <p:cNvPr id="50" name="Shape 48"/>
          <p:cNvSpPr/>
          <p:nvPr/>
        </p:nvSpPr>
        <p:spPr>
          <a:xfrm>
            <a:off x="749808" y="4224528"/>
            <a:ext cx="8010144" cy="356616"/>
          </a:xfrm>
          <a:prstGeom prst="rect">
            <a:avLst/>
          </a:prstGeom>
          <a:solidFill>
            <a:srgbClr val="FBE6F0"/>
          </a:solidFill>
          <a:ln w="12700">
            <a:solidFill>
              <a:srgbClr val="FBE6F0">
                <a:alpha val="0"/>
              </a:srgbClr>
            </a:solidFill>
            <a:prstDash val="solid"/>
          </a:ln>
        </p:spPr>
        <p:txBody>
          <a:bodyPr/>
          <a:lstStyle/>
          <a:p>
            <a:endParaRPr lang="nb-NO"/>
          </a:p>
        </p:txBody>
      </p:sp>
      <p:sp>
        <p:nvSpPr>
          <p:cNvPr id="51" name="Text 49"/>
          <p:cNvSpPr txBox="1"/>
          <p:nvPr/>
        </p:nvSpPr>
        <p:spPr>
          <a:xfrm>
            <a:off x="841248" y="4270248"/>
            <a:ext cx="1097280" cy="256032"/>
          </a:xfrm>
          <a:prstGeom prst="rect">
            <a:avLst/>
          </a:prstGeom>
          <a:noFill/>
          <a:ln/>
        </p:spPr>
        <p:txBody>
          <a:bodyPr wrap="square" lIns="0" tIns="0" rIns="0" bIns="0" rtlCol="0" anchor="ctr">
            <a:normAutofit/>
          </a:bodyPr>
          <a:lstStyle/>
          <a:p>
            <a:pPr marL="0" indent="0" algn="l">
              <a:buNone/>
            </a:pPr>
            <a:r>
              <a:rPr lang="en-US" sz="1040" b="1" dirty="0">
                <a:solidFill>
                  <a:srgbClr val="D75261"/>
                </a:solidFill>
                <a:latin typeface="Aptos" pitchFamily="34" charset="0"/>
                <a:ea typeface="Aptos" pitchFamily="34" charset="-122"/>
                <a:cs typeface="Aptos" pitchFamily="34" charset="-120"/>
              </a:rPr>
              <a:t>000029</a:t>
            </a:r>
            <a:endParaRPr lang="en-US" sz="1040" dirty="0"/>
          </a:p>
        </p:txBody>
      </p:sp>
      <p:sp>
        <p:nvSpPr>
          <p:cNvPr id="52" name="Text 50"/>
          <p:cNvSpPr txBox="1"/>
          <p:nvPr/>
        </p:nvSpPr>
        <p:spPr>
          <a:xfrm>
            <a:off x="2139696" y="4270248"/>
            <a:ext cx="1197864" cy="256032"/>
          </a:xfrm>
          <a:prstGeom prst="rect">
            <a:avLst/>
          </a:prstGeom>
          <a:noFill/>
          <a:ln/>
        </p:spPr>
        <p:txBody>
          <a:bodyPr wrap="square" lIns="0" tIns="0" rIns="0" bIns="0" rtlCol="0" anchor="ctr">
            <a:normAutofit/>
          </a:bodyPr>
          <a:lstStyle/>
          <a:p>
            <a:pPr marL="0" indent="0" algn="ctr">
              <a:buNone/>
            </a:pPr>
            <a:r>
              <a:rPr lang="en-US" sz="1040" b="1" dirty="0">
                <a:solidFill>
                  <a:srgbClr val="D75261"/>
                </a:solidFill>
                <a:latin typeface="Aptos" pitchFamily="34" charset="0"/>
                <a:ea typeface="Aptos" pitchFamily="34" charset="-122"/>
                <a:cs typeface="Aptos" pitchFamily="34" charset="-120"/>
              </a:rPr>
              <a:t>0.00</a:t>
            </a:r>
            <a:endParaRPr lang="en-US" sz="1040" dirty="0"/>
          </a:p>
        </p:txBody>
      </p:sp>
      <p:sp>
        <p:nvSpPr>
          <p:cNvPr id="53" name="Text 51"/>
          <p:cNvSpPr txBox="1"/>
          <p:nvPr/>
        </p:nvSpPr>
        <p:spPr>
          <a:xfrm>
            <a:off x="3611880" y="4270248"/>
            <a:ext cx="1124712" cy="256032"/>
          </a:xfrm>
          <a:prstGeom prst="rect">
            <a:avLst/>
          </a:prstGeom>
          <a:noFill/>
          <a:ln/>
        </p:spPr>
        <p:txBody>
          <a:bodyPr wrap="square" lIns="0" tIns="0" rIns="0" bIns="0" rtlCol="0" anchor="ctr">
            <a:normAutofit/>
          </a:bodyPr>
          <a:lstStyle/>
          <a:p>
            <a:pPr marL="0" indent="0" algn="ctr">
              <a:buNone/>
            </a:pPr>
            <a:r>
              <a:rPr lang="en-US" sz="1040" b="1" dirty="0">
                <a:solidFill>
                  <a:srgbClr val="D75261"/>
                </a:solidFill>
                <a:latin typeface="Aptos" pitchFamily="34" charset="0"/>
                <a:ea typeface="Aptos" pitchFamily="34" charset="-122"/>
                <a:cs typeface="Aptos" pitchFamily="34" charset="-120"/>
              </a:rPr>
              <a:t>22.77</a:t>
            </a:r>
            <a:endParaRPr lang="en-US" sz="1040" dirty="0"/>
          </a:p>
        </p:txBody>
      </p:sp>
      <p:sp>
        <p:nvSpPr>
          <p:cNvPr id="54" name="Text 52"/>
          <p:cNvSpPr txBox="1"/>
          <p:nvPr/>
        </p:nvSpPr>
        <p:spPr>
          <a:xfrm>
            <a:off x="4873752" y="4270248"/>
            <a:ext cx="1097280" cy="256032"/>
          </a:xfrm>
          <a:prstGeom prst="rect">
            <a:avLst/>
          </a:prstGeom>
          <a:noFill/>
          <a:ln/>
        </p:spPr>
        <p:txBody>
          <a:bodyPr wrap="square" lIns="0" tIns="0" rIns="0" bIns="0" rtlCol="0" anchor="ctr">
            <a:normAutofit/>
          </a:bodyPr>
          <a:lstStyle/>
          <a:p>
            <a:pPr marL="0" indent="0" algn="ctr">
              <a:buNone/>
            </a:pPr>
            <a:r>
              <a:rPr lang="en-US" sz="1040" b="1" dirty="0">
                <a:solidFill>
                  <a:srgbClr val="D75261"/>
                </a:solidFill>
                <a:latin typeface="Aptos" pitchFamily="34" charset="0"/>
                <a:ea typeface="Aptos" pitchFamily="34" charset="-122"/>
                <a:cs typeface="Aptos" pitchFamily="34" charset="-120"/>
              </a:rPr>
              <a:t>—</a:t>
            </a:r>
            <a:endParaRPr lang="en-US" sz="1040" dirty="0"/>
          </a:p>
        </p:txBody>
      </p:sp>
      <p:sp>
        <p:nvSpPr>
          <p:cNvPr id="55" name="Text 53"/>
          <p:cNvSpPr txBox="1"/>
          <p:nvPr/>
        </p:nvSpPr>
        <p:spPr>
          <a:xfrm>
            <a:off x="6464808" y="4270248"/>
            <a:ext cx="1938528" cy="256032"/>
          </a:xfrm>
          <a:prstGeom prst="rect">
            <a:avLst/>
          </a:prstGeom>
          <a:noFill/>
          <a:ln/>
        </p:spPr>
        <p:txBody>
          <a:bodyPr wrap="square" lIns="0" tIns="0" rIns="0" bIns="0" rtlCol="0" anchor="ctr">
            <a:normAutofit/>
          </a:bodyPr>
          <a:lstStyle/>
          <a:p>
            <a:pPr marL="0" indent="0" algn="ctr">
              <a:buNone/>
            </a:pPr>
            <a:r>
              <a:rPr lang="en-US" sz="1100" b="1" dirty="0">
                <a:solidFill>
                  <a:srgbClr val="D75261"/>
                </a:solidFill>
                <a:latin typeface="Aptos" pitchFamily="34" charset="0"/>
                <a:ea typeface="Aptos" pitchFamily="34" charset="-122"/>
                <a:cs typeface="Aptos" pitchFamily="34" charset="-120"/>
              </a:rPr>
              <a:t>—</a:t>
            </a:r>
            <a:endParaRPr lang="en-US" sz="1100" dirty="0"/>
          </a:p>
        </p:txBody>
      </p:sp>
      <p:sp>
        <p:nvSpPr>
          <p:cNvPr id="56" name="Shape 54"/>
          <p:cNvSpPr/>
          <p:nvPr/>
        </p:nvSpPr>
        <p:spPr>
          <a:xfrm>
            <a:off x="9107424" y="2103120"/>
            <a:ext cx="2496312" cy="2670048"/>
          </a:xfrm>
          <a:prstGeom prst="roundRect">
            <a:avLst>
              <a:gd name="adj" fmla="val 4762"/>
            </a:avLst>
          </a:prstGeom>
          <a:solidFill>
            <a:srgbClr val="FBE6F0"/>
          </a:solidFill>
          <a:ln w="12700">
            <a:solidFill>
              <a:srgbClr val="FBE6F0">
                <a:alpha val="0"/>
              </a:srgbClr>
            </a:solidFill>
            <a:prstDash val="solid"/>
          </a:ln>
        </p:spPr>
        <p:txBody>
          <a:bodyPr/>
          <a:lstStyle/>
          <a:p>
            <a:endParaRPr lang="nb-NO"/>
          </a:p>
        </p:txBody>
      </p:sp>
      <p:sp>
        <p:nvSpPr>
          <p:cNvPr id="57" name="Shape 55"/>
          <p:cNvSpPr/>
          <p:nvPr/>
        </p:nvSpPr>
        <p:spPr>
          <a:xfrm>
            <a:off x="9272016" y="2249424"/>
            <a:ext cx="2148840" cy="274320"/>
          </a:xfrm>
          <a:prstGeom prst="roundRect">
            <a:avLst>
              <a:gd name="adj" fmla="val 43333"/>
            </a:avLst>
          </a:prstGeom>
          <a:solidFill>
            <a:srgbClr val="FFFFFF"/>
          </a:solidFill>
          <a:ln w="12700">
            <a:solidFill>
              <a:srgbClr val="FFFFFF">
                <a:alpha val="0"/>
              </a:srgbClr>
            </a:solidFill>
            <a:prstDash val="solid"/>
          </a:ln>
        </p:spPr>
        <p:txBody>
          <a:bodyPr/>
          <a:lstStyle/>
          <a:p>
            <a:endParaRPr lang="nb-NO"/>
          </a:p>
        </p:txBody>
      </p:sp>
      <p:sp>
        <p:nvSpPr>
          <p:cNvPr id="58" name="Text 56"/>
          <p:cNvSpPr txBox="1"/>
          <p:nvPr/>
        </p:nvSpPr>
        <p:spPr>
          <a:xfrm>
            <a:off x="9326880" y="2258568"/>
            <a:ext cx="2039112" cy="25603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Unmatched example</a:t>
            </a:r>
            <a:endParaRPr lang="en-US" sz="1000" dirty="0"/>
          </a:p>
        </p:txBody>
      </p:sp>
      <p:pic>
        <p:nvPicPr>
          <p:cNvPr id="59" name="Image 0" descr="/mnt/data/ppt_work/notebook_assets/q3_fusion_5.png"/>
          <p:cNvPicPr>
            <a:picLocks noChangeAspect="1"/>
          </p:cNvPicPr>
          <p:nvPr/>
        </p:nvPicPr>
        <p:blipFill>
          <a:blip r:embed="rId3"/>
          <a:stretch>
            <a:fillRect/>
          </a:stretch>
        </p:blipFill>
        <p:spPr>
          <a:xfrm>
            <a:off x="9253728" y="2760968"/>
            <a:ext cx="2203704" cy="686840"/>
          </a:xfrm>
          <a:prstGeom prst="rect">
            <a:avLst/>
          </a:prstGeom>
        </p:spPr>
      </p:pic>
      <p:sp>
        <p:nvSpPr>
          <p:cNvPr id="60" name="Text 57"/>
          <p:cNvSpPr txBox="1"/>
          <p:nvPr/>
        </p:nvSpPr>
        <p:spPr>
          <a:xfrm>
            <a:off x="9345168" y="3685032"/>
            <a:ext cx="2029968" cy="274320"/>
          </a:xfrm>
          <a:prstGeom prst="rect">
            <a:avLst/>
          </a:prstGeom>
          <a:noFill/>
          <a:ln/>
        </p:spPr>
        <p:txBody>
          <a:bodyPr wrap="square" lIns="0" tIns="0" rIns="0" bIns="0" rtlCol="0" anchor="ctr">
            <a:normAutofit/>
          </a:bodyPr>
          <a:lstStyle/>
          <a:p>
            <a:pPr marL="0" indent="0" algn="ctr">
              <a:buNone/>
            </a:pPr>
            <a:r>
              <a:rPr lang="en-US" sz="1200" b="1" dirty="0">
                <a:solidFill>
                  <a:srgbClr val="142E53"/>
                </a:solidFill>
                <a:latin typeface="Aptos" pitchFamily="34" charset="0"/>
                <a:ea typeface="Aptos" pitchFamily="34" charset="-122"/>
                <a:cs typeface="Aptos" pitchFamily="34" charset="-120"/>
              </a:rPr>
              <a:t>Frame 000029</a:t>
            </a:r>
            <a:endParaRPr lang="en-US" sz="1200" dirty="0"/>
          </a:p>
        </p:txBody>
      </p:sp>
      <p:sp>
        <p:nvSpPr>
          <p:cNvPr id="61" name="Text 58"/>
          <p:cNvSpPr txBox="1"/>
          <p:nvPr/>
        </p:nvSpPr>
        <p:spPr>
          <a:xfrm>
            <a:off x="9317736" y="4059936"/>
            <a:ext cx="2093976" cy="384048"/>
          </a:xfrm>
          <a:prstGeom prst="rect">
            <a:avLst/>
          </a:prstGeom>
          <a:noFill/>
          <a:ln/>
        </p:spPr>
        <p:txBody>
          <a:bodyPr wrap="square" lIns="0" tIns="0" rIns="0" bIns="0" rtlCol="0" anchor="ctr">
            <a:normAutofit/>
          </a:bodyPr>
          <a:lstStyle/>
          <a:p>
            <a:pPr marL="0" indent="0" algn="ctr">
              <a:buNone/>
            </a:pPr>
            <a:r>
              <a:rPr lang="en-US" sz="1000" dirty="0">
                <a:solidFill>
                  <a:srgbClr val="24334A"/>
                </a:solidFill>
                <a:latin typeface="Aptos" pitchFamily="34" charset="0"/>
                <a:ea typeface="Aptos" pitchFamily="34" charset="-122"/>
                <a:cs typeface="Aptos" pitchFamily="34" charset="-120"/>
              </a:rPr>
              <a:t>Excluded from error average</a:t>
            </a:r>
            <a:endParaRPr lang="en-US" sz="1000" dirty="0"/>
          </a:p>
        </p:txBody>
      </p:sp>
      <p:sp>
        <p:nvSpPr>
          <p:cNvPr id="62" name="Shape 59"/>
          <p:cNvSpPr/>
          <p:nvPr/>
        </p:nvSpPr>
        <p:spPr>
          <a:xfrm>
            <a:off x="722376" y="4946904"/>
            <a:ext cx="10771632" cy="329184"/>
          </a:xfrm>
          <a:prstGeom prst="roundRect">
            <a:avLst>
              <a:gd name="adj" fmla="val 36111"/>
            </a:avLst>
          </a:prstGeom>
          <a:solidFill>
            <a:srgbClr val="FFF2D4"/>
          </a:solidFill>
          <a:ln w="12700">
            <a:solidFill>
              <a:srgbClr val="FFF2D4">
                <a:alpha val="0"/>
              </a:srgbClr>
            </a:solidFill>
            <a:prstDash val="solid"/>
          </a:ln>
        </p:spPr>
        <p:txBody>
          <a:bodyPr/>
          <a:lstStyle/>
          <a:p>
            <a:endParaRPr lang="nb-NO"/>
          </a:p>
        </p:txBody>
      </p:sp>
      <p:sp>
        <p:nvSpPr>
          <p:cNvPr id="63" name="Text 60"/>
          <p:cNvSpPr txBox="1"/>
          <p:nvPr/>
        </p:nvSpPr>
        <p:spPr>
          <a:xfrm>
            <a:off x="818388" y="4992624"/>
            <a:ext cx="10533888" cy="210312"/>
          </a:xfrm>
          <a:prstGeom prst="rect">
            <a:avLst/>
          </a:prstGeom>
          <a:noFill/>
          <a:ln/>
        </p:spPr>
        <p:txBody>
          <a:bodyPr wrap="square" lIns="0" tIns="0" rIns="0" bIns="0" rtlCol="0" anchor="ctr">
            <a:noAutofit/>
          </a:bodyPr>
          <a:lstStyle/>
          <a:p>
            <a:pPr algn="ctr"/>
            <a:r>
              <a:rPr lang="nb-NO" sz="1000" dirty="0" err="1"/>
              <a:t>LiDAR</a:t>
            </a:r>
            <a:r>
              <a:rPr lang="nb-NO" sz="1000" dirty="0"/>
              <a:t> &gt; Front </a:t>
            </a:r>
            <a:r>
              <a:rPr lang="nb-NO" sz="1000" dirty="0" err="1"/>
              <a:t>of</a:t>
            </a:r>
            <a:r>
              <a:rPr lang="nb-NO" sz="1000" dirty="0"/>
              <a:t> </a:t>
            </a:r>
            <a:r>
              <a:rPr lang="nb-NO" sz="1000" dirty="0" err="1"/>
              <a:t>the</a:t>
            </a:r>
            <a:r>
              <a:rPr lang="nb-NO" sz="1000" dirty="0"/>
              <a:t> </a:t>
            </a:r>
            <a:r>
              <a:rPr lang="nb-NO" sz="1000" dirty="0" err="1"/>
              <a:t>car</a:t>
            </a:r>
            <a:r>
              <a:rPr lang="nb-NO" sz="1000" dirty="0"/>
              <a:t> – </a:t>
            </a:r>
            <a:r>
              <a:rPr lang="nb-NO" sz="1000" dirty="0" err="1"/>
              <a:t>Kitti</a:t>
            </a:r>
            <a:r>
              <a:rPr lang="nb-NO" sz="1000" dirty="0"/>
              <a:t> Centre </a:t>
            </a:r>
            <a:r>
              <a:rPr lang="nb-NO" sz="1000" dirty="0" err="1"/>
              <a:t>of</a:t>
            </a:r>
            <a:r>
              <a:rPr lang="nb-NO" sz="1000" dirty="0"/>
              <a:t> </a:t>
            </a:r>
            <a:r>
              <a:rPr lang="nb-NO" sz="1000" dirty="0" err="1"/>
              <a:t>car</a:t>
            </a:r>
            <a:r>
              <a:rPr lang="nb-NO" sz="1000" dirty="0"/>
              <a:t>.</a:t>
            </a:r>
          </a:p>
          <a:p>
            <a:pPr marL="0" indent="0" algn="ctr">
              <a:buNone/>
            </a:pPr>
            <a:r>
              <a:rPr lang="en-US" sz="1000" dirty="0">
                <a:solidFill>
                  <a:srgbClr val="142E53"/>
                </a:solidFill>
                <a:latin typeface="Aptos" pitchFamily="34" charset="0"/>
                <a:ea typeface="Aptos" pitchFamily="34" charset="-122"/>
                <a:cs typeface="Aptos" pitchFamily="34" charset="-120"/>
              </a:rPr>
              <a:t>GT is the 3D box </a:t>
            </a:r>
            <a:r>
              <a:rPr lang="en-US" sz="1000" dirty="0" err="1">
                <a:solidFill>
                  <a:srgbClr val="142E53"/>
                </a:solidFill>
                <a:latin typeface="Aptos" pitchFamily="34" charset="0"/>
                <a:ea typeface="Aptos" pitchFamily="34" charset="-122"/>
                <a:cs typeface="Aptos" pitchFamily="34" charset="-120"/>
              </a:rPr>
              <a:t>centre</a:t>
            </a:r>
            <a:r>
              <a:rPr lang="en-US" sz="1000" dirty="0">
                <a:solidFill>
                  <a:srgbClr val="142E53"/>
                </a:solidFill>
                <a:latin typeface="Aptos" pitchFamily="34" charset="0"/>
                <a:ea typeface="Aptos" pitchFamily="34" charset="-122"/>
                <a:cs typeface="Aptos" pitchFamily="34" charset="-120"/>
              </a:rPr>
              <a:t>.</a:t>
            </a:r>
            <a:endParaRPr lang="en-US" sz="1000" dirty="0"/>
          </a:p>
        </p:txBody>
      </p:sp>
      <p:pic>
        <p:nvPicPr>
          <p:cNvPr id="67" name="Bilde 66">
            <a:extLst>
              <a:ext uri="{FF2B5EF4-FFF2-40B4-BE49-F238E27FC236}">
                <a16:creationId xmlns:a16="http://schemas.microsoft.com/office/drawing/2014/main" id="{B9FE1AB6-4118-1573-5F5D-EC2EEC8201EE}"/>
              </a:ext>
            </a:extLst>
          </p:cNvPr>
          <p:cNvPicPr>
            <a:picLocks noChangeAspect="1"/>
          </p:cNvPicPr>
          <p:nvPr/>
        </p:nvPicPr>
        <p:blipFill>
          <a:blip r:embed="rId4"/>
          <a:stretch>
            <a:fillRect/>
          </a:stretch>
        </p:blipFill>
        <p:spPr>
          <a:xfrm>
            <a:off x="7304627" y="846966"/>
            <a:ext cx="3927253" cy="137656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Q4</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sz="2600" b="1">
                <a:solidFill>
                  <a:srgbClr val="191F2C"/>
                </a:solidFill>
                <a:latin typeface="Aptos"/>
              </a:rPr>
              <a:t>Q4(a) Webots navigation setup</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l">
              <a:buNone/>
            </a:pPr>
            <a:r>
              <a:rPr sz="1400" b="0">
                <a:solidFill>
                  <a:srgbClr val="5D6778"/>
                </a:solidFill>
                <a:latin typeface="Aptos"/>
              </a:rPr>
              <a:t>A Supervisor controller follows a fixed route and records repeatable friction experiments</a:t>
            </a:r>
            <a:endParaRPr lang="en-US" sz="1000" dirty="0"/>
          </a:p>
        </p:txBody>
      </p:sp>
      <p:sp>
        <p:nvSpPr>
          <p:cNvPr id="7" name="Shape 5"/>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76072"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16</a:t>
            </a:r>
            <a:endParaRPr lang="en-US" sz="1100" dirty="0"/>
          </a:p>
        </p:txBody>
      </p:sp>
      <p:sp>
        <p:nvSpPr>
          <p:cNvPr id="10" name="Shape 8"/>
          <p:cNvSpPr/>
          <p:nvPr/>
        </p:nvSpPr>
        <p:spPr>
          <a:xfrm>
            <a:off x="630936" y="1216152"/>
            <a:ext cx="6665976" cy="3822192"/>
          </a:xfrm>
          <a:prstGeom prst="roundRect">
            <a:avLst>
              <a:gd name="adj" fmla="val 3110"/>
            </a:avLst>
          </a:prstGeom>
          <a:solidFill>
            <a:srgbClr val="FFFFFF"/>
          </a:solidFill>
          <a:ln w="7620">
            <a:solidFill>
              <a:srgbClr val="D7E2EE"/>
            </a:solidFill>
            <a:prstDash val="solid"/>
          </a:ln>
        </p:spPr>
        <p:txBody>
          <a:bodyPr/>
          <a:lstStyle/>
          <a:p>
            <a:endParaRPr lang="nb-NO"/>
          </a:p>
        </p:txBody>
      </p:sp>
      <p:sp>
        <p:nvSpPr>
          <p:cNvPr id="11" name="Shape 9"/>
          <p:cNvSpPr/>
          <p:nvPr/>
        </p:nvSpPr>
        <p:spPr>
          <a:xfrm>
            <a:off x="832104" y="1399032"/>
            <a:ext cx="3044952" cy="310896"/>
          </a:xfrm>
          <a:prstGeom prst="roundRect">
            <a:avLst>
              <a:gd name="adj" fmla="val 38235"/>
            </a:avLst>
          </a:prstGeom>
          <a:solidFill>
            <a:srgbClr val="E4EEFF"/>
          </a:solidFill>
          <a:ln w="12700">
            <a:solidFill>
              <a:srgbClr val="E4EEFF">
                <a:alpha val="0"/>
              </a:srgbClr>
            </a:solidFill>
            <a:prstDash val="solid"/>
          </a:ln>
        </p:spPr>
        <p:txBody>
          <a:bodyPr/>
          <a:lstStyle/>
          <a:p>
            <a:endParaRPr lang="nb-NO"/>
          </a:p>
        </p:txBody>
      </p:sp>
      <p:sp>
        <p:nvSpPr>
          <p:cNvPr id="12" name="Text 10"/>
          <p:cNvSpPr txBox="1"/>
          <p:nvPr/>
        </p:nvSpPr>
        <p:spPr>
          <a:xfrm>
            <a:off x="886968" y="1408176"/>
            <a:ext cx="2935224" cy="292608"/>
          </a:xfrm>
          <a:prstGeom prst="rect">
            <a:avLst/>
          </a:prstGeom>
          <a:noFill/>
          <a:ln/>
        </p:spPr>
        <p:txBody>
          <a:bodyPr wrap="square" lIns="0" tIns="0" rIns="0" bIns="0" rtlCol="0" anchor="ctr">
            <a:normAutofit/>
          </a:bodyPr>
          <a:lstStyle/>
          <a:p>
            <a:pPr marL="0" indent="0" algn="ctr">
              <a:buNone/>
            </a:pPr>
            <a:r>
              <a:rPr lang="en-US" sz="1100" b="1" dirty="0">
                <a:solidFill>
                  <a:srgbClr val="142E53"/>
                </a:solidFill>
                <a:latin typeface="Aptos" pitchFamily="34" charset="0"/>
                <a:ea typeface="Aptos" pitchFamily="34" charset="-122"/>
                <a:cs typeface="Aptos" pitchFamily="34" charset="-120"/>
              </a:rPr>
              <a:t>Planned waypoint route (XY)</a:t>
            </a:r>
            <a:endParaRPr lang="en-US" sz="1100" dirty="0"/>
          </a:p>
        </p:txBody>
      </p:sp>
      <p:sp>
        <p:nvSpPr>
          <p:cNvPr id="13" name="Shape 11"/>
          <p:cNvSpPr/>
          <p:nvPr/>
        </p:nvSpPr>
        <p:spPr>
          <a:xfrm>
            <a:off x="1170432" y="2112264"/>
            <a:ext cx="0" cy="2514600"/>
          </a:xfrm>
          <a:prstGeom prst="line">
            <a:avLst/>
          </a:prstGeom>
          <a:noFill/>
          <a:ln w="6350">
            <a:solidFill>
              <a:srgbClr val="ECF1F6"/>
            </a:solidFill>
            <a:prstDash val="solid"/>
          </a:ln>
        </p:spPr>
        <p:txBody>
          <a:bodyPr/>
          <a:lstStyle/>
          <a:p>
            <a:endParaRPr lang="nb-NO"/>
          </a:p>
        </p:txBody>
      </p:sp>
      <p:sp>
        <p:nvSpPr>
          <p:cNvPr id="14" name="Shape 12"/>
          <p:cNvSpPr/>
          <p:nvPr/>
        </p:nvSpPr>
        <p:spPr>
          <a:xfrm>
            <a:off x="2269488" y="2112264"/>
            <a:ext cx="0" cy="2514600"/>
          </a:xfrm>
          <a:prstGeom prst="line">
            <a:avLst/>
          </a:prstGeom>
          <a:noFill/>
          <a:ln w="6350">
            <a:solidFill>
              <a:srgbClr val="ECF1F6"/>
            </a:solidFill>
            <a:prstDash val="solid"/>
          </a:ln>
        </p:spPr>
        <p:txBody>
          <a:bodyPr/>
          <a:lstStyle/>
          <a:p>
            <a:endParaRPr lang="nb-NO"/>
          </a:p>
        </p:txBody>
      </p:sp>
      <p:sp>
        <p:nvSpPr>
          <p:cNvPr id="15" name="Shape 13"/>
          <p:cNvSpPr/>
          <p:nvPr/>
        </p:nvSpPr>
        <p:spPr>
          <a:xfrm>
            <a:off x="3368543" y="2112264"/>
            <a:ext cx="0" cy="2514600"/>
          </a:xfrm>
          <a:prstGeom prst="line">
            <a:avLst/>
          </a:prstGeom>
          <a:noFill/>
          <a:ln w="6350">
            <a:solidFill>
              <a:srgbClr val="ECF1F6"/>
            </a:solidFill>
            <a:prstDash val="solid"/>
          </a:ln>
        </p:spPr>
        <p:txBody>
          <a:bodyPr/>
          <a:lstStyle/>
          <a:p>
            <a:endParaRPr lang="nb-NO"/>
          </a:p>
        </p:txBody>
      </p:sp>
      <p:sp>
        <p:nvSpPr>
          <p:cNvPr id="16" name="Shape 14"/>
          <p:cNvSpPr/>
          <p:nvPr/>
        </p:nvSpPr>
        <p:spPr>
          <a:xfrm>
            <a:off x="4467599" y="2112264"/>
            <a:ext cx="0" cy="2514600"/>
          </a:xfrm>
          <a:prstGeom prst="line">
            <a:avLst/>
          </a:prstGeom>
          <a:noFill/>
          <a:ln w="6350">
            <a:solidFill>
              <a:srgbClr val="ECF1F6"/>
            </a:solidFill>
            <a:prstDash val="solid"/>
          </a:ln>
        </p:spPr>
        <p:txBody>
          <a:bodyPr/>
          <a:lstStyle/>
          <a:p>
            <a:endParaRPr lang="nb-NO"/>
          </a:p>
        </p:txBody>
      </p:sp>
      <p:sp>
        <p:nvSpPr>
          <p:cNvPr id="17" name="Shape 15"/>
          <p:cNvSpPr/>
          <p:nvPr/>
        </p:nvSpPr>
        <p:spPr>
          <a:xfrm>
            <a:off x="5566654" y="2112264"/>
            <a:ext cx="0" cy="2514600"/>
          </a:xfrm>
          <a:prstGeom prst="line">
            <a:avLst/>
          </a:prstGeom>
          <a:noFill/>
          <a:ln w="6350">
            <a:solidFill>
              <a:srgbClr val="ECF1F6"/>
            </a:solidFill>
            <a:prstDash val="solid"/>
          </a:ln>
        </p:spPr>
        <p:txBody>
          <a:bodyPr/>
          <a:lstStyle/>
          <a:p>
            <a:endParaRPr lang="nb-NO"/>
          </a:p>
        </p:txBody>
      </p:sp>
      <p:sp>
        <p:nvSpPr>
          <p:cNvPr id="18" name="Shape 16"/>
          <p:cNvSpPr/>
          <p:nvPr/>
        </p:nvSpPr>
        <p:spPr>
          <a:xfrm>
            <a:off x="6665710" y="2112264"/>
            <a:ext cx="0" cy="2514600"/>
          </a:xfrm>
          <a:prstGeom prst="line">
            <a:avLst/>
          </a:prstGeom>
          <a:noFill/>
          <a:ln w="6350">
            <a:solidFill>
              <a:srgbClr val="ECF1F6"/>
            </a:solidFill>
            <a:prstDash val="solid"/>
          </a:ln>
        </p:spPr>
        <p:txBody>
          <a:bodyPr/>
          <a:lstStyle/>
          <a:p>
            <a:endParaRPr lang="nb-NO"/>
          </a:p>
        </p:txBody>
      </p:sp>
      <p:sp>
        <p:nvSpPr>
          <p:cNvPr id="19" name="Shape 17"/>
          <p:cNvSpPr/>
          <p:nvPr/>
        </p:nvSpPr>
        <p:spPr>
          <a:xfrm>
            <a:off x="1051560" y="4355940"/>
            <a:ext cx="5861304" cy="0"/>
          </a:xfrm>
          <a:prstGeom prst="line">
            <a:avLst/>
          </a:prstGeom>
          <a:noFill/>
          <a:ln w="6350">
            <a:solidFill>
              <a:srgbClr val="ECF1F6"/>
            </a:solidFill>
            <a:prstDash val="solid"/>
          </a:ln>
        </p:spPr>
        <p:txBody>
          <a:bodyPr/>
          <a:lstStyle/>
          <a:p>
            <a:endParaRPr lang="nb-NO"/>
          </a:p>
        </p:txBody>
      </p:sp>
      <p:sp>
        <p:nvSpPr>
          <p:cNvPr id="20" name="Shape 18"/>
          <p:cNvSpPr/>
          <p:nvPr/>
        </p:nvSpPr>
        <p:spPr>
          <a:xfrm>
            <a:off x="1051560" y="3666221"/>
            <a:ext cx="5861304" cy="0"/>
          </a:xfrm>
          <a:prstGeom prst="line">
            <a:avLst/>
          </a:prstGeom>
          <a:noFill/>
          <a:ln w="6350">
            <a:solidFill>
              <a:srgbClr val="ECF1F6"/>
            </a:solidFill>
            <a:prstDash val="solid"/>
          </a:ln>
        </p:spPr>
        <p:txBody>
          <a:bodyPr/>
          <a:lstStyle/>
          <a:p>
            <a:endParaRPr lang="nb-NO"/>
          </a:p>
        </p:txBody>
      </p:sp>
      <p:sp>
        <p:nvSpPr>
          <p:cNvPr id="21" name="Shape 19"/>
          <p:cNvSpPr/>
          <p:nvPr/>
        </p:nvSpPr>
        <p:spPr>
          <a:xfrm>
            <a:off x="1051560" y="2976503"/>
            <a:ext cx="5861304" cy="0"/>
          </a:xfrm>
          <a:prstGeom prst="line">
            <a:avLst/>
          </a:prstGeom>
          <a:noFill/>
          <a:ln w="6350">
            <a:solidFill>
              <a:srgbClr val="ECF1F6"/>
            </a:solidFill>
            <a:prstDash val="solid"/>
          </a:ln>
        </p:spPr>
        <p:txBody>
          <a:bodyPr/>
          <a:lstStyle/>
          <a:p>
            <a:endParaRPr lang="nb-NO"/>
          </a:p>
        </p:txBody>
      </p:sp>
      <p:sp>
        <p:nvSpPr>
          <p:cNvPr id="22" name="Shape 20"/>
          <p:cNvSpPr/>
          <p:nvPr/>
        </p:nvSpPr>
        <p:spPr>
          <a:xfrm>
            <a:off x="1051560" y="2286784"/>
            <a:ext cx="5861304" cy="0"/>
          </a:xfrm>
          <a:prstGeom prst="line">
            <a:avLst/>
          </a:prstGeom>
          <a:noFill/>
          <a:ln w="6350">
            <a:solidFill>
              <a:srgbClr val="ECF1F6"/>
            </a:solidFill>
            <a:prstDash val="solid"/>
          </a:ln>
        </p:spPr>
        <p:txBody>
          <a:bodyPr/>
          <a:lstStyle/>
          <a:p>
            <a:endParaRPr lang="nb-NO"/>
          </a:p>
        </p:txBody>
      </p:sp>
      <p:sp>
        <p:nvSpPr>
          <p:cNvPr id="23" name="Shape 21"/>
          <p:cNvSpPr/>
          <p:nvPr/>
        </p:nvSpPr>
        <p:spPr>
          <a:xfrm>
            <a:off x="1170432" y="4355940"/>
            <a:ext cx="1648583" cy="0"/>
          </a:xfrm>
          <a:prstGeom prst="line">
            <a:avLst/>
          </a:prstGeom>
          <a:noFill/>
          <a:ln w="50800">
            <a:solidFill>
              <a:srgbClr val="3477EF"/>
            </a:solidFill>
            <a:prstDash val="solid"/>
          </a:ln>
        </p:spPr>
        <p:txBody>
          <a:bodyPr/>
          <a:lstStyle/>
          <a:p>
            <a:endParaRPr lang="nb-NO"/>
          </a:p>
        </p:txBody>
      </p:sp>
      <p:sp>
        <p:nvSpPr>
          <p:cNvPr id="24" name="Shape 22"/>
          <p:cNvSpPr/>
          <p:nvPr/>
        </p:nvSpPr>
        <p:spPr>
          <a:xfrm>
            <a:off x="2819015" y="4355940"/>
            <a:ext cx="0" cy="0"/>
          </a:xfrm>
          <a:prstGeom prst="line">
            <a:avLst/>
          </a:prstGeom>
          <a:noFill/>
          <a:ln w="50800">
            <a:solidFill>
              <a:srgbClr val="3477EF"/>
            </a:solidFill>
            <a:prstDash val="solid"/>
          </a:ln>
        </p:spPr>
        <p:txBody>
          <a:bodyPr/>
          <a:lstStyle/>
          <a:p>
            <a:endParaRPr lang="nb-NO"/>
          </a:p>
        </p:txBody>
      </p:sp>
      <p:sp>
        <p:nvSpPr>
          <p:cNvPr id="25" name="Shape 23"/>
          <p:cNvSpPr/>
          <p:nvPr/>
        </p:nvSpPr>
        <p:spPr>
          <a:xfrm>
            <a:off x="2819015" y="2424728"/>
            <a:ext cx="3297167" cy="0"/>
          </a:xfrm>
          <a:prstGeom prst="line">
            <a:avLst/>
          </a:prstGeom>
          <a:noFill/>
          <a:ln w="50800">
            <a:solidFill>
              <a:srgbClr val="3477EF"/>
            </a:solidFill>
            <a:prstDash val="solid"/>
          </a:ln>
        </p:spPr>
        <p:txBody>
          <a:bodyPr/>
          <a:lstStyle/>
          <a:p>
            <a:endParaRPr lang="nb-NO"/>
          </a:p>
        </p:txBody>
      </p:sp>
      <p:sp>
        <p:nvSpPr>
          <p:cNvPr id="26" name="Shape 24"/>
          <p:cNvSpPr/>
          <p:nvPr/>
        </p:nvSpPr>
        <p:spPr>
          <a:xfrm>
            <a:off x="6116182" y="2424728"/>
            <a:ext cx="0" cy="1931213"/>
          </a:xfrm>
          <a:prstGeom prst="line">
            <a:avLst/>
          </a:prstGeom>
          <a:noFill/>
          <a:ln w="50800">
            <a:solidFill>
              <a:srgbClr val="3477EF"/>
            </a:solidFill>
            <a:prstDash val="solid"/>
          </a:ln>
        </p:spPr>
        <p:txBody>
          <a:bodyPr/>
          <a:lstStyle/>
          <a:p>
            <a:endParaRPr lang="nb-NO"/>
          </a:p>
        </p:txBody>
      </p:sp>
      <p:sp>
        <p:nvSpPr>
          <p:cNvPr id="27" name="Shape 25"/>
          <p:cNvSpPr/>
          <p:nvPr/>
        </p:nvSpPr>
        <p:spPr>
          <a:xfrm>
            <a:off x="6116182" y="4355940"/>
            <a:ext cx="714386" cy="0"/>
          </a:xfrm>
          <a:prstGeom prst="line">
            <a:avLst/>
          </a:prstGeom>
          <a:noFill/>
          <a:ln w="50800">
            <a:solidFill>
              <a:srgbClr val="3477EF"/>
            </a:solidFill>
            <a:prstDash val="solid"/>
          </a:ln>
        </p:spPr>
        <p:txBody>
          <a:bodyPr/>
          <a:lstStyle/>
          <a:p>
            <a:endParaRPr lang="nb-NO"/>
          </a:p>
        </p:txBody>
      </p:sp>
      <p:sp>
        <p:nvSpPr>
          <p:cNvPr id="28" name="Shape 26"/>
          <p:cNvSpPr/>
          <p:nvPr/>
        </p:nvSpPr>
        <p:spPr>
          <a:xfrm>
            <a:off x="1083564" y="4269072"/>
            <a:ext cx="173736" cy="173736"/>
          </a:xfrm>
          <a:prstGeom prst="ellipse">
            <a:avLst/>
          </a:prstGeom>
          <a:solidFill>
            <a:srgbClr val="15A68C"/>
          </a:solidFill>
          <a:ln w="12700">
            <a:solidFill>
              <a:srgbClr val="15A68C">
                <a:alpha val="0"/>
              </a:srgbClr>
            </a:solidFill>
            <a:prstDash val="solid"/>
          </a:ln>
        </p:spPr>
        <p:txBody>
          <a:bodyPr/>
          <a:lstStyle/>
          <a:p>
            <a:endParaRPr lang="nb-NO"/>
          </a:p>
        </p:txBody>
      </p:sp>
      <p:sp>
        <p:nvSpPr>
          <p:cNvPr id="29" name="Text 27"/>
          <p:cNvSpPr txBox="1"/>
          <p:nvPr/>
        </p:nvSpPr>
        <p:spPr>
          <a:xfrm>
            <a:off x="841248" y="4483956"/>
            <a:ext cx="685800" cy="21031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Start</a:t>
            </a:r>
            <a:endParaRPr lang="en-US" sz="1000" dirty="0"/>
          </a:p>
        </p:txBody>
      </p:sp>
      <p:sp>
        <p:nvSpPr>
          <p:cNvPr id="30" name="Shape 28"/>
          <p:cNvSpPr/>
          <p:nvPr/>
        </p:nvSpPr>
        <p:spPr>
          <a:xfrm>
            <a:off x="2732147" y="4269072"/>
            <a:ext cx="173736" cy="173736"/>
          </a:xfrm>
          <a:prstGeom prst="ellipse">
            <a:avLst/>
          </a:prstGeom>
          <a:solidFill>
            <a:srgbClr val="3477EF"/>
          </a:solidFill>
          <a:ln w="12700">
            <a:solidFill>
              <a:srgbClr val="3477EF">
                <a:alpha val="0"/>
              </a:srgbClr>
            </a:solidFill>
            <a:prstDash val="solid"/>
          </a:ln>
        </p:spPr>
        <p:txBody>
          <a:bodyPr/>
          <a:lstStyle/>
          <a:p>
            <a:endParaRPr lang="nb-NO"/>
          </a:p>
        </p:txBody>
      </p:sp>
      <p:sp>
        <p:nvSpPr>
          <p:cNvPr id="31" name="Text 29"/>
          <p:cNvSpPr txBox="1"/>
          <p:nvPr/>
        </p:nvSpPr>
        <p:spPr>
          <a:xfrm>
            <a:off x="2489831" y="4483956"/>
            <a:ext cx="685800" cy="21031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1</a:t>
            </a:r>
            <a:endParaRPr lang="en-US" sz="1000" dirty="0"/>
          </a:p>
        </p:txBody>
      </p:sp>
      <p:sp>
        <p:nvSpPr>
          <p:cNvPr id="32" name="Shape 30"/>
          <p:cNvSpPr/>
          <p:nvPr/>
        </p:nvSpPr>
        <p:spPr>
          <a:xfrm>
            <a:off x="2732147" y="2337860"/>
            <a:ext cx="173736" cy="173736"/>
          </a:xfrm>
          <a:prstGeom prst="ellipse">
            <a:avLst/>
          </a:prstGeom>
          <a:solidFill>
            <a:srgbClr val="3477EF"/>
          </a:solidFill>
          <a:ln w="12700">
            <a:solidFill>
              <a:srgbClr val="3477EF">
                <a:alpha val="0"/>
              </a:srgbClr>
            </a:solidFill>
            <a:prstDash val="solid"/>
          </a:ln>
        </p:spPr>
        <p:txBody>
          <a:bodyPr/>
          <a:lstStyle/>
          <a:p>
            <a:endParaRPr lang="nb-NO"/>
          </a:p>
        </p:txBody>
      </p:sp>
      <p:sp>
        <p:nvSpPr>
          <p:cNvPr id="33" name="Text 31"/>
          <p:cNvSpPr txBox="1"/>
          <p:nvPr/>
        </p:nvSpPr>
        <p:spPr>
          <a:xfrm>
            <a:off x="2489831" y="2058968"/>
            <a:ext cx="685800" cy="21031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2</a:t>
            </a:r>
            <a:endParaRPr lang="en-US" sz="1000" dirty="0"/>
          </a:p>
        </p:txBody>
      </p:sp>
      <p:sp>
        <p:nvSpPr>
          <p:cNvPr id="34" name="Shape 32"/>
          <p:cNvSpPr/>
          <p:nvPr/>
        </p:nvSpPr>
        <p:spPr>
          <a:xfrm>
            <a:off x="6029314" y="2337860"/>
            <a:ext cx="173736" cy="173736"/>
          </a:xfrm>
          <a:prstGeom prst="ellipse">
            <a:avLst/>
          </a:prstGeom>
          <a:solidFill>
            <a:srgbClr val="3477EF"/>
          </a:solidFill>
          <a:ln w="12700">
            <a:solidFill>
              <a:srgbClr val="3477EF">
                <a:alpha val="0"/>
              </a:srgbClr>
            </a:solidFill>
            <a:prstDash val="solid"/>
          </a:ln>
        </p:spPr>
        <p:txBody>
          <a:bodyPr/>
          <a:lstStyle/>
          <a:p>
            <a:endParaRPr lang="nb-NO"/>
          </a:p>
        </p:txBody>
      </p:sp>
      <p:sp>
        <p:nvSpPr>
          <p:cNvPr id="35" name="Text 33"/>
          <p:cNvSpPr txBox="1"/>
          <p:nvPr/>
        </p:nvSpPr>
        <p:spPr>
          <a:xfrm>
            <a:off x="5786998" y="2058968"/>
            <a:ext cx="685800" cy="21031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3</a:t>
            </a:r>
            <a:endParaRPr lang="en-US" sz="1000" dirty="0"/>
          </a:p>
        </p:txBody>
      </p:sp>
      <p:sp>
        <p:nvSpPr>
          <p:cNvPr id="36" name="Shape 34"/>
          <p:cNvSpPr/>
          <p:nvPr/>
        </p:nvSpPr>
        <p:spPr>
          <a:xfrm>
            <a:off x="6029314" y="4269072"/>
            <a:ext cx="173736" cy="173736"/>
          </a:xfrm>
          <a:prstGeom prst="ellipse">
            <a:avLst/>
          </a:prstGeom>
          <a:solidFill>
            <a:srgbClr val="3477EF"/>
          </a:solidFill>
          <a:ln w="12700">
            <a:solidFill>
              <a:srgbClr val="3477EF">
                <a:alpha val="0"/>
              </a:srgbClr>
            </a:solidFill>
            <a:prstDash val="solid"/>
          </a:ln>
        </p:spPr>
        <p:txBody>
          <a:bodyPr/>
          <a:lstStyle/>
          <a:p>
            <a:endParaRPr lang="nb-NO"/>
          </a:p>
        </p:txBody>
      </p:sp>
      <p:sp>
        <p:nvSpPr>
          <p:cNvPr id="37" name="Text 35"/>
          <p:cNvSpPr txBox="1"/>
          <p:nvPr/>
        </p:nvSpPr>
        <p:spPr>
          <a:xfrm>
            <a:off x="5786998" y="4483956"/>
            <a:ext cx="685800" cy="21031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4</a:t>
            </a:r>
            <a:endParaRPr lang="en-US" sz="1000" dirty="0"/>
          </a:p>
        </p:txBody>
      </p:sp>
      <p:sp>
        <p:nvSpPr>
          <p:cNvPr id="38" name="Shape 36"/>
          <p:cNvSpPr/>
          <p:nvPr/>
        </p:nvSpPr>
        <p:spPr>
          <a:xfrm>
            <a:off x="6743700" y="4269072"/>
            <a:ext cx="173736" cy="173736"/>
          </a:xfrm>
          <a:prstGeom prst="ellipse">
            <a:avLst/>
          </a:prstGeom>
          <a:solidFill>
            <a:srgbClr val="DC5791"/>
          </a:solidFill>
          <a:ln w="12700">
            <a:solidFill>
              <a:srgbClr val="DC5791">
                <a:alpha val="0"/>
              </a:srgbClr>
            </a:solidFill>
            <a:prstDash val="solid"/>
          </a:ln>
        </p:spPr>
        <p:txBody>
          <a:bodyPr/>
          <a:lstStyle/>
          <a:p>
            <a:endParaRPr lang="nb-NO"/>
          </a:p>
        </p:txBody>
      </p:sp>
      <p:sp>
        <p:nvSpPr>
          <p:cNvPr id="39" name="Text 37"/>
          <p:cNvSpPr txBox="1"/>
          <p:nvPr/>
        </p:nvSpPr>
        <p:spPr>
          <a:xfrm>
            <a:off x="6501384" y="4483956"/>
            <a:ext cx="685800" cy="210312"/>
          </a:xfrm>
          <a:prstGeom prst="rect">
            <a:avLst/>
          </a:prstGeom>
          <a:noFill/>
          <a:ln/>
        </p:spPr>
        <p:txBody>
          <a:bodyPr wrap="square" lIns="0" tIns="0" rIns="0" bIns="0" rtlCol="0" anchor="ctr">
            <a:normAutofit/>
          </a:bodyPr>
          <a:lstStyle/>
          <a:p>
            <a:pPr marL="0" indent="0" algn="ctr">
              <a:buNone/>
            </a:pPr>
            <a:r>
              <a:rPr lang="en-US" sz="1000" b="1" dirty="0">
                <a:solidFill>
                  <a:srgbClr val="142E53"/>
                </a:solidFill>
                <a:latin typeface="Aptos" pitchFamily="34" charset="0"/>
                <a:ea typeface="Aptos" pitchFamily="34" charset="-122"/>
                <a:cs typeface="Aptos" pitchFamily="34" charset="-120"/>
              </a:rPr>
              <a:t>Goal</a:t>
            </a:r>
            <a:endParaRPr lang="en-US" sz="1000" dirty="0"/>
          </a:p>
        </p:txBody>
      </p:sp>
      <p:sp>
        <p:nvSpPr>
          <p:cNvPr id="40" name="Text 38"/>
          <p:cNvSpPr txBox="1"/>
          <p:nvPr/>
        </p:nvSpPr>
        <p:spPr>
          <a:xfrm>
            <a:off x="1042416" y="4745736"/>
            <a:ext cx="5934456" cy="182880"/>
          </a:xfrm>
          <a:prstGeom prst="rect">
            <a:avLst/>
          </a:prstGeom>
          <a:noFill/>
          <a:ln/>
        </p:spPr>
        <p:txBody>
          <a:bodyPr wrap="square" lIns="0" tIns="0" rIns="0" bIns="0" rtlCol="0" anchor="ctr">
            <a:normAutofit/>
          </a:bodyPr>
          <a:lstStyle/>
          <a:p>
            <a:pPr marL="0" indent="0" algn="ctr">
              <a:buNone/>
            </a:pPr>
            <a:r>
              <a:rPr lang="en-US" sz="940" dirty="0">
                <a:solidFill>
                  <a:srgbClr val="58687C"/>
                </a:solidFill>
                <a:latin typeface="Aptos" pitchFamily="34" charset="0"/>
                <a:ea typeface="Aptos" pitchFamily="34" charset="-122"/>
                <a:cs typeface="Aptos" pitchFamily="34" charset="-120"/>
              </a:rPr>
              <a:t>Known 5-waypoint route from (−3.0, 0) to (2.15, 0); camera logged, not used for goal detection.</a:t>
            </a:r>
            <a:endParaRPr lang="en-US" sz="940" dirty="0"/>
          </a:p>
        </p:txBody>
      </p:sp>
      <p:sp>
        <p:nvSpPr>
          <p:cNvPr id="41" name="Shape 39"/>
          <p:cNvSpPr/>
          <p:nvPr/>
        </p:nvSpPr>
        <p:spPr>
          <a:xfrm>
            <a:off x="7498080" y="1216152"/>
            <a:ext cx="4041648" cy="3822192"/>
          </a:xfrm>
          <a:prstGeom prst="roundRect">
            <a:avLst>
              <a:gd name="adj" fmla="val 3110"/>
            </a:avLst>
          </a:prstGeom>
          <a:solidFill>
            <a:srgbClr val="EFE8FA"/>
          </a:solidFill>
          <a:ln w="12700">
            <a:solidFill>
              <a:srgbClr val="EFE8FA">
                <a:alpha val="0"/>
              </a:srgbClr>
            </a:solidFill>
            <a:prstDash val="solid"/>
          </a:ln>
        </p:spPr>
        <p:txBody>
          <a:bodyPr/>
          <a:lstStyle/>
          <a:p>
            <a:endParaRPr lang="nb-NO"/>
          </a:p>
        </p:txBody>
      </p:sp>
      <p:sp>
        <p:nvSpPr>
          <p:cNvPr id="42" name="Shape 40"/>
          <p:cNvSpPr/>
          <p:nvPr/>
        </p:nvSpPr>
        <p:spPr>
          <a:xfrm>
            <a:off x="7717536" y="1426464"/>
            <a:ext cx="3602736" cy="566928"/>
          </a:xfrm>
          <a:prstGeom prst="roundRect">
            <a:avLst>
              <a:gd name="adj" fmla="val 20968"/>
            </a:avLst>
          </a:prstGeom>
          <a:solidFill>
            <a:srgbClr val="FFFFFF"/>
          </a:solidFill>
          <a:ln w="12700">
            <a:solidFill>
              <a:srgbClr val="FFFFFF">
                <a:alpha val="0"/>
              </a:srgbClr>
            </a:solidFill>
            <a:prstDash val="solid"/>
          </a:ln>
        </p:spPr>
        <p:txBody>
          <a:bodyPr/>
          <a:lstStyle/>
          <a:p>
            <a:endParaRPr lang="nb-NO"/>
          </a:p>
        </p:txBody>
      </p:sp>
      <p:sp>
        <p:nvSpPr>
          <p:cNvPr id="43" name="Shape 41"/>
          <p:cNvSpPr/>
          <p:nvPr/>
        </p:nvSpPr>
        <p:spPr>
          <a:xfrm>
            <a:off x="7854696" y="1563624"/>
            <a:ext cx="283464" cy="283464"/>
          </a:xfrm>
          <a:prstGeom prst="ellipse">
            <a:avLst/>
          </a:prstGeom>
          <a:solidFill>
            <a:srgbClr val="9B73C8"/>
          </a:solidFill>
          <a:ln w="12700">
            <a:solidFill>
              <a:srgbClr val="9B73C8">
                <a:alpha val="0"/>
              </a:srgbClr>
            </a:solidFill>
            <a:prstDash val="solid"/>
          </a:ln>
        </p:spPr>
        <p:txBody>
          <a:bodyPr/>
          <a:lstStyle/>
          <a:p>
            <a:endParaRPr lang="nb-NO"/>
          </a:p>
        </p:txBody>
      </p:sp>
      <p:sp>
        <p:nvSpPr>
          <p:cNvPr id="44" name="Text 42"/>
          <p:cNvSpPr txBox="1"/>
          <p:nvPr/>
        </p:nvSpPr>
        <p:spPr>
          <a:xfrm>
            <a:off x="7854696" y="1563624"/>
            <a:ext cx="283464" cy="27432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45" name="Text 43"/>
          <p:cNvSpPr txBox="1"/>
          <p:nvPr/>
        </p:nvSpPr>
        <p:spPr>
          <a:xfrm>
            <a:off x="8247888" y="1481328"/>
            <a:ext cx="2871216" cy="228600"/>
          </a:xfrm>
          <a:prstGeom prst="rect">
            <a:avLst/>
          </a:prstGeom>
          <a:noFill/>
          <a:ln/>
        </p:spPr>
        <p:txBody>
          <a:bodyPr wrap="square" lIns="0" tIns="0" rIns="0" bIns="0" rtlCol="0" anchor="ctr">
            <a:normAutofit/>
          </a:bodyPr>
          <a:lstStyle/>
          <a:p>
            <a:pPr marL="0" indent="0" algn="l">
              <a:buNone/>
            </a:pPr>
            <a:r>
              <a:rPr lang="en-US" sz="1140" b="1" dirty="0">
                <a:solidFill>
                  <a:srgbClr val="142E53"/>
                </a:solidFill>
                <a:latin typeface="Aptos" pitchFamily="34" charset="0"/>
                <a:ea typeface="Aptos" pitchFamily="34" charset="-122"/>
                <a:cs typeface="Aptos" pitchFamily="34" charset="-120"/>
              </a:rPr>
              <a:t>GPS + encoders</a:t>
            </a:r>
            <a:endParaRPr lang="en-US" sz="1140" dirty="0"/>
          </a:p>
        </p:txBody>
      </p:sp>
      <p:sp>
        <p:nvSpPr>
          <p:cNvPr id="46" name="Text 44"/>
          <p:cNvSpPr txBox="1"/>
          <p:nvPr/>
        </p:nvSpPr>
        <p:spPr>
          <a:xfrm>
            <a:off x="8247888" y="1737360"/>
            <a:ext cx="2889504" cy="164592"/>
          </a:xfrm>
          <a:prstGeom prst="rect">
            <a:avLst/>
          </a:prstGeom>
          <a:noFill/>
          <a:ln/>
        </p:spPr>
        <p:txBody>
          <a:bodyPr wrap="square" lIns="0" tIns="0" rIns="0" bIns="0" rtlCol="0" anchor="ctr">
            <a:normAutofit/>
          </a:bodyPr>
          <a:lstStyle/>
          <a:p>
            <a:pPr marL="0" indent="0" algn="l">
              <a:buNone/>
            </a:pPr>
            <a:r>
              <a:rPr lang="en-US" sz="940" dirty="0">
                <a:solidFill>
                  <a:srgbClr val="58687C"/>
                </a:solidFill>
                <a:latin typeface="Aptos" pitchFamily="34" charset="0"/>
                <a:ea typeface="Aptos" pitchFamily="34" charset="-122"/>
                <a:cs typeface="Aptos" pitchFamily="34" charset="-120"/>
              </a:rPr>
              <a:t>Estimate position and wheel motion</a:t>
            </a:r>
            <a:endParaRPr lang="en-US" sz="940" dirty="0"/>
          </a:p>
        </p:txBody>
      </p:sp>
      <p:sp>
        <p:nvSpPr>
          <p:cNvPr id="47" name="Shape 45"/>
          <p:cNvSpPr/>
          <p:nvPr/>
        </p:nvSpPr>
        <p:spPr>
          <a:xfrm>
            <a:off x="7717536" y="2093976"/>
            <a:ext cx="3602736" cy="566928"/>
          </a:xfrm>
          <a:prstGeom prst="roundRect">
            <a:avLst>
              <a:gd name="adj" fmla="val 20968"/>
            </a:avLst>
          </a:prstGeom>
          <a:solidFill>
            <a:srgbClr val="FFFFFF"/>
          </a:solidFill>
          <a:ln w="12700">
            <a:solidFill>
              <a:srgbClr val="FFFFFF">
                <a:alpha val="0"/>
              </a:srgbClr>
            </a:solidFill>
            <a:prstDash val="solid"/>
          </a:ln>
        </p:spPr>
        <p:txBody>
          <a:bodyPr/>
          <a:lstStyle/>
          <a:p>
            <a:endParaRPr lang="nb-NO"/>
          </a:p>
        </p:txBody>
      </p:sp>
      <p:sp>
        <p:nvSpPr>
          <p:cNvPr id="48" name="Shape 46"/>
          <p:cNvSpPr/>
          <p:nvPr/>
        </p:nvSpPr>
        <p:spPr>
          <a:xfrm>
            <a:off x="7854696" y="2231136"/>
            <a:ext cx="283464" cy="283464"/>
          </a:xfrm>
          <a:prstGeom prst="ellipse">
            <a:avLst/>
          </a:prstGeom>
          <a:solidFill>
            <a:srgbClr val="9B73C8"/>
          </a:solidFill>
          <a:ln w="12700">
            <a:solidFill>
              <a:srgbClr val="9B73C8">
                <a:alpha val="0"/>
              </a:srgbClr>
            </a:solidFill>
            <a:prstDash val="solid"/>
          </a:ln>
        </p:spPr>
        <p:txBody>
          <a:bodyPr/>
          <a:lstStyle/>
          <a:p>
            <a:endParaRPr lang="nb-NO"/>
          </a:p>
        </p:txBody>
      </p:sp>
      <p:sp>
        <p:nvSpPr>
          <p:cNvPr id="49" name="Text 47"/>
          <p:cNvSpPr txBox="1"/>
          <p:nvPr/>
        </p:nvSpPr>
        <p:spPr>
          <a:xfrm>
            <a:off x="7854696" y="2231136"/>
            <a:ext cx="283464" cy="27432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50" name="Text 48"/>
          <p:cNvSpPr txBox="1"/>
          <p:nvPr/>
        </p:nvSpPr>
        <p:spPr>
          <a:xfrm>
            <a:off x="8247888" y="2148840"/>
            <a:ext cx="2871216" cy="228600"/>
          </a:xfrm>
          <a:prstGeom prst="rect">
            <a:avLst/>
          </a:prstGeom>
          <a:noFill/>
          <a:ln/>
        </p:spPr>
        <p:txBody>
          <a:bodyPr wrap="square" lIns="0" tIns="0" rIns="0" bIns="0" rtlCol="0" anchor="ctr">
            <a:normAutofit/>
          </a:bodyPr>
          <a:lstStyle/>
          <a:p>
            <a:pPr marL="0" indent="0" algn="l">
              <a:buNone/>
            </a:pPr>
            <a:r>
              <a:rPr lang="en-US" sz="1140" b="1" dirty="0">
                <a:solidFill>
                  <a:srgbClr val="142E53"/>
                </a:solidFill>
                <a:latin typeface="Aptos" pitchFamily="34" charset="0"/>
                <a:ea typeface="Aptos" pitchFamily="34" charset="-122"/>
                <a:cs typeface="Aptos" pitchFamily="34" charset="-120"/>
              </a:rPr>
              <a:t>Waypoint heading</a:t>
            </a:r>
            <a:endParaRPr lang="en-US" sz="1140" dirty="0"/>
          </a:p>
        </p:txBody>
      </p:sp>
      <p:sp>
        <p:nvSpPr>
          <p:cNvPr id="51" name="Text 49"/>
          <p:cNvSpPr txBox="1"/>
          <p:nvPr/>
        </p:nvSpPr>
        <p:spPr>
          <a:xfrm>
            <a:off x="8247888" y="2404872"/>
            <a:ext cx="2889504" cy="164592"/>
          </a:xfrm>
          <a:prstGeom prst="rect">
            <a:avLst/>
          </a:prstGeom>
          <a:noFill/>
          <a:ln/>
        </p:spPr>
        <p:txBody>
          <a:bodyPr wrap="square" lIns="0" tIns="0" rIns="0" bIns="0" rtlCol="0" anchor="ctr">
            <a:normAutofit/>
          </a:bodyPr>
          <a:lstStyle/>
          <a:p>
            <a:pPr marL="0" indent="0" algn="l">
              <a:buNone/>
            </a:pPr>
            <a:r>
              <a:rPr lang="en-US" sz="940" dirty="0">
                <a:solidFill>
                  <a:srgbClr val="58687C"/>
                </a:solidFill>
                <a:latin typeface="Aptos" pitchFamily="34" charset="0"/>
                <a:ea typeface="Aptos" pitchFamily="34" charset="-122"/>
                <a:cs typeface="Aptos" pitchFamily="34" charset="-120"/>
              </a:rPr>
              <a:t>Compute target angle and speed</a:t>
            </a:r>
            <a:endParaRPr lang="en-US" sz="940" dirty="0"/>
          </a:p>
        </p:txBody>
      </p:sp>
      <p:sp>
        <p:nvSpPr>
          <p:cNvPr id="52" name="Shape 50"/>
          <p:cNvSpPr/>
          <p:nvPr/>
        </p:nvSpPr>
        <p:spPr>
          <a:xfrm>
            <a:off x="7717536" y="2761488"/>
            <a:ext cx="3602736" cy="566928"/>
          </a:xfrm>
          <a:prstGeom prst="roundRect">
            <a:avLst>
              <a:gd name="adj" fmla="val 20968"/>
            </a:avLst>
          </a:prstGeom>
          <a:solidFill>
            <a:srgbClr val="FFFFFF"/>
          </a:solidFill>
          <a:ln w="12700">
            <a:solidFill>
              <a:srgbClr val="FFFFFF">
                <a:alpha val="0"/>
              </a:srgbClr>
            </a:solidFill>
            <a:prstDash val="solid"/>
          </a:ln>
        </p:spPr>
        <p:txBody>
          <a:bodyPr/>
          <a:lstStyle/>
          <a:p>
            <a:endParaRPr lang="nb-NO"/>
          </a:p>
        </p:txBody>
      </p:sp>
      <p:sp>
        <p:nvSpPr>
          <p:cNvPr id="53" name="Shape 51"/>
          <p:cNvSpPr/>
          <p:nvPr/>
        </p:nvSpPr>
        <p:spPr>
          <a:xfrm>
            <a:off x="7854696" y="2898648"/>
            <a:ext cx="283464" cy="283464"/>
          </a:xfrm>
          <a:prstGeom prst="ellipse">
            <a:avLst/>
          </a:prstGeom>
          <a:solidFill>
            <a:srgbClr val="9B73C8"/>
          </a:solidFill>
          <a:ln w="12700">
            <a:solidFill>
              <a:srgbClr val="9B73C8">
                <a:alpha val="0"/>
              </a:srgbClr>
            </a:solidFill>
            <a:prstDash val="solid"/>
          </a:ln>
        </p:spPr>
        <p:txBody>
          <a:bodyPr/>
          <a:lstStyle/>
          <a:p>
            <a:endParaRPr lang="nb-NO"/>
          </a:p>
        </p:txBody>
      </p:sp>
      <p:sp>
        <p:nvSpPr>
          <p:cNvPr id="54" name="Text 52"/>
          <p:cNvSpPr txBox="1"/>
          <p:nvPr/>
        </p:nvSpPr>
        <p:spPr>
          <a:xfrm>
            <a:off x="7854696" y="2898648"/>
            <a:ext cx="283464" cy="27432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55" name="Text 53"/>
          <p:cNvSpPr txBox="1"/>
          <p:nvPr/>
        </p:nvSpPr>
        <p:spPr>
          <a:xfrm>
            <a:off x="8247888" y="2816352"/>
            <a:ext cx="2871216" cy="228600"/>
          </a:xfrm>
          <a:prstGeom prst="rect">
            <a:avLst/>
          </a:prstGeom>
          <a:noFill/>
          <a:ln/>
        </p:spPr>
        <p:txBody>
          <a:bodyPr wrap="square" lIns="0" tIns="0" rIns="0" bIns="0" rtlCol="0" anchor="ctr">
            <a:normAutofit/>
          </a:bodyPr>
          <a:lstStyle/>
          <a:p>
            <a:pPr marL="0" indent="0" algn="l">
              <a:buNone/>
            </a:pPr>
            <a:r>
              <a:rPr lang="en-US" sz="1140" b="1" dirty="0">
                <a:solidFill>
                  <a:srgbClr val="142E53"/>
                </a:solidFill>
                <a:latin typeface="Aptos" pitchFamily="34" charset="0"/>
                <a:ea typeface="Aptos" pitchFamily="34" charset="-122"/>
                <a:cs typeface="Aptos" pitchFamily="34" charset="-120"/>
              </a:rPr>
              <a:t>LiDAR obstacle check</a:t>
            </a:r>
            <a:endParaRPr lang="en-US" sz="1140" dirty="0"/>
          </a:p>
        </p:txBody>
      </p:sp>
      <p:sp>
        <p:nvSpPr>
          <p:cNvPr id="56" name="Text 54"/>
          <p:cNvSpPr txBox="1"/>
          <p:nvPr/>
        </p:nvSpPr>
        <p:spPr>
          <a:xfrm>
            <a:off x="8247888" y="3072384"/>
            <a:ext cx="2889504" cy="164592"/>
          </a:xfrm>
          <a:prstGeom prst="rect">
            <a:avLst/>
          </a:prstGeom>
          <a:noFill/>
          <a:ln/>
        </p:spPr>
        <p:txBody>
          <a:bodyPr wrap="square" lIns="0" tIns="0" rIns="0" bIns="0" rtlCol="0" anchor="ctr">
            <a:normAutofit/>
          </a:bodyPr>
          <a:lstStyle/>
          <a:p>
            <a:pPr marL="0" indent="0" algn="l">
              <a:buNone/>
            </a:pPr>
            <a:r>
              <a:rPr lang="en-US" sz="940" dirty="0">
                <a:solidFill>
                  <a:srgbClr val="58687C"/>
                </a:solidFill>
                <a:latin typeface="Aptos" pitchFamily="34" charset="0"/>
                <a:ea typeface="Aptos" pitchFamily="34" charset="-122"/>
                <a:cs typeface="Aptos" pitchFamily="34" charset="-120"/>
              </a:rPr>
              <a:t>Turn if front range &lt; 0.65 m</a:t>
            </a:r>
            <a:endParaRPr lang="en-US" sz="940" dirty="0"/>
          </a:p>
        </p:txBody>
      </p:sp>
      <p:sp>
        <p:nvSpPr>
          <p:cNvPr id="57" name="Shape 55"/>
          <p:cNvSpPr/>
          <p:nvPr/>
        </p:nvSpPr>
        <p:spPr>
          <a:xfrm>
            <a:off x="7717536" y="3429000"/>
            <a:ext cx="3602736" cy="566928"/>
          </a:xfrm>
          <a:prstGeom prst="roundRect">
            <a:avLst>
              <a:gd name="adj" fmla="val 20968"/>
            </a:avLst>
          </a:prstGeom>
          <a:solidFill>
            <a:srgbClr val="FFFFFF"/>
          </a:solidFill>
          <a:ln w="12700">
            <a:solidFill>
              <a:srgbClr val="FFFFFF">
                <a:alpha val="0"/>
              </a:srgbClr>
            </a:solidFill>
            <a:prstDash val="solid"/>
          </a:ln>
        </p:spPr>
        <p:txBody>
          <a:bodyPr/>
          <a:lstStyle/>
          <a:p>
            <a:endParaRPr lang="nb-NO"/>
          </a:p>
        </p:txBody>
      </p:sp>
      <p:sp>
        <p:nvSpPr>
          <p:cNvPr id="58" name="Shape 56"/>
          <p:cNvSpPr/>
          <p:nvPr/>
        </p:nvSpPr>
        <p:spPr>
          <a:xfrm>
            <a:off x="7854696" y="3566160"/>
            <a:ext cx="283464" cy="283464"/>
          </a:xfrm>
          <a:prstGeom prst="ellipse">
            <a:avLst/>
          </a:prstGeom>
          <a:solidFill>
            <a:srgbClr val="9B73C8"/>
          </a:solidFill>
          <a:ln w="12700">
            <a:solidFill>
              <a:srgbClr val="9B73C8">
                <a:alpha val="0"/>
              </a:srgbClr>
            </a:solidFill>
            <a:prstDash val="solid"/>
          </a:ln>
        </p:spPr>
        <p:txBody>
          <a:bodyPr/>
          <a:lstStyle/>
          <a:p>
            <a:endParaRPr lang="nb-NO"/>
          </a:p>
        </p:txBody>
      </p:sp>
      <p:sp>
        <p:nvSpPr>
          <p:cNvPr id="59" name="Text 57"/>
          <p:cNvSpPr txBox="1"/>
          <p:nvPr/>
        </p:nvSpPr>
        <p:spPr>
          <a:xfrm>
            <a:off x="7854696" y="3566160"/>
            <a:ext cx="283464" cy="27432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60" name="Text 58"/>
          <p:cNvSpPr txBox="1"/>
          <p:nvPr/>
        </p:nvSpPr>
        <p:spPr>
          <a:xfrm>
            <a:off x="8247888" y="3483864"/>
            <a:ext cx="2871216" cy="228600"/>
          </a:xfrm>
          <a:prstGeom prst="rect">
            <a:avLst/>
          </a:prstGeom>
          <a:noFill/>
          <a:ln/>
        </p:spPr>
        <p:txBody>
          <a:bodyPr wrap="square" lIns="0" tIns="0" rIns="0" bIns="0" rtlCol="0" anchor="ctr">
            <a:normAutofit/>
          </a:bodyPr>
          <a:lstStyle/>
          <a:p>
            <a:pPr marL="0" indent="0" algn="l">
              <a:buNone/>
            </a:pPr>
            <a:r>
              <a:rPr lang="en-US" sz="1140" b="1" dirty="0">
                <a:solidFill>
                  <a:srgbClr val="142E53"/>
                </a:solidFill>
                <a:latin typeface="Aptos" pitchFamily="34" charset="0"/>
                <a:ea typeface="Aptos" pitchFamily="34" charset="-122"/>
                <a:cs typeface="Aptos" pitchFamily="34" charset="-120"/>
              </a:rPr>
              <a:t>Motor commands</a:t>
            </a:r>
            <a:endParaRPr lang="en-US" sz="1140" dirty="0"/>
          </a:p>
        </p:txBody>
      </p:sp>
      <p:sp>
        <p:nvSpPr>
          <p:cNvPr id="61" name="Text 59"/>
          <p:cNvSpPr txBox="1"/>
          <p:nvPr/>
        </p:nvSpPr>
        <p:spPr>
          <a:xfrm>
            <a:off x="8247888" y="3739896"/>
            <a:ext cx="2889504" cy="164592"/>
          </a:xfrm>
          <a:prstGeom prst="rect">
            <a:avLst/>
          </a:prstGeom>
          <a:noFill/>
          <a:ln/>
        </p:spPr>
        <p:txBody>
          <a:bodyPr wrap="square" lIns="0" tIns="0" rIns="0" bIns="0" rtlCol="0" anchor="ctr">
            <a:normAutofit/>
          </a:bodyPr>
          <a:lstStyle/>
          <a:p>
            <a:pPr marL="0" indent="0" algn="l">
              <a:buNone/>
            </a:pPr>
            <a:r>
              <a:rPr lang="en-US" sz="940" dirty="0">
                <a:solidFill>
                  <a:srgbClr val="58687C"/>
                </a:solidFill>
                <a:latin typeface="Aptos" pitchFamily="34" charset="0"/>
                <a:ea typeface="Aptos" pitchFamily="34" charset="-122"/>
                <a:cs typeface="Aptos" pitchFamily="34" charset="-120"/>
              </a:rPr>
              <a:t>Differential-drive wheel speeds</a:t>
            </a:r>
            <a:endParaRPr lang="en-US" sz="940" dirty="0"/>
          </a:p>
        </p:txBody>
      </p:sp>
      <p:sp>
        <p:nvSpPr>
          <p:cNvPr id="62" name="Shape 60"/>
          <p:cNvSpPr/>
          <p:nvPr/>
        </p:nvSpPr>
        <p:spPr>
          <a:xfrm>
            <a:off x="7717536" y="4096512"/>
            <a:ext cx="3602736" cy="566928"/>
          </a:xfrm>
          <a:prstGeom prst="roundRect">
            <a:avLst>
              <a:gd name="adj" fmla="val 20968"/>
            </a:avLst>
          </a:prstGeom>
          <a:solidFill>
            <a:srgbClr val="FFFFFF"/>
          </a:solidFill>
          <a:ln w="12700">
            <a:solidFill>
              <a:srgbClr val="FFFFFF">
                <a:alpha val="0"/>
              </a:srgbClr>
            </a:solidFill>
            <a:prstDash val="solid"/>
          </a:ln>
        </p:spPr>
        <p:txBody>
          <a:bodyPr/>
          <a:lstStyle/>
          <a:p>
            <a:endParaRPr lang="nb-NO"/>
          </a:p>
        </p:txBody>
      </p:sp>
      <p:sp>
        <p:nvSpPr>
          <p:cNvPr id="63" name="Shape 61"/>
          <p:cNvSpPr/>
          <p:nvPr/>
        </p:nvSpPr>
        <p:spPr>
          <a:xfrm>
            <a:off x="7854696" y="4233672"/>
            <a:ext cx="283464" cy="283464"/>
          </a:xfrm>
          <a:prstGeom prst="ellipse">
            <a:avLst/>
          </a:prstGeom>
          <a:solidFill>
            <a:srgbClr val="9B73C8"/>
          </a:solidFill>
          <a:ln w="12700">
            <a:solidFill>
              <a:srgbClr val="9B73C8">
                <a:alpha val="0"/>
              </a:srgbClr>
            </a:solidFill>
            <a:prstDash val="solid"/>
          </a:ln>
        </p:spPr>
        <p:txBody>
          <a:bodyPr/>
          <a:lstStyle/>
          <a:p>
            <a:endParaRPr lang="nb-NO"/>
          </a:p>
        </p:txBody>
      </p:sp>
      <p:sp>
        <p:nvSpPr>
          <p:cNvPr id="64" name="Text 62"/>
          <p:cNvSpPr txBox="1"/>
          <p:nvPr/>
        </p:nvSpPr>
        <p:spPr>
          <a:xfrm>
            <a:off x="7854696" y="4233672"/>
            <a:ext cx="283464" cy="27432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65" name="Text 63"/>
          <p:cNvSpPr txBox="1"/>
          <p:nvPr/>
        </p:nvSpPr>
        <p:spPr>
          <a:xfrm>
            <a:off x="8247888" y="4151376"/>
            <a:ext cx="2871216" cy="228600"/>
          </a:xfrm>
          <a:prstGeom prst="rect">
            <a:avLst/>
          </a:prstGeom>
          <a:noFill/>
          <a:ln/>
        </p:spPr>
        <p:txBody>
          <a:bodyPr wrap="square" lIns="0" tIns="0" rIns="0" bIns="0" rtlCol="0" anchor="ctr">
            <a:normAutofit/>
          </a:bodyPr>
          <a:lstStyle/>
          <a:p>
            <a:pPr marL="0" indent="0" algn="l">
              <a:buNone/>
            </a:pPr>
            <a:r>
              <a:rPr lang="en-US" sz="1140" b="1" dirty="0">
                <a:solidFill>
                  <a:srgbClr val="142E53"/>
                </a:solidFill>
                <a:latin typeface="Aptos" pitchFamily="34" charset="0"/>
                <a:ea typeface="Aptos" pitchFamily="34" charset="-122"/>
                <a:cs typeface="Aptos" pitchFamily="34" charset="-120"/>
              </a:rPr>
              <a:t>Logging</a:t>
            </a:r>
            <a:endParaRPr lang="en-US" sz="1140" dirty="0"/>
          </a:p>
        </p:txBody>
      </p:sp>
      <p:sp>
        <p:nvSpPr>
          <p:cNvPr id="66" name="Text 64"/>
          <p:cNvSpPr txBox="1"/>
          <p:nvPr/>
        </p:nvSpPr>
        <p:spPr>
          <a:xfrm>
            <a:off x="8247888" y="4407408"/>
            <a:ext cx="2889504" cy="164592"/>
          </a:xfrm>
          <a:prstGeom prst="rect">
            <a:avLst/>
          </a:prstGeom>
          <a:noFill/>
          <a:ln/>
        </p:spPr>
        <p:txBody>
          <a:bodyPr wrap="square" lIns="0" tIns="0" rIns="0" bIns="0" rtlCol="0" anchor="ctr">
            <a:normAutofit/>
          </a:bodyPr>
          <a:lstStyle/>
          <a:p>
            <a:pPr marL="0" indent="0" algn="l">
              <a:buNone/>
            </a:pPr>
            <a:r>
              <a:rPr lang="en-US" sz="940" dirty="0">
                <a:solidFill>
                  <a:srgbClr val="58687C"/>
                </a:solidFill>
                <a:latin typeface="Aptos" pitchFamily="34" charset="0"/>
                <a:ea typeface="Aptos" pitchFamily="34" charset="-122"/>
                <a:cs typeface="Aptos" pitchFamily="34" charset="-120"/>
              </a:rPr>
              <a:t>Save all sensors and camera frames</a:t>
            </a:r>
            <a:endParaRPr lang="en-US" sz="9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Q4</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sz="2600" b="1">
                <a:solidFill>
                  <a:srgbClr val="191F2C"/>
                </a:solidFill>
                <a:latin typeface="Aptos"/>
              </a:rPr>
              <a:t>Q4(a) Slip estimation and experiment logs</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l">
              <a:buNone/>
            </a:pPr>
            <a:r>
              <a:rPr sz="1400" b="0" dirty="0">
                <a:solidFill>
                  <a:srgbClr val="5D6778"/>
                </a:solidFill>
                <a:latin typeface="Aptos"/>
              </a:rPr>
              <a:t>Longitudinal slip </a:t>
            </a:r>
            <a:r>
              <a:rPr lang="nb-NO" sz="1400" dirty="0">
                <a:solidFill>
                  <a:srgbClr val="5D6778"/>
                </a:solidFill>
                <a:latin typeface="Aptos"/>
              </a:rPr>
              <a:t>and </a:t>
            </a:r>
            <a:r>
              <a:rPr lang="nb-NO" sz="1400" dirty="0" err="1">
                <a:solidFill>
                  <a:srgbClr val="5D6778"/>
                </a:solidFill>
                <a:latin typeface="Aptos"/>
              </a:rPr>
              <a:t>recorded</a:t>
            </a:r>
            <a:r>
              <a:rPr lang="nb-NO" sz="1400" dirty="0">
                <a:solidFill>
                  <a:srgbClr val="5D6778"/>
                </a:solidFill>
                <a:latin typeface="Aptos"/>
              </a:rPr>
              <a:t> </a:t>
            </a:r>
            <a:r>
              <a:rPr lang="nb-NO" sz="1400" dirty="0" err="1">
                <a:solidFill>
                  <a:srgbClr val="5D6778"/>
                </a:solidFill>
                <a:latin typeface="Aptos"/>
              </a:rPr>
              <a:t>devices</a:t>
            </a:r>
            <a:endParaRPr lang="en-US" sz="1000" dirty="0"/>
          </a:p>
        </p:txBody>
      </p:sp>
      <p:sp>
        <p:nvSpPr>
          <p:cNvPr id="7" name="Shape 5"/>
          <p:cNvSpPr/>
          <p:nvPr/>
        </p:nvSpPr>
        <p:spPr>
          <a:xfrm>
            <a:off x="521208"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76072"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17</a:t>
            </a:r>
            <a:endParaRPr lang="en-US" sz="1100" dirty="0"/>
          </a:p>
        </p:txBody>
      </p:sp>
      <p:sp>
        <p:nvSpPr>
          <p:cNvPr id="10" name="Shape 8"/>
          <p:cNvSpPr/>
          <p:nvPr/>
        </p:nvSpPr>
        <p:spPr>
          <a:xfrm>
            <a:off x="594360" y="1261872"/>
            <a:ext cx="5715000" cy="2112264"/>
          </a:xfrm>
          <a:prstGeom prst="roundRect">
            <a:avLst>
              <a:gd name="adj" fmla="val 5628"/>
            </a:avLst>
          </a:prstGeom>
          <a:solidFill>
            <a:srgbClr val="E4EEFF"/>
          </a:solidFill>
          <a:ln w="12700">
            <a:solidFill>
              <a:srgbClr val="E4EEFF">
                <a:alpha val="0"/>
              </a:srgbClr>
            </a:solidFill>
            <a:prstDash val="solid"/>
          </a:ln>
        </p:spPr>
        <p:txBody>
          <a:bodyPr/>
          <a:lstStyle/>
          <a:p>
            <a:endParaRPr lang="nb-NO"/>
          </a:p>
        </p:txBody>
      </p:sp>
      <p:sp>
        <p:nvSpPr>
          <p:cNvPr id="11" name="Text 9"/>
          <p:cNvSpPr txBox="1"/>
          <p:nvPr/>
        </p:nvSpPr>
        <p:spPr>
          <a:xfrm>
            <a:off x="868680" y="1490472"/>
            <a:ext cx="5138928" cy="292608"/>
          </a:xfrm>
          <a:prstGeom prst="rect">
            <a:avLst/>
          </a:prstGeom>
          <a:noFill/>
          <a:ln/>
        </p:spPr>
        <p:txBody>
          <a:bodyPr wrap="square" lIns="0" tIns="0" rIns="0" bIns="0" rtlCol="0" anchor="ctr">
            <a:normAutofit/>
          </a:bodyPr>
          <a:lstStyle/>
          <a:p>
            <a:pPr marL="0" indent="0" algn="l">
              <a:buNone/>
            </a:pPr>
            <a:r>
              <a:rPr lang="en-US" sz="1700" b="1" dirty="0">
                <a:solidFill>
                  <a:srgbClr val="142E53"/>
                </a:solidFill>
                <a:latin typeface="Aptos" pitchFamily="34" charset="0"/>
                <a:ea typeface="Aptos" pitchFamily="34" charset="-122"/>
                <a:cs typeface="Aptos" pitchFamily="34" charset="-120"/>
              </a:rPr>
              <a:t>Sensors sent to .csv</a:t>
            </a:r>
            <a:endParaRPr lang="en-US" sz="1700" dirty="0"/>
          </a:p>
        </p:txBody>
      </p:sp>
      <p:sp>
        <p:nvSpPr>
          <p:cNvPr id="15" name="Shape 13"/>
          <p:cNvSpPr/>
          <p:nvPr/>
        </p:nvSpPr>
        <p:spPr>
          <a:xfrm>
            <a:off x="6519672" y="1261872"/>
            <a:ext cx="5065776" cy="2112264"/>
          </a:xfrm>
          <a:prstGeom prst="roundRect">
            <a:avLst>
              <a:gd name="adj" fmla="val 5628"/>
            </a:avLst>
          </a:prstGeom>
          <a:solidFill>
            <a:srgbClr val="E1F5EF"/>
          </a:solidFill>
          <a:ln w="12700">
            <a:solidFill>
              <a:srgbClr val="E1F5EF">
                <a:alpha val="0"/>
              </a:srgbClr>
            </a:solidFill>
            <a:prstDash val="solid"/>
          </a:ln>
        </p:spPr>
        <p:txBody>
          <a:bodyPr/>
          <a:lstStyle/>
          <a:p>
            <a:endParaRPr lang="nb-NO"/>
          </a:p>
        </p:txBody>
      </p:sp>
      <p:sp>
        <p:nvSpPr>
          <p:cNvPr id="16" name="Text 14"/>
          <p:cNvSpPr txBox="1"/>
          <p:nvPr/>
        </p:nvSpPr>
        <p:spPr>
          <a:xfrm>
            <a:off x="6812280" y="1472184"/>
            <a:ext cx="4507992" cy="256032"/>
          </a:xfrm>
          <a:prstGeom prst="rect">
            <a:avLst/>
          </a:prstGeom>
          <a:noFill/>
          <a:ln/>
        </p:spPr>
        <p:txBody>
          <a:bodyPr wrap="square" lIns="0" tIns="0" rIns="0" bIns="0" rtlCol="0" anchor="ctr">
            <a:normAutofit lnSpcReduction="10000"/>
          </a:bodyPr>
          <a:lstStyle/>
          <a:p>
            <a:pPr marL="0" indent="0" algn="l">
              <a:buNone/>
            </a:pPr>
            <a:r>
              <a:rPr lang="en-US" sz="1700" b="1" dirty="0">
                <a:solidFill>
                  <a:srgbClr val="142E53"/>
                </a:solidFill>
                <a:latin typeface="Aptos" pitchFamily="34" charset="0"/>
                <a:ea typeface="Aptos" pitchFamily="34" charset="-122"/>
                <a:cs typeface="Aptos" pitchFamily="34" charset="-120"/>
              </a:rPr>
              <a:t>Recorded devices</a:t>
            </a:r>
            <a:endParaRPr lang="en-US" sz="1700" dirty="0"/>
          </a:p>
        </p:txBody>
      </p:sp>
      <p:sp>
        <p:nvSpPr>
          <p:cNvPr id="17" name="Shape 15"/>
          <p:cNvSpPr/>
          <p:nvPr/>
        </p:nvSpPr>
        <p:spPr>
          <a:xfrm>
            <a:off x="6821424" y="1920240"/>
            <a:ext cx="118872" cy="118872"/>
          </a:xfrm>
          <a:prstGeom prst="ellipse">
            <a:avLst/>
          </a:prstGeom>
          <a:solidFill>
            <a:srgbClr val="15A68C"/>
          </a:solidFill>
          <a:ln w="12700">
            <a:solidFill>
              <a:srgbClr val="15A68C">
                <a:alpha val="0"/>
              </a:srgbClr>
            </a:solidFill>
            <a:prstDash val="solid"/>
          </a:ln>
        </p:spPr>
        <p:txBody>
          <a:bodyPr/>
          <a:lstStyle/>
          <a:p>
            <a:endParaRPr lang="nb-NO"/>
          </a:p>
        </p:txBody>
      </p:sp>
      <p:sp>
        <p:nvSpPr>
          <p:cNvPr id="18" name="Text 16"/>
          <p:cNvSpPr txBox="1"/>
          <p:nvPr/>
        </p:nvSpPr>
        <p:spPr>
          <a:xfrm>
            <a:off x="7059168" y="1874520"/>
            <a:ext cx="4215384" cy="210312"/>
          </a:xfrm>
          <a:prstGeom prst="rect">
            <a:avLst/>
          </a:prstGeom>
          <a:noFill/>
          <a:ln/>
        </p:spPr>
        <p:txBody>
          <a:bodyPr wrap="square" lIns="0" tIns="0" rIns="0" bIns="0" rtlCol="0" anchor="ctr">
            <a:normAutofit/>
          </a:bodyPr>
          <a:lstStyle/>
          <a:p>
            <a:pPr marL="0" indent="0" algn="l">
              <a:buNone/>
            </a:pPr>
            <a:r>
              <a:rPr lang="en-US" sz="1080" dirty="0">
                <a:solidFill>
                  <a:srgbClr val="24334A"/>
                </a:solidFill>
                <a:latin typeface="Aptos" pitchFamily="34" charset="0"/>
                <a:ea typeface="Aptos" pitchFamily="34" charset="-122"/>
                <a:cs typeface="Aptos" pitchFamily="34" charset="-120"/>
              </a:rPr>
              <a:t>GPS · accelerometer · gyro · IMU</a:t>
            </a:r>
            <a:endParaRPr lang="en-US" sz="1080" dirty="0"/>
          </a:p>
        </p:txBody>
      </p:sp>
      <p:sp>
        <p:nvSpPr>
          <p:cNvPr id="19" name="Shape 17"/>
          <p:cNvSpPr/>
          <p:nvPr/>
        </p:nvSpPr>
        <p:spPr>
          <a:xfrm>
            <a:off x="6821424" y="2221992"/>
            <a:ext cx="118872" cy="118872"/>
          </a:xfrm>
          <a:prstGeom prst="ellipse">
            <a:avLst/>
          </a:prstGeom>
          <a:solidFill>
            <a:srgbClr val="15A68C"/>
          </a:solidFill>
          <a:ln w="12700">
            <a:solidFill>
              <a:srgbClr val="15A68C">
                <a:alpha val="0"/>
              </a:srgbClr>
            </a:solidFill>
            <a:prstDash val="solid"/>
          </a:ln>
        </p:spPr>
        <p:txBody>
          <a:bodyPr/>
          <a:lstStyle/>
          <a:p>
            <a:endParaRPr lang="nb-NO"/>
          </a:p>
        </p:txBody>
      </p:sp>
      <p:sp>
        <p:nvSpPr>
          <p:cNvPr id="20" name="Text 18"/>
          <p:cNvSpPr txBox="1"/>
          <p:nvPr/>
        </p:nvSpPr>
        <p:spPr>
          <a:xfrm>
            <a:off x="7059168" y="2176272"/>
            <a:ext cx="4215384" cy="210312"/>
          </a:xfrm>
          <a:prstGeom prst="rect">
            <a:avLst/>
          </a:prstGeom>
          <a:noFill/>
          <a:ln/>
        </p:spPr>
        <p:txBody>
          <a:bodyPr wrap="square" lIns="0" tIns="0" rIns="0" bIns="0" rtlCol="0" anchor="ctr">
            <a:normAutofit/>
          </a:bodyPr>
          <a:lstStyle/>
          <a:p>
            <a:pPr marL="0" indent="0" algn="l">
              <a:buNone/>
            </a:pPr>
            <a:r>
              <a:rPr lang="en-US" sz="1080" dirty="0">
                <a:solidFill>
                  <a:srgbClr val="24334A"/>
                </a:solidFill>
                <a:latin typeface="Aptos" pitchFamily="34" charset="0"/>
                <a:ea typeface="Aptos" pitchFamily="34" charset="-122"/>
                <a:cs typeface="Aptos" pitchFamily="34" charset="-120"/>
              </a:rPr>
              <a:t>Left/right encoders · left/right motors</a:t>
            </a:r>
            <a:endParaRPr lang="en-US" sz="1080" dirty="0"/>
          </a:p>
        </p:txBody>
      </p:sp>
      <p:sp>
        <p:nvSpPr>
          <p:cNvPr id="21" name="Shape 19"/>
          <p:cNvSpPr/>
          <p:nvPr/>
        </p:nvSpPr>
        <p:spPr>
          <a:xfrm>
            <a:off x="6821424" y="2523744"/>
            <a:ext cx="118872" cy="118872"/>
          </a:xfrm>
          <a:prstGeom prst="ellipse">
            <a:avLst/>
          </a:prstGeom>
          <a:solidFill>
            <a:srgbClr val="15A68C"/>
          </a:solidFill>
          <a:ln w="12700">
            <a:solidFill>
              <a:srgbClr val="15A68C">
                <a:alpha val="0"/>
              </a:srgbClr>
            </a:solidFill>
            <a:prstDash val="solid"/>
          </a:ln>
        </p:spPr>
        <p:txBody>
          <a:bodyPr/>
          <a:lstStyle/>
          <a:p>
            <a:endParaRPr lang="nb-NO"/>
          </a:p>
        </p:txBody>
      </p:sp>
      <p:sp>
        <p:nvSpPr>
          <p:cNvPr id="22" name="Text 20"/>
          <p:cNvSpPr txBox="1"/>
          <p:nvPr/>
        </p:nvSpPr>
        <p:spPr>
          <a:xfrm>
            <a:off x="7059168" y="2478024"/>
            <a:ext cx="4215384" cy="210312"/>
          </a:xfrm>
          <a:prstGeom prst="rect">
            <a:avLst/>
          </a:prstGeom>
          <a:noFill/>
          <a:ln/>
        </p:spPr>
        <p:txBody>
          <a:bodyPr wrap="square" lIns="0" tIns="0" rIns="0" bIns="0" rtlCol="0" anchor="ctr">
            <a:normAutofit/>
          </a:bodyPr>
          <a:lstStyle/>
          <a:p>
            <a:pPr marL="0" indent="0" algn="l">
              <a:buNone/>
            </a:pPr>
            <a:r>
              <a:rPr lang="en-US" sz="1080" dirty="0">
                <a:solidFill>
                  <a:srgbClr val="24334A"/>
                </a:solidFill>
                <a:latin typeface="Aptos" pitchFamily="34" charset="0"/>
                <a:ea typeface="Aptos" pitchFamily="34" charset="-122"/>
                <a:cs typeface="Aptos" pitchFamily="34" charset="-120"/>
              </a:rPr>
              <a:t>Camera snapshots every 12 steps</a:t>
            </a:r>
            <a:endParaRPr lang="en-US" sz="1080" dirty="0"/>
          </a:p>
        </p:txBody>
      </p:sp>
      <p:sp>
        <p:nvSpPr>
          <p:cNvPr id="23" name="Shape 21"/>
          <p:cNvSpPr/>
          <p:nvPr/>
        </p:nvSpPr>
        <p:spPr>
          <a:xfrm>
            <a:off x="6821424" y="2825496"/>
            <a:ext cx="118872" cy="118872"/>
          </a:xfrm>
          <a:prstGeom prst="ellipse">
            <a:avLst/>
          </a:prstGeom>
          <a:solidFill>
            <a:srgbClr val="15A68C"/>
          </a:solidFill>
          <a:ln w="12700">
            <a:solidFill>
              <a:srgbClr val="15A68C">
                <a:alpha val="0"/>
              </a:srgbClr>
            </a:solidFill>
            <a:prstDash val="solid"/>
          </a:ln>
        </p:spPr>
        <p:txBody>
          <a:bodyPr/>
          <a:lstStyle/>
          <a:p>
            <a:endParaRPr lang="nb-NO"/>
          </a:p>
        </p:txBody>
      </p:sp>
      <p:sp>
        <p:nvSpPr>
          <p:cNvPr id="24" name="Text 22"/>
          <p:cNvSpPr txBox="1"/>
          <p:nvPr/>
        </p:nvSpPr>
        <p:spPr>
          <a:xfrm>
            <a:off x="7059168" y="2779776"/>
            <a:ext cx="4215384" cy="210312"/>
          </a:xfrm>
          <a:prstGeom prst="rect">
            <a:avLst/>
          </a:prstGeom>
          <a:noFill/>
          <a:ln/>
        </p:spPr>
        <p:txBody>
          <a:bodyPr wrap="square" lIns="0" tIns="0" rIns="0" bIns="0" rtlCol="0" anchor="ctr">
            <a:normAutofit/>
          </a:bodyPr>
          <a:lstStyle/>
          <a:p>
            <a:pPr marL="0" indent="0" algn="l">
              <a:buNone/>
            </a:pPr>
            <a:r>
              <a:rPr lang="en-US" sz="1080" dirty="0">
                <a:solidFill>
                  <a:srgbClr val="24334A"/>
                </a:solidFill>
                <a:latin typeface="Aptos" pitchFamily="34" charset="0"/>
                <a:ea typeface="Aptos" pitchFamily="34" charset="-122"/>
                <a:cs typeface="Aptos" pitchFamily="34" charset="-120"/>
              </a:rPr>
              <a:t>LiDAR range array every simulation step</a:t>
            </a:r>
            <a:endParaRPr lang="en-US" sz="1080" dirty="0"/>
          </a:p>
        </p:txBody>
      </p:sp>
      <p:sp>
        <p:nvSpPr>
          <p:cNvPr id="25" name="Shape 23"/>
          <p:cNvSpPr/>
          <p:nvPr/>
        </p:nvSpPr>
        <p:spPr>
          <a:xfrm>
            <a:off x="612648" y="3547872"/>
            <a:ext cx="10972800" cy="1481328"/>
          </a:xfrm>
          <a:prstGeom prst="roundRect">
            <a:avLst>
              <a:gd name="adj" fmla="val 8025"/>
            </a:avLst>
          </a:prstGeom>
          <a:solidFill>
            <a:srgbClr val="FFFFFF"/>
          </a:solidFill>
          <a:ln w="7620">
            <a:solidFill>
              <a:srgbClr val="D7E2EE"/>
            </a:solidFill>
            <a:prstDash val="solid"/>
          </a:ln>
        </p:spPr>
        <p:txBody>
          <a:bodyPr/>
          <a:lstStyle/>
          <a:p>
            <a:endParaRPr lang="nb-NO"/>
          </a:p>
        </p:txBody>
      </p:sp>
      <p:sp>
        <p:nvSpPr>
          <p:cNvPr id="26" name="Shape 24"/>
          <p:cNvSpPr/>
          <p:nvPr/>
        </p:nvSpPr>
        <p:spPr>
          <a:xfrm>
            <a:off x="832104" y="3730752"/>
            <a:ext cx="3328416" cy="292608"/>
          </a:xfrm>
          <a:prstGeom prst="roundRect">
            <a:avLst>
              <a:gd name="adj" fmla="val 40625"/>
            </a:avLst>
          </a:prstGeom>
          <a:solidFill>
            <a:srgbClr val="EFE8FA"/>
          </a:solidFill>
          <a:ln w="12700">
            <a:solidFill>
              <a:srgbClr val="EFE8FA">
                <a:alpha val="0"/>
              </a:srgbClr>
            </a:solidFill>
            <a:prstDash val="solid"/>
          </a:ln>
        </p:spPr>
        <p:txBody>
          <a:bodyPr/>
          <a:lstStyle/>
          <a:p>
            <a:endParaRPr lang="nb-NO"/>
          </a:p>
        </p:txBody>
      </p:sp>
      <p:sp>
        <p:nvSpPr>
          <p:cNvPr id="27" name="Text 25"/>
          <p:cNvSpPr txBox="1"/>
          <p:nvPr/>
        </p:nvSpPr>
        <p:spPr>
          <a:xfrm>
            <a:off x="886968" y="3739896"/>
            <a:ext cx="3218688" cy="274320"/>
          </a:xfrm>
          <a:prstGeom prst="rect">
            <a:avLst/>
          </a:prstGeom>
          <a:noFill/>
          <a:ln/>
        </p:spPr>
        <p:txBody>
          <a:bodyPr wrap="square" lIns="0" tIns="0" rIns="0" bIns="0" rtlCol="0" anchor="ctr">
            <a:normAutofit/>
          </a:bodyPr>
          <a:lstStyle/>
          <a:p>
            <a:pPr marL="0" indent="0" algn="ctr">
              <a:buNone/>
            </a:pPr>
            <a:r>
              <a:rPr lang="en-US" sz="1100" b="1" dirty="0">
                <a:solidFill>
                  <a:srgbClr val="142E53"/>
                </a:solidFill>
                <a:latin typeface="Aptos" pitchFamily="34" charset="0"/>
                <a:ea typeface="Aptos" pitchFamily="34" charset="-122"/>
                <a:cs typeface="Aptos" pitchFamily="34" charset="-120"/>
              </a:rPr>
              <a:t>Outputs per friction condition</a:t>
            </a:r>
            <a:endParaRPr lang="en-US" sz="1100" dirty="0"/>
          </a:p>
        </p:txBody>
      </p:sp>
      <p:sp>
        <p:nvSpPr>
          <p:cNvPr id="28" name="Shape 26"/>
          <p:cNvSpPr/>
          <p:nvPr/>
        </p:nvSpPr>
        <p:spPr>
          <a:xfrm>
            <a:off x="822960" y="4169664"/>
            <a:ext cx="2523744" cy="676656"/>
          </a:xfrm>
          <a:prstGeom prst="roundRect">
            <a:avLst>
              <a:gd name="adj" fmla="val 17568"/>
            </a:avLst>
          </a:prstGeom>
          <a:solidFill>
            <a:srgbClr val="E4EEFF"/>
          </a:solidFill>
          <a:ln w="12700">
            <a:solidFill>
              <a:srgbClr val="E4EEFF">
                <a:alpha val="0"/>
              </a:srgbClr>
            </a:solidFill>
            <a:prstDash val="solid"/>
          </a:ln>
        </p:spPr>
        <p:txBody>
          <a:bodyPr/>
          <a:lstStyle/>
          <a:p>
            <a:endParaRPr lang="nb-NO"/>
          </a:p>
        </p:txBody>
      </p:sp>
      <p:sp>
        <p:nvSpPr>
          <p:cNvPr id="29" name="Text 27"/>
          <p:cNvSpPr txBox="1"/>
          <p:nvPr/>
        </p:nvSpPr>
        <p:spPr>
          <a:xfrm>
            <a:off x="896112" y="4224528"/>
            <a:ext cx="2377440" cy="237744"/>
          </a:xfrm>
          <a:prstGeom prst="rect">
            <a:avLst/>
          </a:prstGeom>
          <a:noFill/>
          <a:ln/>
        </p:spPr>
        <p:txBody>
          <a:bodyPr wrap="square" lIns="0" tIns="0" rIns="0" bIns="0" rtlCol="0" anchor="ctr">
            <a:normAutofit/>
          </a:bodyPr>
          <a:lstStyle/>
          <a:p>
            <a:pPr marL="0" indent="0" algn="ctr">
              <a:buNone/>
            </a:pPr>
            <a:r>
              <a:rPr lang="en-US" sz="1170" b="1" dirty="0">
                <a:solidFill>
                  <a:srgbClr val="142E53"/>
                </a:solidFill>
                <a:latin typeface="Aptos" pitchFamily="34" charset="0"/>
                <a:ea typeface="Aptos" pitchFamily="34" charset="-122"/>
                <a:cs typeface="Aptos" pitchFamily="34" charset="-120"/>
              </a:rPr>
              <a:t>sensors.csv</a:t>
            </a:r>
            <a:endParaRPr lang="en-US" sz="1170" dirty="0"/>
          </a:p>
        </p:txBody>
      </p:sp>
      <p:sp>
        <p:nvSpPr>
          <p:cNvPr id="30" name="Text 28"/>
          <p:cNvSpPr txBox="1"/>
          <p:nvPr/>
        </p:nvSpPr>
        <p:spPr>
          <a:xfrm>
            <a:off x="905256" y="4526280"/>
            <a:ext cx="2350008" cy="237744"/>
          </a:xfrm>
          <a:prstGeom prst="rect">
            <a:avLst/>
          </a:prstGeom>
          <a:noFill/>
          <a:ln/>
        </p:spPr>
        <p:txBody>
          <a:bodyPr wrap="square" lIns="0" tIns="0" rIns="0" bIns="0" rtlCol="0" anchor="ctr">
            <a:normAutofit/>
          </a:bodyPr>
          <a:lstStyle/>
          <a:p>
            <a:pPr marL="0" indent="0" algn="ctr">
              <a:buNone/>
            </a:pPr>
            <a:r>
              <a:rPr lang="en-US" sz="880" dirty="0">
                <a:solidFill>
                  <a:srgbClr val="58687C"/>
                </a:solidFill>
                <a:latin typeface="Aptos" pitchFamily="34" charset="0"/>
                <a:ea typeface="Aptos" pitchFamily="34" charset="-122"/>
                <a:cs typeface="Aptos" pitchFamily="34" charset="-120"/>
              </a:rPr>
              <a:t>GPS XY, distance, wheel speed, slip, IMU</a:t>
            </a:r>
            <a:endParaRPr lang="en-US" sz="880" dirty="0"/>
          </a:p>
        </p:txBody>
      </p:sp>
      <p:sp>
        <p:nvSpPr>
          <p:cNvPr id="31" name="Shape 29"/>
          <p:cNvSpPr/>
          <p:nvPr/>
        </p:nvSpPr>
        <p:spPr>
          <a:xfrm>
            <a:off x="3493008" y="4169664"/>
            <a:ext cx="2523744" cy="676656"/>
          </a:xfrm>
          <a:prstGeom prst="roundRect">
            <a:avLst>
              <a:gd name="adj" fmla="val 17568"/>
            </a:avLst>
          </a:prstGeom>
          <a:solidFill>
            <a:srgbClr val="EFE8FA"/>
          </a:solidFill>
          <a:ln w="12700">
            <a:solidFill>
              <a:srgbClr val="EFE8FA">
                <a:alpha val="0"/>
              </a:srgbClr>
            </a:solidFill>
            <a:prstDash val="solid"/>
          </a:ln>
        </p:spPr>
        <p:txBody>
          <a:bodyPr/>
          <a:lstStyle/>
          <a:p>
            <a:endParaRPr lang="nb-NO"/>
          </a:p>
        </p:txBody>
      </p:sp>
      <p:sp>
        <p:nvSpPr>
          <p:cNvPr id="32" name="Text 30"/>
          <p:cNvSpPr txBox="1"/>
          <p:nvPr/>
        </p:nvSpPr>
        <p:spPr>
          <a:xfrm>
            <a:off x="3566160" y="4224528"/>
            <a:ext cx="2377440" cy="237744"/>
          </a:xfrm>
          <a:prstGeom prst="rect">
            <a:avLst/>
          </a:prstGeom>
          <a:noFill/>
          <a:ln/>
        </p:spPr>
        <p:txBody>
          <a:bodyPr wrap="square" lIns="0" tIns="0" rIns="0" bIns="0" rtlCol="0" anchor="ctr">
            <a:normAutofit/>
          </a:bodyPr>
          <a:lstStyle/>
          <a:p>
            <a:pPr marL="0" indent="0" algn="ctr">
              <a:buNone/>
            </a:pPr>
            <a:r>
              <a:rPr lang="en-US" sz="1170" b="1" dirty="0">
                <a:solidFill>
                  <a:srgbClr val="142E53"/>
                </a:solidFill>
                <a:latin typeface="Aptos" pitchFamily="34" charset="0"/>
                <a:ea typeface="Aptos" pitchFamily="34" charset="-122"/>
                <a:cs typeface="Aptos" pitchFamily="34" charset="-120"/>
              </a:rPr>
              <a:t>lidar.jsonl</a:t>
            </a:r>
            <a:endParaRPr lang="en-US" sz="1170" dirty="0"/>
          </a:p>
        </p:txBody>
      </p:sp>
      <p:sp>
        <p:nvSpPr>
          <p:cNvPr id="33" name="Text 31"/>
          <p:cNvSpPr txBox="1"/>
          <p:nvPr/>
        </p:nvSpPr>
        <p:spPr>
          <a:xfrm>
            <a:off x="3575304" y="4526280"/>
            <a:ext cx="2350008" cy="237744"/>
          </a:xfrm>
          <a:prstGeom prst="rect">
            <a:avLst/>
          </a:prstGeom>
          <a:noFill/>
          <a:ln/>
        </p:spPr>
        <p:txBody>
          <a:bodyPr wrap="square" lIns="0" tIns="0" rIns="0" bIns="0" rtlCol="0" anchor="ctr">
            <a:normAutofit/>
          </a:bodyPr>
          <a:lstStyle/>
          <a:p>
            <a:pPr marL="0" indent="0" algn="ctr">
              <a:buNone/>
            </a:pPr>
            <a:r>
              <a:rPr lang="en-US" sz="880" dirty="0">
                <a:solidFill>
                  <a:srgbClr val="58687C"/>
                </a:solidFill>
                <a:latin typeface="Aptos" pitchFamily="34" charset="0"/>
                <a:ea typeface="Aptos" pitchFamily="34" charset="-122"/>
                <a:cs typeface="Aptos" pitchFamily="34" charset="-120"/>
              </a:rPr>
              <a:t>Timestamped LiDAR ranges</a:t>
            </a:r>
            <a:endParaRPr lang="en-US" sz="880" dirty="0"/>
          </a:p>
        </p:txBody>
      </p:sp>
      <p:sp>
        <p:nvSpPr>
          <p:cNvPr id="34" name="Shape 32"/>
          <p:cNvSpPr/>
          <p:nvPr/>
        </p:nvSpPr>
        <p:spPr>
          <a:xfrm>
            <a:off x="6163056" y="4169664"/>
            <a:ext cx="2523744" cy="676656"/>
          </a:xfrm>
          <a:prstGeom prst="roundRect">
            <a:avLst>
              <a:gd name="adj" fmla="val 17568"/>
            </a:avLst>
          </a:prstGeom>
          <a:solidFill>
            <a:srgbClr val="E4EEFF"/>
          </a:solidFill>
          <a:ln w="12700">
            <a:solidFill>
              <a:srgbClr val="E4EEFF">
                <a:alpha val="0"/>
              </a:srgbClr>
            </a:solidFill>
            <a:prstDash val="solid"/>
          </a:ln>
        </p:spPr>
        <p:txBody>
          <a:bodyPr/>
          <a:lstStyle/>
          <a:p>
            <a:endParaRPr lang="nb-NO"/>
          </a:p>
        </p:txBody>
      </p:sp>
      <p:sp>
        <p:nvSpPr>
          <p:cNvPr id="35" name="Text 33"/>
          <p:cNvSpPr txBox="1"/>
          <p:nvPr/>
        </p:nvSpPr>
        <p:spPr>
          <a:xfrm>
            <a:off x="6236208" y="4224528"/>
            <a:ext cx="2377440" cy="237744"/>
          </a:xfrm>
          <a:prstGeom prst="rect">
            <a:avLst/>
          </a:prstGeom>
          <a:noFill/>
          <a:ln/>
        </p:spPr>
        <p:txBody>
          <a:bodyPr wrap="square" lIns="0" tIns="0" rIns="0" bIns="0" rtlCol="0" anchor="ctr">
            <a:normAutofit/>
          </a:bodyPr>
          <a:lstStyle/>
          <a:p>
            <a:pPr marL="0" indent="0" algn="ctr">
              <a:buNone/>
            </a:pPr>
            <a:r>
              <a:rPr lang="en-US" sz="1170" b="1" dirty="0">
                <a:solidFill>
                  <a:srgbClr val="142E53"/>
                </a:solidFill>
                <a:latin typeface="Aptos" pitchFamily="34" charset="0"/>
                <a:ea typeface="Aptos" pitchFamily="34" charset="-122"/>
                <a:cs typeface="Aptos" pitchFamily="34" charset="-120"/>
              </a:rPr>
              <a:t>camera/</a:t>
            </a:r>
            <a:endParaRPr lang="en-US" sz="1170" dirty="0"/>
          </a:p>
        </p:txBody>
      </p:sp>
      <p:sp>
        <p:nvSpPr>
          <p:cNvPr id="36" name="Text 34"/>
          <p:cNvSpPr txBox="1"/>
          <p:nvPr/>
        </p:nvSpPr>
        <p:spPr>
          <a:xfrm>
            <a:off x="6245352" y="4526280"/>
            <a:ext cx="2350008" cy="237744"/>
          </a:xfrm>
          <a:prstGeom prst="rect">
            <a:avLst/>
          </a:prstGeom>
          <a:noFill/>
          <a:ln/>
        </p:spPr>
        <p:txBody>
          <a:bodyPr wrap="square" lIns="0" tIns="0" rIns="0" bIns="0" rtlCol="0" anchor="ctr">
            <a:normAutofit/>
          </a:bodyPr>
          <a:lstStyle/>
          <a:p>
            <a:pPr marL="0" indent="0" algn="ctr">
              <a:buNone/>
            </a:pPr>
            <a:r>
              <a:rPr lang="en-US" sz="880" dirty="0">
                <a:solidFill>
                  <a:srgbClr val="58687C"/>
                </a:solidFill>
                <a:latin typeface="Aptos" pitchFamily="34" charset="0"/>
                <a:ea typeface="Aptos" pitchFamily="34" charset="-122"/>
                <a:cs typeface="Aptos" pitchFamily="34" charset="-120"/>
              </a:rPr>
              <a:t>Recorded PNG images</a:t>
            </a:r>
            <a:endParaRPr lang="en-US" sz="880" dirty="0"/>
          </a:p>
        </p:txBody>
      </p:sp>
      <p:sp>
        <p:nvSpPr>
          <p:cNvPr id="37" name="Shape 35"/>
          <p:cNvSpPr/>
          <p:nvPr/>
        </p:nvSpPr>
        <p:spPr>
          <a:xfrm>
            <a:off x="8833104" y="4169664"/>
            <a:ext cx="2523744" cy="676656"/>
          </a:xfrm>
          <a:prstGeom prst="roundRect">
            <a:avLst>
              <a:gd name="adj" fmla="val 17568"/>
            </a:avLst>
          </a:prstGeom>
          <a:solidFill>
            <a:srgbClr val="EFE8FA"/>
          </a:solidFill>
          <a:ln w="12700">
            <a:solidFill>
              <a:srgbClr val="EFE8FA">
                <a:alpha val="0"/>
              </a:srgbClr>
            </a:solidFill>
            <a:prstDash val="solid"/>
          </a:ln>
        </p:spPr>
        <p:txBody>
          <a:bodyPr/>
          <a:lstStyle/>
          <a:p>
            <a:endParaRPr lang="nb-NO"/>
          </a:p>
        </p:txBody>
      </p:sp>
      <p:sp>
        <p:nvSpPr>
          <p:cNvPr id="38" name="Text 36"/>
          <p:cNvSpPr txBox="1"/>
          <p:nvPr/>
        </p:nvSpPr>
        <p:spPr>
          <a:xfrm>
            <a:off x="8906256" y="4224528"/>
            <a:ext cx="2377440" cy="237744"/>
          </a:xfrm>
          <a:prstGeom prst="rect">
            <a:avLst/>
          </a:prstGeom>
          <a:noFill/>
          <a:ln/>
        </p:spPr>
        <p:txBody>
          <a:bodyPr wrap="square" lIns="0" tIns="0" rIns="0" bIns="0" rtlCol="0" anchor="ctr">
            <a:normAutofit/>
          </a:bodyPr>
          <a:lstStyle/>
          <a:p>
            <a:pPr marL="0" indent="0" algn="ctr">
              <a:buNone/>
            </a:pPr>
            <a:r>
              <a:rPr lang="en-US" sz="1170" b="1" dirty="0">
                <a:solidFill>
                  <a:srgbClr val="142E53"/>
                </a:solidFill>
                <a:latin typeface="Aptos" pitchFamily="34" charset="0"/>
                <a:ea typeface="Aptos" pitchFamily="34" charset="-122"/>
                <a:cs typeface="Aptos" pitchFamily="34" charset="-120"/>
              </a:rPr>
              <a:t>summary.json</a:t>
            </a:r>
            <a:endParaRPr lang="en-US" sz="1170" dirty="0"/>
          </a:p>
        </p:txBody>
      </p:sp>
      <p:sp>
        <p:nvSpPr>
          <p:cNvPr id="39" name="Text 37"/>
          <p:cNvSpPr txBox="1"/>
          <p:nvPr/>
        </p:nvSpPr>
        <p:spPr>
          <a:xfrm>
            <a:off x="8915400" y="4526280"/>
            <a:ext cx="2350008" cy="237744"/>
          </a:xfrm>
          <a:prstGeom prst="rect">
            <a:avLst/>
          </a:prstGeom>
          <a:noFill/>
          <a:ln/>
        </p:spPr>
        <p:txBody>
          <a:bodyPr wrap="square" lIns="0" tIns="0" rIns="0" bIns="0" rtlCol="0" anchor="ctr">
            <a:normAutofit/>
          </a:bodyPr>
          <a:lstStyle/>
          <a:p>
            <a:pPr marL="0" indent="0" algn="ctr">
              <a:buNone/>
            </a:pPr>
            <a:r>
              <a:rPr lang="en-US" sz="880" dirty="0">
                <a:solidFill>
                  <a:srgbClr val="58687C"/>
                </a:solidFill>
                <a:latin typeface="Aptos" pitchFamily="34" charset="0"/>
                <a:ea typeface="Aptos" pitchFamily="34" charset="-122"/>
                <a:cs typeface="Aptos" pitchFamily="34" charset="-120"/>
              </a:rPr>
              <a:t>Goal reached, time, distance, clearance</a:t>
            </a:r>
            <a:endParaRPr lang="en-US" sz="880" dirty="0"/>
          </a:p>
        </p:txBody>
      </p:sp>
      <p:pic>
        <p:nvPicPr>
          <p:cNvPr id="43" name="Bilde 42">
            <a:extLst>
              <a:ext uri="{FF2B5EF4-FFF2-40B4-BE49-F238E27FC236}">
                <a16:creationId xmlns:a16="http://schemas.microsoft.com/office/drawing/2014/main" id="{B12A53AA-12EF-CF9A-1560-9F05A34197B0}"/>
              </a:ext>
            </a:extLst>
          </p:cNvPr>
          <p:cNvPicPr>
            <a:picLocks noChangeAspect="1"/>
          </p:cNvPicPr>
          <p:nvPr/>
        </p:nvPicPr>
        <p:blipFill>
          <a:blip r:embed="rId3"/>
          <a:stretch>
            <a:fillRect/>
          </a:stretch>
        </p:blipFill>
        <p:spPr>
          <a:xfrm>
            <a:off x="2371534" y="1783080"/>
            <a:ext cx="3577971" cy="148597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477EF"/>
          </a:solidFill>
          <a:ln w="12700">
            <a:solidFill>
              <a:srgbClr val="3477EF">
                <a:alpha val="0"/>
              </a:srgbClr>
            </a:solidFill>
            <a:prstDash val="solid"/>
          </a:ln>
        </p:spPr>
        <p:txBody>
          <a:bodyPr/>
          <a:lstStyle/>
          <a:p>
            <a:endParaRPr lang="nb-NO"/>
          </a:p>
        </p:txBody>
      </p:sp>
      <p:sp>
        <p:nvSpPr>
          <p:cNvPr id="3" name="Shape 1"/>
          <p:cNvSpPr/>
          <p:nvPr/>
        </p:nvSpPr>
        <p:spPr>
          <a:xfrm>
            <a:off x="502920" y="228600"/>
            <a:ext cx="694944" cy="338328"/>
          </a:xfrm>
          <a:prstGeom prst="roundRect">
            <a:avLst>
              <a:gd name="adj" fmla="val 35135"/>
            </a:avLst>
          </a:prstGeom>
          <a:solidFill>
            <a:srgbClr val="3477EF"/>
          </a:solidFill>
          <a:ln w="12700">
            <a:solidFill>
              <a:srgbClr val="3477EF">
                <a:alpha val="0"/>
              </a:srgbClr>
            </a:solidFill>
            <a:prstDash val="solid"/>
          </a:ln>
        </p:spPr>
        <p:txBody>
          <a:bodyPr/>
          <a:lstStyle/>
          <a:p>
            <a:endParaRPr lang="nb-NO"/>
          </a:p>
        </p:txBody>
      </p:sp>
      <p:sp>
        <p:nvSpPr>
          <p:cNvPr id="4" name="Text 2"/>
          <p:cNvSpPr txBox="1"/>
          <p:nvPr/>
        </p:nvSpPr>
        <p:spPr>
          <a:xfrm>
            <a:off x="557784" y="237744"/>
            <a:ext cx="585216" cy="32004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Q4</a:t>
            </a:r>
            <a:endParaRPr lang="en-US" sz="1200" dirty="0"/>
          </a:p>
        </p:txBody>
      </p:sp>
      <p:sp>
        <p:nvSpPr>
          <p:cNvPr id="5" name="Text 3"/>
          <p:cNvSpPr txBox="1"/>
          <p:nvPr/>
        </p:nvSpPr>
        <p:spPr>
          <a:xfrm>
            <a:off x="1325880" y="173736"/>
            <a:ext cx="9646920" cy="429768"/>
          </a:xfrm>
          <a:prstGeom prst="rect">
            <a:avLst/>
          </a:prstGeom>
          <a:noFill/>
          <a:ln/>
        </p:spPr>
        <p:txBody>
          <a:bodyPr wrap="square" lIns="0" tIns="0" rIns="0" bIns="0" rtlCol="0" anchor="ctr">
            <a:normAutofit/>
          </a:bodyPr>
          <a:lstStyle/>
          <a:p>
            <a:pPr marL="0" indent="0" algn="l">
              <a:buNone/>
            </a:pPr>
            <a:r>
              <a:rPr sz="2600" b="1">
                <a:solidFill>
                  <a:srgbClr val="191F2C"/>
                </a:solidFill>
                <a:latin typeface="Aptos"/>
              </a:rPr>
              <a:t>Q4(b–c) Friction experiment results</a:t>
            </a:r>
            <a:endParaRPr lang="en-US" sz="2500" dirty="0"/>
          </a:p>
        </p:txBody>
      </p:sp>
      <p:sp>
        <p:nvSpPr>
          <p:cNvPr id="6" name="Text 4"/>
          <p:cNvSpPr txBox="1"/>
          <p:nvPr/>
        </p:nvSpPr>
        <p:spPr>
          <a:xfrm>
            <a:off x="576072" y="658368"/>
            <a:ext cx="11018520" cy="256032"/>
          </a:xfrm>
          <a:prstGeom prst="rect">
            <a:avLst/>
          </a:prstGeom>
          <a:noFill/>
          <a:ln/>
        </p:spPr>
        <p:txBody>
          <a:bodyPr wrap="square" lIns="0" tIns="0" rIns="0" bIns="0" rtlCol="0" anchor="ctr">
            <a:normAutofit/>
          </a:bodyPr>
          <a:lstStyle/>
          <a:p>
            <a:pPr marL="0" indent="0" algn="ctr">
              <a:buNone/>
            </a:pPr>
            <a:r>
              <a:rPr sz="1000" b="0" dirty="0">
                <a:solidFill>
                  <a:srgbClr val="5D6778"/>
                </a:solidFill>
                <a:latin typeface="Aptos"/>
              </a:rPr>
              <a:t>Higher wheel–floor friction greatly reduces measured longitudinal slip</a:t>
            </a:r>
            <a:endParaRPr lang="en-US" sz="1000" dirty="0"/>
          </a:p>
        </p:txBody>
      </p:sp>
      <p:sp>
        <p:nvSpPr>
          <p:cNvPr id="7" name="Shape 5"/>
          <p:cNvSpPr/>
          <p:nvPr/>
        </p:nvSpPr>
        <p:spPr>
          <a:xfrm>
            <a:off x="502920" y="5440680"/>
            <a:ext cx="11137392" cy="0"/>
          </a:xfrm>
          <a:prstGeom prst="line">
            <a:avLst/>
          </a:prstGeom>
          <a:noFill/>
          <a:ln w="6350">
            <a:solidFill>
              <a:srgbClr val="D7E2EE"/>
            </a:solidFill>
            <a:prstDash val="solid"/>
          </a:ln>
        </p:spPr>
        <p:txBody>
          <a:bodyPr/>
          <a:lstStyle/>
          <a:p>
            <a:endParaRPr lang="nb-NO"/>
          </a:p>
        </p:txBody>
      </p:sp>
      <p:sp>
        <p:nvSpPr>
          <p:cNvPr id="8" name="Text 6"/>
          <p:cNvSpPr txBox="1"/>
          <p:nvPr/>
        </p:nvSpPr>
        <p:spPr>
          <a:xfrm>
            <a:off x="557784" y="5468112"/>
            <a:ext cx="6035040" cy="137160"/>
          </a:xfrm>
          <a:prstGeom prst="rect">
            <a:avLst/>
          </a:prstGeom>
          <a:noFill/>
          <a:ln/>
        </p:spPr>
        <p:txBody>
          <a:bodyPr wrap="square" lIns="0" tIns="0" rIns="0" bIns="0" rtlCol="0" anchor="ctr">
            <a:normAutofit/>
          </a:bodyPr>
          <a:lstStyle/>
          <a:p>
            <a:pPr marL="0" indent="0" algn="l">
              <a:buNone/>
            </a:pPr>
            <a:r>
              <a:rPr lang="en-US" sz="750" dirty="0">
                <a:solidFill>
                  <a:srgbClr val="8A9AAA"/>
                </a:solidFill>
                <a:latin typeface="Aptos" pitchFamily="34" charset="0"/>
                <a:ea typeface="Aptos" pitchFamily="34" charset="-122"/>
                <a:cs typeface="Aptos" pitchFamily="34" charset="-120"/>
              </a:rPr>
              <a:t>MAS512  |  Assignment 2  |  Group 9</a:t>
            </a:r>
            <a:endParaRPr lang="en-US" sz="750" dirty="0"/>
          </a:p>
        </p:txBody>
      </p:sp>
      <p:sp>
        <p:nvSpPr>
          <p:cNvPr id="9" name="Text 7"/>
          <p:cNvSpPr txBox="1"/>
          <p:nvPr/>
        </p:nvSpPr>
        <p:spPr>
          <a:xfrm>
            <a:off x="11475720" y="173736"/>
            <a:ext cx="237744" cy="219456"/>
          </a:xfrm>
          <a:prstGeom prst="rect">
            <a:avLst/>
          </a:prstGeom>
          <a:noFill/>
          <a:ln/>
        </p:spPr>
        <p:txBody>
          <a:bodyPr wrap="square" lIns="0" tIns="0" rIns="0" bIns="0" rtlCol="0" anchor="ctr">
            <a:normAutofit/>
          </a:bodyPr>
          <a:lstStyle/>
          <a:p>
            <a:pPr marL="0" indent="0" algn="ctr">
              <a:buNone/>
            </a:pPr>
            <a:r>
              <a:rPr lang="en-US" sz="1100" dirty="0">
                <a:solidFill>
                  <a:srgbClr val="142E53"/>
                </a:solidFill>
                <a:latin typeface="Aptos" pitchFamily="34" charset="0"/>
                <a:ea typeface="Aptos" pitchFamily="34" charset="-122"/>
                <a:cs typeface="Aptos" pitchFamily="34" charset="-120"/>
              </a:rPr>
              <a:t>18</a:t>
            </a:r>
            <a:endParaRPr lang="en-US" sz="1100" dirty="0"/>
          </a:p>
        </p:txBody>
      </p:sp>
      <p:sp>
        <p:nvSpPr>
          <p:cNvPr id="10" name="Rounded Rectangle 9"/>
          <p:cNvSpPr/>
          <p:nvPr/>
        </p:nvSpPr>
        <p:spPr>
          <a:xfrm>
            <a:off x="603504" y="950976"/>
            <a:ext cx="3246120" cy="1993392"/>
          </a:xfrm>
          <a:prstGeom prst="roundRect">
            <a:avLst>
              <a:gd name="adj" fmla="val 8000"/>
            </a:avLst>
          </a:prstGeom>
          <a:solidFill>
            <a:srgbClr val="FFF2D4"/>
          </a:solidFill>
          <a:ln>
            <a:solidFill>
              <a:srgbClr val="FFF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13232" y="1060704"/>
            <a:ext cx="2148840" cy="310896"/>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152400" tIns="38100" rtlCol="0" anchor="ctr"/>
          <a:lstStyle/>
          <a:p>
            <a:pPr algn="ctr"/>
            <a:r>
              <a:rPr sz="1450" b="1">
                <a:solidFill>
                  <a:srgbClr val="191F2C"/>
                </a:solidFill>
                <a:latin typeface="Aptos"/>
              </a:rPr>
              <a:t>Key results</a:t>
            </a:r>
          </a:p>
        </p:txBody>
      </p:sp>
      <p:sp>
        <p:nvSpPr>
          <p:cNvPr id="12" name="TextBox 11"/>
          <p:cNvSpPr txBox="1"/>
          <p:nvPr/>
        </p:nvSpPr>
        <p:spPr>
          <a:xfrm>
            <a:off x="914400" y="1444752"/>
            <a:ext cx="2606040" cy="1170432"/>
          </a:xfrm>
          <a:prstGeom prst="rect">
            <a:avLst/>
          </a:prstGeom>
          <a:noFill/>
        </p:spPr>
        <p:txBody>
          <a:bodyPr wrap="square">
            <a:spAutoFit/>
          </a:bodyPr>
          <a:lstStyle/>
          <a:p>
            <a:pPr>
              <a:spcAft>
                <a:spcPts val="500"/>
              </a:spcAft>
              <a:defRPr sz="1300">
                <a:solidFill>
                  <a:srgbClr val="191F2C"/>
                </a:solidFill>
                <a:latin typeface="Aptos"/>
              </a:defRPr>
            </a:pPr>
            <a:r>
              <a:t>3 baseline trials (μ = 0.12) and 3 higher-friction trials (μ = 1.0).</a:t>
            </a:r>
          </a:p>
          <a:p>
            <a:pPr>
              <a:spcAft>
                <a:spcPts val="500"/>
              </a:spcAft>
              <a:defRPr sz="1300">
                <a:solidFill>
                  <a:srgbClr val="191F2C"/>
                </a:solidFill>
                <a:latin typeface="Aptos"/>
              </a:defRPr>
            </a:pPr>
            <a:r>
              <a:t>6/6 runs reached the stopping area near the target.</a:t>
            </a:r>
          </a:p>
          <a:p>
            <a:pPr>
              <a:spcAft>
                <a:spcPts val="500"/>
              </a:spcAft>
              <a:defRPr sz="1300">
                <a:solidFill>
                  <a:srgbClr val="191F2C"/>
                </a:solidFill>
                <a:latin typeface="Aptos"/>
              </a:defRPr>
            </a:pPr>
            <a:r>
              <a:t>Mean |slip| dropped by 94.8%.</a:t>
            </a:r>
          </a:p>
        </p:txBody>
      </p:sp>
      <p:sp>
        <p:nvSpPr>
          <p:cNvPr id="13" name="Rounded Rectangle 12"/>
          <p:cNvSpPr/>
          <p:nvPr/>
        </p:nvSpPr>
        <p:spPr>
          <a:xfrm>
            <a:off x="4050792" y="950976"/>
            <a:ext cx="7498079" cy="1993392"/>
          </a:xfrm>
          <a:prstGeom prst="roundRect">
            <a:avLst>
              <a:gd name="adj" fmla="val 8000"/>
            </a:avLst>
          </a:prstGeom>
          <a:solidFill>
            <a:srgbClr val="FBE6F0"/>
          </a:solidFill>
          <a:ln>
            <a:solidFill>
              <a:srgbClr val="FB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160520" y="1060704"/>
            <a:ext cx="2606040" cy="310896"/>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152400" tIns="38100" rtlCol="0" anchor="ctr"/>
          <a:lstStyle/>
          <a:p>
            <a:pPr algn="ctr"/>
            <a:r>
              <a:rPr sz="1450" b="1">
                <a:solidFill>
                  <a:srgbClr val="191F2C"/>
                </a:solidFill>
                <a:latin typeface="Aptos"/>
              </a:rPr>
              <a:t>Condition summary</a:t>
            </a:r>
          </a:p>
        </p:txBody>
      </p:sp>
      <p:sp>
        <p:nvSpPr>
          <p:cNvPr id="15" name="TextBox 14"/>
          <p:cNvSpPr txBox="1"/>
          <p:nvPr/>
        </p:nvSpPr>
        <p:spPr>
          <a:xfrm>
            <a:off x="4389120" y="1481328"/>
            <a:ext cx="1417320" cy="201168"/>
          </a:xfrm>
          <a:prstGeom prst="rect">
            <a:avLst/>
          </a:prstGeom>
          <a:noFill/>
        </p:spPr>
        <p:txBody>
          <a:bodyPr wrap="none">
            <a:spAutoFit/>
          </a:bodyPr>
          <a:lstStyle/>
          <a:p>
            <a:r>
              <a:rPr sz="1250" b="1">
                <a:solidFill>
                  <a:srgbClr val="5D6778"/>
                </a:solidFill>
                <a:latin typeface="Aptos"/>
              </a:rPr>
              <a:t>Condition</a:t>
            </a:r>
          </a:p>
        </p:txBody>
      </p:sp>
      <p:sp>
        <p:nvSpPr>
          <p:cNvPr id="16" name="TextBox 15"/>
          <p:cNvSpPr txBox="1"/>
          <p:nvPr/>
        </p:nvSpPr>
        <p:spPr>
          <a:xfrm>
            <a:off x="5943600" y="1481328"/>
            <a:ext cx="1417320" cy="201168"/>
          </a:xfrm>
          <a:prstGeom prst="rect">
            <a:avLst/>
          </a:prstGeom>
          <a:noFill/>
        </p:spPr>
        <p:txBody>
          <a:bodyPr wrap="none">
            <a:spAutoFit/>
          </a:bodyPr>
          <a:lstStyle/>
          <a:p>
            <a:r>
              <a:rPr sz="1250" b="1">
                <a:solidFill>
                  <a:srgbClr val="5D6778"/>
                </a:solidFill>
                <a:latin typeface="Aptos"/>
              </a:rPr>
              <a:t>Mean |slip|</a:t>
            </a:r>
          </a:p>
        </p:txBody>
      </p:sp>
      <p:sp>
        <p:nvSpPr>
          <p:cNvPr id="17" name="TextBox 16"/>
          <p:cNvSpPr txBox="1"/>
          <p:nvPr/>
        </p:nvSpPr>
        <p:spPr>
          <a:xfrm>
            <a:off x="7543800" y="1481328"/>
            <a:ext cx="1417320" cy="201168"/>
          </a:xfrm>
          <a:prstGeom prst="rect">
            <a:avLst/>
          </a:prstGeom>
          <a:noFill/>
        </p:spPr>
        <p:txBody>
          <a:bodyPr wrap="none">
            <a:spAutoFit/>
          </a:bodyPr>
          <a:lstStyle/>
          <a:p>
            <a:r>
              <a:rPr sz="1250" b="1">
                <a:solidFill>
                  <a:srgbClr val="5D6778"/>
                </a:solidFill>
                <a:latin typeface="Aptos"/>
              </a:rPr>
              <a:t>Duration [s]</a:t>
            </a:r>
          </a:p>
        </p:txBody>
      </p:sp>
      <p:sp>
        <p:nvSpPr>
          <p:cNvPr id="18" name="TextBox 17"/>
          <p:cNvSpPr txBox="1"/>
          <p:nvPr/>
        </p:nvSpPr>
        <p:spPr>
          <a:xfrm>
            <a:off x="9125712" y="1481328"/>
            <a:ext cx="1417320" cy="201168"/>
          </a:xfrm>
          <a:prstGeom prst="rect">
            <a:avLst/>
          </a:prstGeom>
          <a:noFill/>
        </p:spPr>
        <p:txBody>
          <a:bodyPr wrap="none">
            <a:spAutoFit/>
          </a:bodyPr>
          <a:lstStyle/>
          <a:p>
            <a:r>
              <a:rPr sz="1250" b="1">
                <a:solidFill>
                  <a:srgbClr val="5D6778"/>
                </a:solidFill>
                <a:latin typeface="Aptos"/>
              </a:rPr>
              <a:t>Distance [m]</a:t>
            </a:r>
          </a:p>
        </p:txBody>
      </p:sp>
      <p:sp>
        <p:nvSpPr>
          <p:cNvPr id="19" name="Rectangle 18"/>
          <p:cNvSpPr/>
          <p:nvPr/>
        </p:nvSpPr>
        <p:spPr>
          <a:xfrm>
            <a:off x="4325112" y="1737360"/>
            <a:ext cx="6839712" cy="16510"/>
          </a:xfrm>
          <a:prstGeom prst="rect">
            <a:avLst/>
          </a:prstGeom>
          <a:solidFill>
            <a:srgbClr val="5D6778"/>
          </a:solidFill>
          <a:ln>
            <a:solidFill>
              <a:srgbClr val="5D67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89120" y="1828800"/>
            <a:ext cx="1508760" cy="228600"/>
          </a:xfrm>
          <a:prstGeom prst="rect">
            <a:avLst/>
          </a:prstGeom>
          <a:noFill/>
        </p:spPr>
        <p:txBody>
          <a:bodyPr wrap="none">
            <a:spAutoFit/>
          </a:bodyPr>
          <a:lstStyle/>
          <a:p>
            <a:r>
              <a:rPr sz="1400">
                <a:solidFill>
                  <a:srgbClr val="191F2C"/>
                </a:solidFill>
                <a:latin typeface="Aptos"/>
              </a:rPr>
              <a:t>Baseline</a:t>
            </a:r>
          </a:p>
        </p:txBody>
      </p:sp>
      <p:sp>
        <p:nvSpPr>
          <p:cNvPr id="21" name="TextBox 20"/>
          <p:cNvSpPr txBox="1"/>
          <p:nvPr/>
        </p:nvSpPr>
        <p:spPr>
          <a:xfrm>
            <a:off x="5943600" y="1828800"/>
            <a:ext cx="1325880" cy="228600"/>
          </a:xfrm>
          <a:prstGeom prst="rect">
            <a:avLst/>
          </a:prstGeom>
          <a:noFill/>
        </p:spPr>
        <p:txBody>
          <a:bodyPr wrap="none">
            <a:spAutoFit/>
          </a:bodyPr>
          <a:lstStyle/>
          <a:p>
            <a:r>
              <a:rPr sz="1400">
                <a:solidFill>
                  <a:srgbClr val="191F2C"/>
                </a:solidFill>
                <a:latin typeface="Aptos"/>
              </a:rPr>
              <a:t>6.7622%</a:t>
            </a:r>
          </a:p>
        </p:txBody>
      </p:sp>
      <p:sp>
        <p:nvSpPr>
          <p:cNvPr id="22" name="TextBox 21"/>
          <p:cNvSpPr txBox="1"/>
          <p:nvPr/>
        </p:nvSpPr>
        <p:spPr>
          <a:xfrm>
            <a:off x="7543800" y="1828800"/>
            <a:ext cx="1234440" cy="228600"/>
          </a:xfrm>
          <a:prstGeom prst="rect">
            <a:avLst/>
          </a:prstGeom>
          <a:noFill/>
        </p:spPr>
        <p:txBody>
          <a:bodyPr wrap="none">
            <a:spAutoFit/>
          </a:bodyPr>
          <a:lstStyle/>
          <a:p>
            <a:r>
              <a:rPr sz="1400">
                <a:solidFill>
                  <a:srgbClr val="191F2C"/>
                </a:solidFill>
                <a:latin typeface="Aptos"/>
              </a:rPr>
              <a:t>28.3520</a:t>
            </a:r>
          </a:p>
        </p:txBody>
      </p:sp>
      <p:sp>
        <p:nvSpPr>
          <p:cNvPr id="23" name="TextBox 22"/>
          <p:cNvSpPr txBox="1"/>
          <p:nvPr/>
        </p:nvSpPr>
        <p:spPr>
          <a:xfrm>
            <a:off x="9125712" y="1828800"/>
            <a:ext cx="1143000" cy="228600"/>
          </a:xfrm>
          <a:prstGeom prst="rect">
            <a:avLst/>
          </a:prstGeom>
          <a:noFill/>
        </p:spPr>
        <p:txBody>
          <a:bodyPr wrap="none">
            <a:spAutoFit/>
          </a:bodyPr>
          <a:lstStyle/>
          <a:p>
            <a:r>
              <a:rPr sz="1400">
                <a:solidFill>
                  <a:srgbClr val="191F2C"/>
                </a:solidFill>
                <a:latin typeface="Aptos"/>
              </a:rPr>
              <a:t>7.248</a:t>
            </a:r>
          </a:p>
        </p:txBody>
      </p:sp>
      <p:sp>
        <p:nvSpPr>
          <p:cNvPr id="24" name="TextBox 23"/>
          <p:cNvSpPr txBox="1"/>
          <p:nvPr/>
        </p:nvSpPr>
        <p:spPr>
          <a:xfrm>
            <a:off x="4389120" y="2139696"/>
            <a:ext cx="1508760" cy="228600"/>
          </a:xfrm>
          <a:prstGeom prst="rect">
            <a:avLst/>
          </a:prstGeom>
          <a:noFill/>
        </p:spPr>
        <p:txBody>
          <a:bodyPr wrap="none">
            <a:spAutoFit/>
          </a:bodyPr>
          <a:lstStyle/>
          <a:p>
            <a:r>
              <a:rPr sz="1400">
                <a:solidFill>
                  <a:srgbClr val="191F2C"/>
                </a:solidFill>
                <a:latin typeface="Aptos"/>
              </a:rPr>
              <a:t>High friction</a:t>
            </a:r>
          </a:p>
        </p:txBody>
      </p:sp>
      <p:sp>
        <p:nvSpPr>
          <p:cNvPr id="25" name="TextBox 24"/>
          <p:cNvSpPr txBox="1"/>
          <p:nvPr/>
        </p:nvSpPr>
        <p:spPr>
          <a:xfrm>
            <a:off x="5943600" y="2139696"/>
            <a:ext cx="1325880" cy="228600"/>
          </a:xfrm>
          <a:prstGeom prst="rect">
            <a:avLst/>
          </a:prstGeom>
          <a:noFill/>
        </p:spPr>
        <p:txBody>
          <a:bodyPr wrap="none">
            <a:spAutoFit/>
          </a:bodyPr>
          <a:lstStyle/>
          <a:p>
            <a:r>
              <a:rPr sz="1400">
                <a:solidFill>
                  <a:srgbClr val="191F2C"/>
                </a:solidFill>
                <a:latin typeface="Aptos"/>
              </a:rPr>
              <a:t>0.3515%</a:t>
            </a:r>
          </a:p>
        </p:txBody>
      </p:sp>
      <p:sp>
        <p:nvSpPr>
          <p:cNvPr id="26" name="TextBox 25"/>
          <p:cNvSpPr txBox="1"/>
          <p:nvPr/>
        </p:nvSpPr>
        <p:spPr>
          <a:xfrm>
            <a:off x="7543800" y="2139696"/>
            <a:ext cx="1234440" cy="228600"/>
          </a:xfrm>
          <a:prstGeom prst="rect">
            <a:avLst/>
          </a:prstGeom>
          <a:noFill/>
        </p:spPr>
        <p:txBody>
          <a:bodyPr wrap="none">
            <a:spAutoFit/>
          </a:bodyPr>
          <a:lstStyle/>
          <a:p>
            <a:r>
              <a:rPr sz="1400">
                <a:solidFill>
                  <a:srgbClr val="191F2C"/>
                </a:solidFill>
                <a:latin typeface="Aptos"/>
              </a:rPr>
              <a:t>27.9093</a:t>
            </a:r>
          </a:p>
        </p:txBody>
      </p:sp>
      <p:sp>
        <p:nvSpPr>
          <p:cNvPr id="27" name="TextBox 26"/>
          <p:cNvSpPr txBox="1"/>
          <p:nvPr/>
        </p:nvSpPr>
        <p:spPr>
          <a:xfrm>
            <a:off x="9125712" y="2139696"/>
            <a:ext cx="1143000" cy="228600"/>
          </a:xfrm>
          <a:prstGeom prst="rect">
            <a:avLst/>
          </a:prstGeom>
          <a:noFill/>
        </p:spPr>
        <p:txBody>
          <a:bodyPr wrap="none">
            <a:spAutoFit/>
          </a:bodyPr>
          <a:lstStyle/>
          <a:p>
            <a:r>
              <a:rPr sz="1400">
                <a:solidFill>
                  <a:srgbClr val="191F2C"/>
                </a:solidFill>
                <a:latin typeface="Aptos"/>
              </a:rPr>
              <a:t>7.176</a:t>
            </a:r>
          </a:p>
        </p:txBody>
      </p:sp>
      <p:sp>
        <p:nvSpPr>
          <p:cNvPr id="28" name="Rounded Rectangle 27"/>
          <p:cNvSpPr/>
          <p:nvPr/>
        </p:nvSpPr>
        <p:spPr>
          <a:xfrm>
            <a:off x="9765792" y="2359152"/>
            <a:ext cx="1554480" cy="329184"/>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101600" tIns="25400" rtlCol="0" anchor="ctr"/>
          <a:lstStyle/>
          <a:p>
            <a:pPr algn="ctr"/>
            <a:r>
              <a:rPr sz="1200" b="1">
                <a:solidFill>
                  <a:srgbClr val="191F2C"/>
                </a:solidFill>
                <a:latin typeface="Aptos"/>
              </a:rPr>
              <a:t>94.8% reduction</a:t>
            </a:r>
          </a:p>
        </p:txBody>
      </p:sp>
      <p:sp>
        <p:nvSpPr>
          <p:cNvPr id="29" name="Rounded Rectangle 28"/>
          <p:cNvSpPr/>
          <p:nvPr/>
        </p:nvSpPr>
        <p:spPr>
          <a:xfrm>
            <a:off x="603504" y="3145536"/>
            <a:ext cx="10954512" cy="2240280"/>
          </a:xfrm>
          <a:prstGeom prst="roundRect">
            <a:avLst>
              <a:gd name="adj" fmla="val 8000"/>
            </a:avLst>
          </a:prstGeom>
          <a:solidFill>
            <a:srgbClr val="E4EEFF"/>
          </a:solidFill>
          <a:ln>
            <a:solidFill>
              <a:srgbClr val="E4E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713232" y="3255264"/>
            <a:ext cx="2880360" cy="310896"/>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152400" tIns="38100" rtlCol="0" anchor="ctr"/>
          <a:lstStyle/>
          <a:p>
            <a:pPr algn="ctr"/>
            <a:r>
              <a:rPr sz="1450" b="1">
                <a:solidFill>
                  <a:srgbClr val="191F2C"/>
                </a:solidFill>
                <a:latin typeface="Aptos"/>
              </a:rPr>
              <a:t>Trajectory coloured by slip</a:t>
            </a:r>
          </a:p>
        </p:txBody>
      </p:sp>
      <p:pic>
        <p:nvPicPr>
          <p:cNvPr id="31" name="Picture 30" descr="image.png"/>
          <p:cNvPicPr>
            <a:picLocks noChangeAspect="1"/>
          </p:cNvPicPr>
          <p:nvPr/>
        </p:nvPicPr>
        <p:blipFill>
          <a:blip r:embed="rId3"/>
          <a:stretch>
            <a:fillRect/>
          </a:stretch>
        </p:blipFill>
        <p:spPr>
          <a:xfrm>
            <a:off x="3907683" y="3282937"/>
            <a:ext cx="6723594" cy="163653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33706226-0a30-4d53-a2fe-a398e0596b1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E21095A403984F8B2CDC03F4F04DC9" ma:contentTypeVersion="13" ma:contentTypeDescription="Create a new document." ma:contentTypeScope="" ma:versionID="229887b30d860afe8efe46fb4193a4b9">
  <xsd:schema xmlns:xsd="http://www.w3.org/2001/XMLSchema" xmlns:xs="http://www.w3.org/2001/XMLSchema" xmlns:p="http://schemas.microsoft.com/office/2006/metadata/properties" xmlns:ns3="33706226-0a30-4d53-a2fe-a398e0596b1f" xmlns:ns4="bf58510d-6325-4495-b2b7-1786a70f58ca" targetNamespace="http://schemas.microsoft.com/office/2006/metadata/properties" ma:root="true" ma:fieldsID="1375df6261dfbb336c5b2e9d06f1d5f2" ns3:_="" ns4:_="">
    <xsd:import namespace="33706226-0a30-4d53-a2fe-a398e0596b1f"/>
    <xsd:import namespace="bf58510d-6325-4495-b2b7-1786a70f58ca"/>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_activity" minOccurs="0"/>
                <xsd:element ref="ns4:SharedWithUsers" minOccurs="0"/>
                <xsd:element ref="ns4:SharedWithDetails" minOccurs="0"/>
                <xsd:element ref="ns4:SharingHintHash" minOccurs="0"/>
                <xsd:element ref="ns3:MediaServiceObjectDetectorVersions" minOccurs="0"/>
                <xsd:element ref="ns3:MediaServiceDateTaken"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706226-0a30-4d53-a2fe-a398e0596b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activity" ma:index="11" nillable="true" ma:displayName="_activity" ma:hidden="true" ma:internalName="_activity">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f58510d-6325-4495-b2b7-1786a70f58c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7A5AEA-FDD6-4992-A86F-6E1E8B2F3416}">
  <ds:schemaRefs>
    <ds:schemaRef ds:uri="http://schemas.microsoft.com/sharepoint/v3/contenttype/forms"/>
  </ds:schemaRefs>
</ds:datastoreItem>
</file>

<file path=customXml/itemProps2.xml><?xml version="1.0" encoding="utf-8"?>
<ds:datastoreItem xmlns:ds="http://schemas.openxmlformats.org/officeDocument/2006/customXml" ds:itemID="{F0A27E58-5D5F-4E41-B872-4A62E5978D34}">
  <ds:schemaRefs>
    <ds:schemaRef ds:uri="http://schemas.microsoft.com/office/2006/documentManagement/types"/>
    <ds:schemaRef ds:uri="http://purl.org/dc/terms/"/>
    <ds:schemaRef ds:uri="http://purl.org/dc/dcmitype/"/>
    <ds:schemaRef ds:uri="http://www.w3.org/XML/1998/namespace"/>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bf58510d-6325-4495-b2b7-1786a70f58ca"/>
    <ds:schemaRef ds:uri="33706226-0a30-4d53-a2fe-a398e0596b1f"/>
  </ds:schemaRefs>
</ds:datastoreItem>
</file>

<file path=customXml/itemProps3.xml><?xml version="1.0" encoding="utf-8"?>
<ds:datastoreItem xmlns:ds="http://schemas.openxmlformats.org/officeDocument/2006/customXml" ds:itemID="{D3A7D2EA-F679-4053-8514-CF88423EA9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706226-0a30-4d53-a2fe-a398e0596b1f"/>
    <ds:schemaRef ds:uri="bf58510d-6325-4495-b2b7-1786a70f5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133</TotalTime>
  <Words>2747</Words>
  <Application>Microsoft Office PowerPoint</Application>
  <PresentationFormat>Egendefinert</PresentationFormat>
  <Paragraphs>382</Paragraphs>
  <Slides>18</Slides>
  <Notes>18</Notes>
  <HiddenSlides>0</HiddenSlides>
  <MMClips>0</MMClips>
  <ScaleCrop>false</ScaleCrop>
  <HeadingPairs>
    <vt:vector size="6" baseType="variant">
      <vt:variant>
        <vt:lpstr>Brukte skrifter</vt:lpstr>
      </vt:variant>
      <vt:variant>
        <vt:i4>4</vt:i4>
      </vt:variant>
      <vt:variant>
        <vt:lpstr>Tema</vt:lpstr>
      </vt:variant>
      <vt:variant>
        <vt:i4>1</vt:i4>
      </vt:variant>
      <vt:variant>
        <vt:lpstr>Lysbildetitler</vt:lpstr>
      </vt:variant>
      <vt:variant>
        <vt:i4>18</vt:i4>
      </vt:variant>
    </vt:vector>
  </HeadingPairs>
  <TitlesOfParts>
    <vt:vector size="23" baseType="lpstr">
      <vt:lpstr>Aptos</vt:lpstr>
      <vt:lpstr>Aptos Display</vt:lpstr>
      <vt:lpstr>Aptos Mono</vt:lpstr>
      <vt:lpstr>Arial</vt:lpstr>
      <vt:lpstr>Office Theme</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vector>
  </TitlesOfParts>
  <Company>University of Agder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MAS512 Assignment 2 | Group 9</dc:title>
  <dc:subject>MAS512 Assignment 2 - Camera, LiDAR, Sensor Fusion and Autonomous Navigation</dc:subject>
  <dc:creator>MAS512 Group 9</dc:creator>
  <cp:lastModifiedBy>Renwa Hamid</cp:lastModifiedBy>
  <cp:revision>10</cp:revision>
  <dcterms:created xsi:type="dcterms:W3CDTF">2026-10-22T09:27:23Z</dcterms:created>
  <dcterms:modified xsi:type="dcterms:W3CDTF">2026-10-29T13:20:40Z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95cf23d-70b0-4a80-9221-1d774ac27fb2_Enabled">
    <vt:lpwstr>true</vt:lpwstr>
  </property>
  <property fmtid="{D5CDD505-2E9C-101B-9397-08002B2CF9AE}" pid="3" name="MSIP_Label_695cf23d-70b0-4a80-9221-1d774ac27fb2_SetDate">
    <vt:lpwstr>2026-10-25T09:37:06Z</vt:lpwstr>
  </property>
  <property fmtid="{D5CDD505-2E9C-101B-9397-08002B2CF9AE}" pid="4" name="MSIP_Label_695cf23d-70b0-4a80-9221-1d774ac27fb2_Method">
    <vt:lpwstr>Standard</vt:lpwstr>
  </property>
  <property fmtid="{D5CDD505-2E9C-101B-9397-08002B2CF9AE}" pid="5" name="MSIP_Label_695cf23d-70b0-4a80-9221-1d774ac27fb2_Name">
    <vt:lpwstr>Document internal</vt:lpwstr>
  </property>
  <property fmtid="{D5CDD505-2E9C-101B-9397-08002B2CF9AE}" pid="6" name="MSIP_Label_695cf23d-70b0-4a80-9221-1d774ac27fb2_SiteId">
    <vt:lpwstr>8482881e-3699-4b3f-b135-cf4800bc1efb</vt:lpwstr>
  </property>
  <property fmtid="{D5CDD505-2E9C-101B-9397-08002B2CF9AE}" pid="7" name="MSIP_Label_695cf23d-70b0-4a80-9221-1d774ac27fb2_ActionId">
    <vt:lpwstr>102cb0f4-aeb2-43ca-b583-0c81ca36ab1b</vt:lpwstr>
  </property>
  <property fmtid="{D5CDD505-2E9C-101B-9397-08002B2CF9AE}" pid="8" name="MSIP_Label_695cf23d-70b0-4a80-9221-1d774ac27fb2_ContentBits">
    <vt:lpwstr>0</vt:lpwstr>
  </property>
  <property fmtid="{D5CDD505-2E9C-101B-9397-08002B2CF9AE}" pid="9" name="MSIP_Label_695cf23d-70b0-4a80-9221-1d774ac27fb2_Tag">
    <vt:lpwstr>10, 3, 0, 1</vt:lpwstr>
  </property>
  <property fmtid="{D5CDD505-2E9C-101B-9397-08002B2CF9AE}" pid="10" name="ContentTypeId">
    <vt:lpwstr>0x01010084E21095A403984F8B2CDC03F4F04DC9</vt:lpwstr>
  </property>
</Properties>
</file>