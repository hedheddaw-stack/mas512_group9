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3"/>
  </p:notesMasterIdLst>
  <p:sldIdLst>
    <p:sldId id="261" r:id="rId5"/>
    <p:sldId id="256" r:id="rId6"/>
    <p:sldId id="258" r:id="rId7"/>
    <p:sldId id="260" r:id="rId8"/>
    <p:sldId id="259" r:id="rId9"/>
    <p:sldId id="274" r:id="rId10"/>
    <p:sldId id="279" r:id="rId11"/>
    <p:sldId id="257" r:id="rId12"/>
    <p:sldId id="280" r:id="rId13"/>
    <p:sldId id="264" r:id="rId14"/>
    <p:sldId id="265" r:id="rId15"/>
    <p:sldId id="266" r:id="rId16"/>
    <p:sldId id="270" r:id="rId17"/>
    <p:sldId id="268" r:id="rId18"/>
    <p:sldId id="269" r:id="rId19"/>
    <p:sldId id="271" r:id="rId20"/>
    <p:sldId id="272" r:id="rId21"/>
    <p:sldId id="273" r:id="rId22"/>
  </p:sldIdLst>
  <p:sldSz cx="12192000" cy="5668963"/>
  <p:notesSz cx="5668963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A5D6"/>
    <a:srgbClr val="F5BAD5"/>
    <a:srgbClr val="EDBBE5"/>
    <a:srgbClr val="D9B8D3"/>
    <a:srgbClr val="DE7AB9"/>
    <a:srgbClr val="F57FE7"/>
    <a:srgbClr val="C989D9"/>
    <a:srgbClr val="E058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816" dt="2026-09-28T07:38:43.448"/>
    <p1510:client id="{686220C6-DF72-7B1C-7F93-E0CEDE4E8660}" v="1484" dt="2026-09-28T05:49:44.325"/>
    <p1510:client id="{992A2AAF-DC8F-5E70-9D0F-20106362E9B0}" v="2" dt="2026-09-28T14:02:02.8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2" d="100"/>
          <a:sy n="122" d="100"/>
        </p:scale>
        <p:origin x="114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5237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" y="0"/>
            <a:ext cx="12191695" cy="5668963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 lang="nb-NO" sz="1488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5351501"/>
            <a:ext cx="800000" cy="247986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61">
                <a:solidFill>
                  <a:srgbClr val="7A879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360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539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96093" y="589572"/>
            <a:ext cx="3212412" cy="256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51" b="1" kern="0" spc="182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UNIVERSITY OF AGDER</a:t>
            </a:r>
          </a:p>
        </p:txBody>
      </p:sp>
      <p:sp>
        <p:nvSpPr>
          <p:cNvPr id="3" name="Text 1"/>
          <p:cNvSpPr/>
          <p:nvPr/>
        </p:nvSpPr>
        <p:spPr>
          <a:xfrm>
            <a:off x="2606439" y="967503"/>
            <a:ext cx="6976603" cy="6500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2521" b="1">
                <a:solidFill>
                  <a:srgbClr val="102A5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MAS512  Assignment 1</a:t>
            </a:r>
            <a:endParaRPr lang="en-US" sz="2521"/>
          </a:p>
        </p:txBody>
      </p:sp>
      <p:sp>
        <p:nvSpPr>
          <p:cNvPr id="4" name="Text 2"/>
          <p:cNvSpPr/>
          <p:nvPr/>
        </p:nvSpPr>
        <p:spPr>
          <a:xfrm>
            <a:off x="4911817" y="1662895"/>
            <a:ext cx="2380964" cy="340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88" b="1">
                <a:solidFill>
                  <a:srgbClr val="315C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9</a:t>
            </a:r>
            <a:endParaRPr lang="en-US" sz="1488"/>
          </a:p>
        </p:txBody>
      </p:sp>
      <p:sp>
        <p:nvSpPr>
          <p:cNvPr id="5" name="Shape 3"/>
          <p:cNvSpPr/>
          <p:nvPr/>
        </p:nvSpPr>
        <p:spPr>
          <a:xfrm>
            <a:off x="2757611" y="2207116"/>
            <a:ext cx="6674259" cy="58957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5240">
            <a:solidFill>
              <a:srgbClr val="D9E2EF"/>
            </a:solidFill>
            <a:prstDash val="solid"/>
          </a:ln>
          <a:effectLst>
            <a:outerShdw blurRad="19050" dist="50800" dir="2700000" algn="bl" rotWithShape="0">
              <a:srgbClr val="CBD5E1">
                <a:alpha val="12000"/>
              </a:srgbClr>
            </a:outerShdw>
          </a:effectLst>
        </p:spPr>
        <p:txBody>
          <a:bodyPr/>
          <a:lstStyle/>
          <a:p>
            <a:endParaRPr lang="nb-NO" sz="1488"/>
          </a:p>
        </p:txBody>
      </p:sp>
      <p:sp>
        <p:nvSpPr>
          <p:cNvPr id="6" name="Shape 4"/>
          <p:cNvSpPr/>
          <p:nvPr/>
        </p:nvSpPr>
        <p:spPr>
          <a:xfrm>
            <a:off x="2923901" y="2335612"/>
            <a:ext cx="1360551" cy="332579"/>
          </a:xfrm>
          <a:prstGeom prst="roundRect">
            <a:avLst>
              <a:gd name="adj" fmla="val 22727"/>
            </a:avLst>
          </a:prstGeom>
          <a:solidFill>
            <a:srgbClr val="DCEBFF"/>
          </a:solidFill>
          <a:ln w="12700">
            <a:solidFill>
              <a:srgbClr val="DCEBFF"/>
            </a:solidFill>
            <a:prstDash val="solid"/>
          </a:ln>
        </p:spPr>
        <p:txBody>
          <a:bodyPr/>
          <a:lstStyle/>
          <a:p>
            <a:endParaRPr lang="nb-NO" sz="1488"/>
          </a:p>
        </p:txBody>
      </p:sp>
      <p:sp>
        <p:nvSpPr>
          <p:cNvPr id="7" name="Text 5"/>
          <p:cNvSpPr/>
          <p:nvPr/>
        </p:nvSpPr>
        <p:spPr>
          <a:xfrm>
            <a:off x="2923901" y="2350730"/>
            <a:ext cx="1360551" cy="287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9" b="1">
                <a:solidFill>
                  <a:srgbClr val="2457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Computer Vision</a:t>
            </a:r>
            <a:endParaRPr lang="en-US" sz="909"/>
          </a:p>
        </p:txBody>
      </p:sp>
      <p:sp>
        <p:nvSpPr>
          <p:cNvPr id="8" name="Shape 6"/>
          <p:cNvSpPr/>
          <p:nvPr/>
        </p:nvSpPr>
        <p:spPr>
          <a:xfrm>
            <a:off x="4420506" y="2335612"/>
            <a:ext cx="1625103" cy="332579"/>
          </a:xfrm>
          <a:prstGeom prst="roundRect">
            <a:avLst>
              <a:gd name="adj" fmla="val 22727"/>
            </a:avLst>
          </a:prstGeom>
          <a:solidFill>
            <a:srgbClr val="FADCE7"/>
          </a:solidFill>
          <a:ln w="12700">
            <a:solidFill>
              <a:srgbClr val="FADCE7"/>
            </a:solidFill>
            <a:prstDash val="solid"/>
          </a:ln>
        </p:spPr>
        <p:txBody>
          <a:bodyPr/>
          <a:lstStyle/>
          <a:p>
            <a:endParaRPr lang="nb-NO" sz="1488"/>
          </a:p>
        </p:txBody>
      </p:sp>
      <p:sp>
        <p:nvSpPr>
          <p:cNvPr id="9" name="Text 7"/>
          <p:cNvSpPr/>
          <p:nvPr/>
        </p:nvSpPr>
        <p:spPr>
          <a:xfrm>
            <a:off x="4420506" y="2350730"/>
            <a:ext cx="1625103" cy="287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9" b="1">
                <a:solidFill>
                  <a:srgbClr val="A937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 Detection</a:t>
            </a:r>
            <a:endParaRPr lang="en-US" sz="909"/>
          </a:p>
        </p:txBody>
      </p:sp>
      <p:sp>
        <p:nvSpPr>
          <p:cNvPr id="10" name="Shape 8"/>
          <p:cNvSpPr/>
          <p:nvPr/>
        </p:nvSpPr>
        <p:spPr>
          <a:xfrm>
            <a:off x="6181664" y="2335612"/>
            <a:ext cx="1171586" cy="332579"/>
          </a:xfrm>
          <a:prstGeom prst="roundRect">
            <a:avLst>
              <a:gd name="adj" fmla="val 22727"/>
            </a:avLst>
          </a:prstGeom>
          <a:solidFill>
            <a:srgbClr val="D8F2EA"/>
          </a:solidFill>
          <a:ln w="12700">
            <a:solidFill>
              <a:srgbClr val="D8F2EA"/>
            </a:solidFill>
            <a:prstDash val="solid"/>
          </a:ln>
        </p:spPr>
        <p:txBody>
          <a:bodyPr/>
          <a:lstStyle/>
          <a:p>
            <a:endParaRPr lang="nb-NO" sz="1488"/>
          </a:p>
        </p:txBody>
      </p:sp>
      <p:sp>
        <p:nvSpPr>
          <p:cNvPr id="11" name="Text 9"/>
          <p:cNvSpPr/>
          <p:nvPr/>
        </p:nvSpPr>
        <p:spPr>
          <a:xfrm>
            <a:off x="6181664" y="2350730"/>
            <a:ext cx="1171586" cy="287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9" b="1">
                <a:solidFill>
                  <a:srgbClr val="1C7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Depth Data</a:t>
            </a:r>
            <a:endParaRPr lang="en-US" sz="909"/>
          </a:p>
        </p:txBody>
      </p:sp>
      <p:sp>
        <p:nvSpPr>
          <p:cNvPr id="12" name="Shape 10"/>
          <p:cNvSpPr/>
          <p:nvPr/>
        </p:nvSpPr>
        <p:spPr>
          <a:xfrm>
            <a:off x="7489305" y="2335612"/>
            <a:ext cx="1625103" cy="332579"/>
          </a:xfrm>
          <a:prstGeom prst="roundRect">
            <a:avLst>
              <a:gd name="adj" fmla="val 22727"/>
            </a:avLst>
          </a:prstGeom>
          <a:solidFill>
            <a:srgbClr val="E9DDF8"/>
          </a:solidFill>
          <a:ln w="12700">
            <a:solidFill>
              <a:srgbClr val="E9DDF8"/>
            </a:solidFill>
            <a:prstDash val="solid"/>
          </a:ln>
        </p:spPr>
        <p:txBody>
          <a:bodyPr/>
          <a:lstStyle/>
          <a:p>
            <a:endParaRPr lang="nb-NO" sz="1488"/>
          </a:p>
        </p:txBody>
      </p:sp>
      <p:sp>
        <p:nvSpPr>
          <p:cNvPr id="13" name="Text 11"/>
          <p:cNvSpPr/>
          <p:nvPr/>
        </p:nvSpPr>
        <p:spPr>
          <a:xfrm>
            <a:off x="7489305" y="2350730"/>
            <a:ext cx="1625103" cy="287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9" b="1">
                <a:solidFill>
                  <a:srgbClr val="6941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Evaluation</a:t>
            </a:r>
            <a:endParaRPr lang="en-US" sz="909"/>
          </a:p>
        </p:txBody>
      </p:sp>
      <p:sp>
        <p:nvSpPr>
          <p:cNvPr id="14" name="Text 12"/>
          <p:cNvSpPr/>
          <p:nvPr/>
        </p:nvSpPr>
        <p:spPr>
          <a:xfrm>
            <a:off x="4798437" y="3061240"/>
            <a:ext cx="2592606" cy="287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>
                <a:solidFill>
                  <a:srgbClr val="334155"/>
                </a:solidFill>
                <a:latin typeface="Aptos"/>
                <a:ea typeface="Aptos" pitchFamily="34" charset="-122"/>
                <a:cs typeface="Aptos" pitchFamily="34" charset="-120"/>
              </a:rPr>
              <a:t> By:</a:t>
            </a:r>
            <a:endParaRPr lang="en-US" sz="1200">
              <a:latin typeface="Apto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3475680" y="4852632"/>
            <a:ext cx="5238121" cy="2116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8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MAS512  |  Assignment 1  |  Group 9</a:t>
            </a:r>
            <a:endParaRPr lang="en-US" sz="868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 marL="0" algn="l" defTabSz="914400" rtl="0" eaLnBrk="1" latinLnBrk="0" hangingPunct="1">
              <a:defRPr sz="900" kern="12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/>
              <a:pPr algn="l"/>
              <a:t>1</a:t>
            </a:fld>
            <a:endParaRPr lang="en-US"/>
          </a:p>
        </p:txBody>
      </p:sp>
      <p:sp>
        <p:nvSpPr>
          <p:cNvPr id="32" name="Rounded Rectangle 31"/>
          <p:cNvSpPr/>
          <p:nvPr/>
        </p:nvSpPr>
        <p:spPr>
          <a:xfrm>
            <a:off x="2007353" y="3454288"/>
            <a:ext cx="1549516" cy="75586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35" name="TextBox 34"/>
          <p:cNvSpPr txBox="1"/>
          <p:nvPr/>
        </p:nvSpPr>
        <p:spPr>
          <a:xfrm>
            <a:off x="2278133" y="3738092"/>
            <a:ext cx="1087157" cy="26404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nb-NO" sz="1116" b="1" err="1">
                <a:solidFill>
                  <a:srgbClr val="102A56"/>
                </a:solidFill>
                <a:latin typeface="Aptos"/>
              </a:rPr>
              <a:t>Renwa</a:t>
            </a:r>
            <a:r>
              <a:rPr lang="nb-NO" sz="1116" b="1">
                <a:solidFill>
                  <a:srgbClr val="102A56"/>
                </a:solidFill>
                <a:latin typeface="Aptos"/>
              </a:rPr>
              <a:t> Hamid</a:t>
            </a:r>
            <a:endParaRPr sz="1116" b="1">
              <a:solidFill>
                <a:srgbClr val="102A56"/>
              </a:solidFill>
              <a:latin typeface="Aptos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3806309" y="3458319"/>
            <a:ext cx="1996496" cy="75586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40" name="TextBox 39"/>
          <p:cNvSpPr txBox="1"/>
          <p:nvPr/>
        </p:nvSpPr>
        <p:spPr>
          <a:xfrm>
            <a:off x="4030845" y="3758403"/>
            <a:ext cx="1470274" cy="26404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nb-NO" sz="1116" b="1">
                <a:solidFill>
                  <a:srgbClr val="102A56"/>
                </a:solidFill>
                <a:latin typeface="Aptos"/>
              </a:rPr>
              <a:t>Sebastian Skogland</a:t>
            </a:r>
            <a:endParaRPr sz="1116" b="1">
              <a:solidFill>
                <a:srgbClr val="102A56"/>
              </a:solidFill>
              <a:latin typeface="Aptos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6013514" y="3454288"/>
            <a:ext cx="1899814" cy="75586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47" name="Rounded Rectangle 46"/>
          <p:cNvSpPr/>
          <p:nvPr/>
        </p:nvSpPr>
        <p:spPr>
          <a:xfrm>
            <a:off x="8113491" y="3439170"/>
            <a:ext cx="2259042" cy="75586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50" name="TextBox 49"/>
          <p:cNvSpPr txBox="1"/>
          <p:nvPr/>
        </p:nvSpPr>
        <p:spPr>
          <a:xfrm>
            <a:off x="6077569" y="3758403"/>
            <a:ext cx="1835759" cy="26404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nb-NO" sz="1116" b="1" dirty="0">
                <a:solidFill>
                  <a:srgbClr val="102A56"/>
                </a:solidFill>
                <a:latin typeface="Aptos"/>
              </a:rPr>
              <a:t>Hedda Winther-Sørensen</a:t>
            </a:r>
            <a:endParaRPr sz="1116" b="1" dirty="0">
              <a:solidFill>
                <a:srgbClr val="102A56"/>
              </a:solidFill>
              <a:latin typeface="Aptos"/>
            </a:endParaRPr>
          </a:p>
        </p:txBody>
      </p:sp>
      <p:sp>
        <p:nvSpPr>
          <p:cNvPr id="16" name="Shape 0">
            <a:extLst>
              <a:ext uri="{FF2B5EF4-FFF2-40B4-BE49-F238E27FC236}">
                <a16:creationId xmlns:a16="http://schemas.microsoft.com/office/drawing/2014/main" id="{FBC5E760-48E4-627F-5C2B-9D0E9C336F8E}"/>
              </a:ext>
            </a:extLst>
          </p:cNvPr>
          <p:cNvSpPr/>
          <p:nvPr/>
        </p:nvSpPr>
        <p:spPr>
          <a:xfrm>
            <a:off x="10059981" y="-108309"/>
            <a:ext cx="1083089" cy="1083089"/>
          </a:xfrm>
          <a:prstGeom prst="ellipse">
            <a:avLst/>
          </a:prstGeom>
          <a:solidFill>
            <a:srgbClr val="E3F3EE"/>
          </a:solidFill>
          <a:ln w="6350">
            <a:solidFill>
              <a:srgbClr val="E3F3EE"/>
            </a:solidFill>
            <a:prstDash val="solid"/>
          </a:ln>
        </p:spPr>
        <p:txBody>
          <a:bodyPr/>
          <a:lstStyle/>
          <a:p>
            <a:endParaRPr lang="nb-NO" sz="1476"/>
          </a:p>
        </p:txBody>
      </p:sp>
      <p:sp>
        <p:nvSpPr>
          <p:cNvPr id="18" name="Shape 1">
            <a:extLst>
              <a:ext uri="{FF2B5EF4-FFF2-40B4-BE49-F238E27FC236}">
                <a16:creationId xmlns:a16="http://schemas.microsoft.com/office/drawing/2014/main" id="{735EA84A-0B16-4B65-4424-F672E9DD44BD}"/>
              </a:ext>
            </a:extLst>
          </p:cNvPr>
          <p:cNvSpPr/>
          <p:nvPr/>
        </p:nvSpPr>
        <p:spPr>
          <a:xfrm>
            <a:off x="10303675" y="0"/>
            <a:ext cx="0" cy="649853"/>
          </a:xfrm>
          <a:prstGeom prst="line">
            <a:avLst/>
          </a:prstGeom>
          <a:noFill/>
          <a:ln w="38100">
            <a:solidFill>
              <a:srgbClr val="3B8FC0"/>
            </a:solidFill>
            <a:prstDash val="solid"/>
          </a:ln>
        </p:spPr>
        <p:txBody>
          <a:bodyPr/>
          <a:lstStyle/>
          <a:p>
            <a:endParaRPr lang="nb-NO" sz="1476"/>
          </a:p>
        </p:txBody>
      </p:sp>
      <p:sp>
        <p:nvSpPr>
          <p:cNvPr id="20" name="Shape 2">
            <a:extLst>
              <a:ext uri="{FF2B5EF4-FFF2-40B4-BE49-F238E27FC236}">
                <a16:creationId xmlns:a16="http://schemas.microsoft.com/office/drawing/2014/main" id="{6B2F8D6D-CF43-E4B1-3AB1-15D4D3BD94FF}"/>
              </a:ext>
            </a:extLst>
          </p:cNvPr>
          <p:cNvSpPr/>
          <p:nvPr/>
        </p:nvSpPr>
        <p:spPr>
          <a:xfrm>
            <a:off x="10233275" y="140802"/>
            <a:ext cx="129970" cy="129970"/>
          </a:xfrm>
          <a:prstGeom prst="ellipse">
            <a:avLst/>
          </a:prstGeom>
          <a:solidFill>
            <a:srgbClr val="4A86B8"/>
          </a:solidFill>
          <a:ln w="6350">
            <a:solidFill>
              <a:srgbClr val="2F5F8A"/>
            </a:solidFill>
            <a:prstDash val="solid"/>
          </a:ln>
        </p:spPr>
        <p:txBody>
          <a:bodyPr/>
          <a:lstStyle/>
          <a:p>
            <a:endParaRPr lang="nb-NO" sz="1476"/>
          </a:p>
        </p:txBody>
      </p:sp>
      <p:sp>
        <p:nvSpPr>
          <p:cNvPr id="22" name="Shape 3">
            <a:extLst>
              <a:ext uri="{FF2B5EF4-FFF2-40B4-BE49-F238E27FC236}">
                <a16:creationId xmlns:a16="http://schemas.microsoft.com/office/drawing/2014/main" id="{8272F056-CD88-8835-833C-D6B045EC4654}"/>
              </a:ext>
            </a:extLst>
          </p:cNvPr>
          <p:cNvSpPr/>
          <p:nvPr/>
        </p:nvSpPr>
        <p:spPr>
          <a:xfrm>
            <a:off x="10206197" y="639022"/>
            <a:ext cx="238280" cy="259941"/>
          </a:xfrm>
          <a:prstGeom prst="roundRect">
            <a:avLst>
              <a:gd name="adj" fmla="val 18880"/>
            </a:avLst>
          </a:prstGeom>
          <a:solidFill>
            <a:srgbClr val="5B95C8"/>
          </a:solidFill>
          <a:ln w="19050">
            <a:solidFill>
              <a:srgbClr val="2F5F8A"/>
            </a:solidFill>
            <a:prstDash val="solid"/>
          </a:ln>
        </p:spPr>
        <p:txBody>
          <a:bodyPr/>
          <a:lstStyle/>
          <a:p>
            <a:endParaRPr lang="nb-NO" sz="1476"/>
          </a:p>
        </p:txBody>
      </p:sp>
      <p:sp>
        <p:nvSpPr>
          <p:cNvPr id="24" name="Shape 4">
            <a:extLst>
              <a:ext uri="{FF2B5EF4-FFF2-40B4-BE49-F238E27FC236}">
                <a16:creationId xmlns:a16="http://schemas.microsoft.com/office/drawing/2014/main" id="{ECC887B7-D0A7-BE01-C35F-874D47A9A167}"/>
              </a:ext>
            </a:extLst>
          </p:cNvPr>
          <p:cNvSpPr/>
          <p:nvPr/>
        </p:nvSpPr>
        <p:spPr>
          <a:xfrm>
            <a:off x="9707977" y="487390"/>
            <a:ext cx="433236" cy="0"/>
          </a:xfrm>
          <a:prstGeom prst="line">
            <a:avLst/>
          </a:prstGeom>
          <a:noFill/>
          <a:ln w="19050">
            <a:solidFill>
              <a:srgbClr val="8FC3E8"/>
            </a:solidFill>
            <a:prstDash val="dash"/>
          </a:ln>
        </p:spPr>
        <p:txBody>
          <a:bodyPr/>
          <a:lstStyle/>
          <a:p>
            <a:endParaRPr lang="nb-NO" sz="1476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9511" y="120099"/>
            <a:ext cx="12191695" cy="45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 Q1 YOLO Model Development</a:t>
            </a:r>
            <a:endParaRPr lang="en-US" sz="3400"/>
          </a:p>
        </p:txBody>
      </p:sp>
      <p:sp>
        <p:nvSpPr>
          <p:cNvPr id="3" name="Shape 1"/>
          <p:cNvSpPr/>
          <p:nvPr/>
        </p:nvSpPr>
        <p:spPr>
          <a:xfrm>
            <a:off x="2397986" y="931970"/>
            <a:ext cx="7378841" cy="358196"/>
          </a:xfrm>
          <a:prstGeom prst="roundRect">
            <a:avLst>
              <a:gd name="adj" fmla="val 25528"/>
            </a:avLst>
          </a:prstGeom>
          <a:solidFill>
            <a:srgbClr val="DCE8F8"/>
          </a:solidFill>
          <a:ln w="12700">
            <a:solidFill>
              <a:srgbClr val="B7CDEB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4" name="Text 2"/>
          <p:cNvSpPr txBox="1"/>
          <p:nvPr/>
        </p:nvSpPr>
        <p:spPr>
          <a:xfrm>
            <a:off x="2292912" y="931970"/>
            <a:ext cx="7378841" cy="358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</a:t>
            </a:r>
            <a:r>
              <a:rPr lang="en-US" sz="125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YOLO model to detect the swinging load in RGB frames extracted from the recorded video.</a:t>
            </a:r>
            <a:endParaRPr lang="en-US" sz="1250"/>
          </a:p>
        </p:txBody>
      </p:sp>
      <p:sp>
        <p:nvSpPr>
          <p:cNvPr id="5" name="Shape 3"/>
          <p:cNvSpPr/>
          <p:nvPr/>
        </p:nvSpPr>
        <p:spPr>
          <a:xfrm>
            <a:off x="60227" y="1512549"/>
            <a:ext cx="1849024" cy="3539426"/>
          </a:xfrm>
          <a:prstGeom prst="roundRect">
            <a:avLst>
              <a:gd name="adj" fmla="val 6017"/>
            </a:avLst>
          </a:prstGeom>
          <a:solidFill>
            <a:srgbClr val="E4EEFA"/>
          </a:solidFill>
          <a:ln w="9525">
            <a:solidFill>
              <a:srgbClr val="D3DFF0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6" name="Shape 4"/>
          <p:cNvSpPr/>
          <p:nvPr/>
        </p:nvSpPr>
        <p:spPr>
          <a:xfrm>
            <a:off x="59942" y="1485546"/>
            <a:ext cx="403785" cy="403785"/>
          </a:xfrm>
          <a:prstGeom prst="ellipse">
            <a:avLst/>
          </a:prstGeom>
          <a:solidFill>
            <a:srgbClr val="3B7DD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7" name="Text 5"/>
          <p:cNvSpPr txBox="1"/>
          <p:nvPr/>
        </p:nvSpPr>
        <p:spPr>
          <a:xfrm>
            <a:off x="59942" y="1485546"/>
            <a:ext cx="403785" cy="4037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/>
          </a:p>
        </p:txBody>
      </p:sp>
      <p:sp>
        <p:nvSpPr>
          <p:cNvPr id="8" name="Text 6"/>
          <p:cNvSpPr txBox="1"/>
          <p:nvPr/>
        </p:nvSpPr>
        <p:spPr>
          <a:xfrm>
            <a:off x="502802" y="1563698"/>
            <a:ext cx="1367658" cy="3256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400"/>
          </a:p>
        </p:txBody>
      </p:sp>
      <p:sp>
        <p:nvSpPr>
          <p:cNvPr id="9" name="Text 7"/>
          <p:cNvSpPr txBox="1"/>
          <p:nvPr/>
        </p:nvSpPr>
        <p:spPr>
          <a:xfrm>
            <a:off x="189431" y="3445050"/>
            <a:ext cx="1635395" cy="146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D3D"/>
                </a:solidFill>
                <a:latin typeface="Calibri"/>
                <a:ea typeface="Calibri"/>
                <a:cs typeface="Calibri"/>
              </a:rPr>
              <a:t>Extracted RGB frames</a:t>
            </a:r>
            <a:endParaRPr lang="en-US" sz="1200" b="1" dirty="0">
              <a:latin typeface="Calibri"/>
              <a:ea typeface="Calibri"/>
              <a:cs typeface="Calibri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1F2D3D"/>
                </a:solidFill>
                <a:latin typeface="Calibri"/>
                <a:ea typeface="Calibri"/>
                <a:cs typeface="Calibri"/>
              </a:rPr>
              <a:t>from recorded video</a:t>
            </a:r>
          </a:p>
          <a:p>
            <a:pPr algn="ctr"/>
            <a:endParaRPr lang="en-US" sz="1200" dirty="0">
              <a:solidFill>
                <a:srgbClr val="1F2D3D"/>
              </a:solidFill>
              <a:ea typeface="Calibri"/>
              <a:cs typeface="Calibri"/>
            </a:endParaRPr>
          </a:p>
          <a:p>
            <a:pPr algn="ctr"/>
            <a:endParaRPr lang="en-US" sz="1200" dirty="0">
              <a:solidFill>
                <a:srgbClr val="1F2D3D"/>
              </a:solidFill>
              <a:ea typeface="Calibri"/>
              <a:cs typeface="Calibri"/>
            </a:endParaRPr>
          </a:p>
          <a:p>
            <a:pPr marL="139700" indent="-139700">
              <a:spcAft>
                <a:spcPts val="100"/>
              </a:spcAft>
              <a:buFont typeface="Arial"/>
              <a:buChar char="•"/>
            </a:pPr>
            <a:r>
              <a:rPr lang="en-US" sz="1000" dirty="0">
                <a:solidFill>
                  <a:srgbClr val="1F2D3D"/>
                </a:solidFill>
                <a:ea typeface="Calibri"/>
                <a:cs typeface="Calibri"/>
              </a:rPr>
              <a:t>900 training RGB frames</a:t>
            </a:r>
            <a:endParaRPr lang="en-US" sz="1000" dirty="0">
              <a:solidFill>
                <a:srgbClr val="000000"/>
              </a:solidFill>
              <a:ea typeface="Calibri"/>
              <a:cs typeface="Calibri"/>
            </a:endParaRPr>
          </a:p>
          <a:p>
            <a:pPr marL="139700" indent="-139700">
              <a:spcAft>
                <a:spcPts val="100"/>
              </a:spcAft>
              <a:buFont typeface="Arial"/>
              <a:buChar char="•"/>
            </a:pPr>
            <a:endParaRPr lang="en-US" sz="1000" dirty="0">
              <a:solidFill>
                <a:srgbClr val="000000"/>
              </a:solidFill>
              <a:ea typeface="Calibri"/>
              <a:cs typeface="Calibri"/>
            </a:endParaRPr>
          </a:p>
          <a:p>
            <a:pPr marL="139700" indent="-139700">
              <a:spcAft>
                <a:spcPts val="100"/>
              </a:spcAft>
              <a:buFont typeface="Arial"/>
              <a:buChar char="•"/>
            </a:pPr>
            <a:r>
              <a:rPr lang="en-US" sz="1000" dirty="0">
                <a:solidFill>
                  <a:srgbClr val="1F2D3D"/>
                </a:solidFill>
                <a:ea typeface="Calibri"/>
                <a:cs typeface="Calibri"/>
              </a:rPr>
              <a:t>300 test RGB frames</a:t>
            </a:r>
            <a:endParaRPr lang="en-US" sz="1000" dirty="0">
              <a:solidFill>
                <a:srgbClr val="000000"/>
              </a:solidFill>
              <a:ea typeface="Calibri"/>
              <a:cs typeface="Calibri"/>
            </a:endParaRPr>
          </a:p>
          <a:p>
            <a:pPr algn="ctr"/>
            <a:endParaRPr lang="en-US" sz="1200" dirty="0">
              <a:solidFill>
                <a:srgbClr val="1F2D3D"/>
              </a:solidFill>
              <a:ea typeface="Calibri"/>
              <a:cs typeface="Calibri"/>
            </a:endParaRPr>
          </a:p>
          <a:p>
            <a:pPr algn="ctr"/>
            <a:endParaRPr lang="en-US" sz="1200" dirty="0">
              <a:solidFill>
                <a:srgbClr val="1F2D3D"/>
              </a:solidFill>
              <a:ea typeface="Calibri"/>
              <a:cs typeface="Calibri"/>
            </a:endParaRPr>
          </a:p>
          <a:p>
            <a:pPr algn="ctr"/>
            <a:endParaRPr lang="en-US" sz="1200" dirty="0">
              <a:solidFill>
                <a:srgbClr val="1F2D3D"/>
              </a:solidFill>
              <a:ea typeface="Calibri"/>
              <a:cs typeface="Calibri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007181" y="1498668"/>
            <a:ext cx="1914676" cy="3535941"/>
          </a:xfrm>
          <a:prstGeom prst="roundRect">
            <a:avLst>
              <a:gd name="adj" fmla="val 5711"/>
            </a:avLst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rgbClr val="D3DFF0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3" name="Shape 11"/>
          <p:cNvSpPr/>
          <p:nvPr/>
        </p:nvSpPr>
        <p:spPr>
          <a:xfrm>
            <a:off x="2000714" y="1485546"/>
            <a:ext cx="403785" cy="403785"/>
          </a:xfrm>
          <a:prstGeom prst="ellipse">
            <a:avLst/>
          </a:prstGeom>
          <a:solidFill>
            <a:srgbClr val="5AA9E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4" name="Text 12"/>
          <p:cNvSpPr txBox="1"/>
          <p:nvPr/>
        </p:nvSpPr>
        <p:spPr>
          <a:xfrm>
            <a:off x="2000714" y="1485546"/>
            <a:ext cx="403785" cy="4037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/>
          </a:p>
        </p:txBody>
      </p:sp>
      <p:sp>
        <p:nvSpPr>
          <p:cNvPr id="15" name="Text 13"/>
          <p:cNvSpPr txBox="1"/>
          <p:nvPr/>
        </p:nvSpPr>
        <p:spPr>
          <a:xfrm>
            <a:off x="2443574" y="1563698"/>
            <a:ext cx="1465348" cy="3256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selection</a:t>
            </a:r>
            <a:endParaRPr lang="en-US" sz="1400"/>
          </a:p>
        </p:txBody>
      </p:sp>
      <p:sp>
        <p:nvSpPr>
          <p:cNvPr id="16" name="Text 14"/>
          <p:cNvSpPr txBox="1"/>
          <p:nvPr/>
        </p:nvSpPr>
        <p:spPr>
          <a:xfrm>
            <a:off x="2078865" y="3410036"/>
            <a:ext cx="1790981" cy="651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D3D"/>
                </a:solidFill>
                <a:latin typeface="Calibri"/>
                <a:ea typeface="Calibri"/>
                <a:cs typeface="Calibri"/>
              </a:rPr>
              <a:t>Selected 30 representative</a:t>
            </a:r>
            <a:endParaRPr lang="en-US" sz="1200" b="1" dirty="0">
              <a:latin typeface="Calibri"/>
              <a:ea typeface="Calibri"/>
              <a:cs typeface="Calibri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1F2D3D"/>
                </a:solidFill>
                <a:latin typeface="Calibri"/>
                <a:ea typeface="Calibri"/>
                <a:cs typeface="Calibri"/>
              </a:rPr>
              <a:t>frames for annotation</a:t>
            </a:r>
            <a:endParaRPr lang="en-US" sz="1200" b="1" dirty="0">
              <a:latin typeface="Calibri"/>
              <a:ea typeface="Calibri"/>
              <a:cs typeface="Calibri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058668" y="1498668"/>
            <a:ext cx="1797448" cy="3549063"/>
          </a:xfrm>
          <a:prstGeom prst="roundRect">
            <a:avLst>
              <a:gd name="adj" fmla="val 6082"/>
            </a:avLst>
          </a:prstGeom>
          <a:solidFill>
            <a:schemeClr val="accent6">
              <a:lumMod val="40000"/>
              <a:lumOff val="60000"/>
            </a:schemeClr>
          </a:solidFill>
          <a:ln w="9525">
            <a:solidFill>
              <a:srgbClr val="D3DFF0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0" name="Shape 18"/>
          <p:cNvSpPr/>
          <p:nvPr/>
        </p:nvSpPr>
        <p:spPr>
          <a:xfrm>
            <a:off x="4052201" y="1485546"/>
            <a:ext cx="403785" cy="403785"/>
          </a:xfrm>
          <a:prstGeom prst="ellipse">
            <a:avLst/>
          </a:prstGeom>
          <a:solidFill>
            <a:srgbClr val="5FBF9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1" name="Text 19"/>
          <p:cNvSpPr txBox="1"/>
          <p:nvPr/>
        </p:nvSpPr>
        <p:spPr>
          <a:xfrm>
            <a:off x="4052201" y="1485546"/>
            <a:ext cx="403785" cy="4037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/>
          </a:p>
        </p:txBody>
      </p:sp>
      <p:sp>
        <p:nvSpPr>
          <p:cNvPr id="22" name="Text 20"/>
          <p:cNvSpPr txBox="1"/>
          <p:nvPr/>
        </p:nvSpPr>
        <p:spPr>
          <a:xfrm>
            <a:off x="4495061" y="1563698"/>
            <a:ext cx="1348120" cy="3256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</a:t>
            </a:r>
            <a:endParaRPr lang="en-US" sz="1400"/>
          </a:p>
        </p:txBody>
      </p:sp>
      <p:sp>
        <p:nvSpPr>
          <p:cNvPr id="23" name="Text 21"/>
          <p:cNvSpPr txBox="1"/>
          <p:nvPr/>
        </p:nvSpPr>
        <p:spPr>
          <a:xfrm>
            <a:off x="4130353" y="3452369"/>
            <a:ext cx="1673753" cy="651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D3D"/>
                </a:solidFill>
                <a:latin typeface="Calibri"/>
                <a:ea typeface="Calibri"/>
                <a:cs typeface="Calibri"/>
              </a:rPr>
              <a:t>Manually annotated</a:t>
            </a:r>
            <a:endParaRPr lang="en-US" sz="1200" dirty="0">
              <a:latin typeface="Calibri"/>
              <a:ea typeface="Calibri"/>
              <a:cs typeface="Calibri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1F2D3D"/>
                </a:solidFill>
                <a:latin typeface="Calibri"/>
                <a:ea typeface="Calibri"/>
                <a:cs typeface="Calibri"/>
              </a:rPr>
              <a:t>bounding boxes in</a:t>
            </a:r>
            <a:endParaRPr lang="en-US" sz="1200" dirty="0">
              <a:latin typeface="Calibri"/>
              <a:ea typeface="Calibri"/>
              <a:cs typeface="Calibri"/>
            </a:endParaRPr>
          </a:p>
          <a:p>
            <a:pPr marL="0" indent="0" algn="ctr">
              <a:buNone/>
            </a:pPr>
            <a:r>
              <a:rPr lang="en-US" sz="1200" b="1" dirty="0" err="1">
                <a:solidFill>
                  <a:srgbClr val="1F2D3D"/>
                </a:solidFill>
                <a:latin typeface="Calibri"/>
                <a:ea typeface="Calibri"/>
                <a:cs typeface="Calibri"/>
              </a:rPr>
              <a:t>Ultralytics</a:t>
            </a:r>
            <a:r>
              <a:rPr lang="en-US" sz="1200" b="1" dirty="0">
                <a:solidFill>
                  <a:srgbClr val="1F2D3D"/>
                </a:solidFill>
                <a:latin typeface="Calibri"/>
                <a:ea typeface="Calibri"/>
                <a:cs typeface="Calibri"/>
              </a:rPr>
              <a:t> Platform.</a:t>
            </a:r>
          </a:p>
          <a:p>
            <a:pPr marL="0" indent="0" algn="ctr">
              <a:buNone/>
            </a:pPr>
            <a:r>
              <a:rPr lang="en-US" sz="1200" b="1" dirty="0">
                <a:solidFill>
                  <a:srgbClr val="1F2D3D"/>
                </a:solidFill>
                <a:latin typeface="Calibri"/>
                <a:ea typeface="Calibri"/>
                <a:cs typeface="Calibri"/>
              </a:rPr>
              <a:t>(The answers the model learns from)</a:t>
            </a:r>
            <a:endParaRPr lang="en-US" sz="1200" b="1" dirty="0">
              <a:latin typeface="Calibri"/>
              <a:ea typeface="Calibri"/>
              <a:cs typeface="Calibri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986415" y="1492107"/>
            <a:ext cx="2090563" cy="3568747"/>
          </a:xfrm>
          <a:prstGeom prst="roundRect">
            <a:avLst>
              <a:gd name="adj" fmla="val 5249"/>
            </a:avLst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rgbClr val="D3DFF0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7" name="Shape 25"/>
          <p:cNvSpPr/>
          <p:nvPr/>
        </p:nvSpPr>
        <p:spPr>
          <a:xfrm>
            <a:off x="5979947" y="1485546"/>
            <a:ext cx="403785" cy="403785"/>
          </a:xfrm>
          <a:prstGeom prst="ellipse">
            <a:avLst/>
          </a:prstGeom>
          <a:solidFill>
            <a:srgbClr val="F5CB5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8" name="Text 26"/>
          <p:cNvSpPr txBox="1"/>
          <p:nvPr/>
        </p:nvSpPr>
        <p:spPr>
          <a:xfrm>
            <a:off x="5979947" y="1485546"/>
            <a:ext cx="403785" cy="4037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/>
          </a:p>
        </p:txBody>
      </p:sp>
      <p:sp>
        <p:nvSpPr>
          <p:cNvPr id="29" name="Text 27"/>
          <p:cNvSpPr txBox="1"/>
          <p:nvPr/>
        </p:nvSpPr>
        <p:spPr>
          <a:xfrm>
            <a:off x="6422808" y="1563698"/>
            <a:ext cx="1634677" cy="3256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preparation</a:t>
            </a:r>
            <a:endParaRPr lang="en-US" sz="1400"/>
          </a:p>
        </p:txBody>
      </p:sp>
      <p:sp>
        <p:nvSpPr>
          <p:cNvPr id="30" name="Text 28"/>
          <p:cNvSpPr txBox="1"/>
          <p:nvPr/>
        </p:nvSpPr>
        <p:spPr>
          <a:xfrm>
            <a:off x="6064657" y="3341557"/>
            <a:ext cx="1973427" cy="157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D3D"/>
                </a:solidFill>
                <a:latin typeface="Calibri"/>
                <a:ea typeface="Calibri"/>
                <a:cs typeface="Calibri"/>
              </a:rPr>
              <a:t>Convert annotations</a:t>
            </a:r>
            <a:endParaRPr lang="en-US" sz="1200" b="1" dirty="0">
              <a:latin typeface="Calibri"/>
              <a:ea typeface="Calibri"/>
              <a:cs typeface="Calibri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1F2D3D"/>
                </a:solidFill>
                <a:latin typeface="Calibri"/>
                <a:ea typeface="Calibri"/>
                <a:cs typeface="Calibri"/>
              </a:rPr>
              <a:t>from NDJSON to YOLO</a:t>
            </a:r>
            <a:endParaRPr lang="en-US" sz="1200" b="1" dirty="0">
              <a:latin typeface="Calibri"/>
              <a:ea typeface="Calibri"/>
              <a:cs typeface="Calibri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1F2D3D"/>
                </a:solidFill>
                <a:latin typeface="Calibri"/>
                <a:ea typeface="Calibri"/>
                <a:cs typeface="Calibri"/>
              </a:rPr>
              <a:t>format and verify classes</a:t>
            </a:r>
          </a:p>
          <a:p>
            <a:pPr algn="ctr"/>
            <a:endParaRPr lang="en-US" sz="1200" dirty="0">
              <a:solidFill>
                <a:srgbClr val="1F2D3D"/>
              </a:solidFill>
              <a:ea typeface="Calibri"/>
              <a:cs typeface="Calibri"/>
            </a:endParaRPr>
          </a:p>
          <a:p>
            <a:pPr marL="139700" indent="-139700">
              <a:spcAft>
                <a:spcPts val="100"/>
              </a:spcAft>
              <a:buFont typeface="Arial"/>
              <a:buChar char="•"/>
            </a:pPr>
            <a:r>
              <a:rPr lang="en-US" sz="1000" dirty="0">
                <a:solidFill>
                  <a:srgbClr val="1F2D3D"/>
                </a:solidFill>
                <a:ea typeface="Calibri"/>
                <a:cs typeface="Calibri"/>
              </a:rPr>
              <a:t>Exported annotations (NDJSON)</a:t>
            </a:r>
            <a:endParaRPr lang="en-US" sz="1000" dirty="0">
              <a:solidFill>
                <a:srgbClr val="000000"/>
              </a:solidFill>
              <a:ea typeface="Calibri"/>
              <a:cs typeface="Calibri"/>
            </a:endParaRPr>
          </a:p>
          <a:p>
            <a:pPr marL="139700" indent="-139700">
              <a:spcAft>
                <a:spcPts val="100"/>
              </a:spcAft>
              <a:buFont typeface="Arial"/>
              <a:buChar char="•"/>
            </a:pPr>
            <a:endParaRPr lang="en-US" sz="1000" dirty="0">
              <a:solidFill>
                <a:srgbClr val="000000"/>
              </a:solidFill>
              <a:ea typeface="Calibri"/>
              <a:cs typeface="Calibri"/>
            </a:endParaRPr>
          </a:p>
          <a:p>
            <a:pPr marL="139700" indent="-139700">
              <a:spcAft>
                <a:spcPts val="100"/>
              </a:spcAft>
              <a:buFont typeface="Arial"/>
              <a:buChar char="•"/>
            </a:pPr>
            <a:r>
              <a:rPr lang="en-US" sz="1000" dirty="0">
                <a:solidFill>
                  <a:srgbClr val="1F2D3D"/>
                </a:solidFill>
                <a:ea typeface="Calibri"/>
                <a:cs typeface="Calibri"/>
              </a:rPr>
              <a:t>Converted to YOLO format (images, labels, </a:t>
            </a:r>
            <a:r>
              <a:rPr lang="en-US" sz="1000" dirty="0" err="1">
                <a:solidFill>
                  <a:srgbClr val="1F2D3D"/>
                </a:solidFill>
                <a:ea typeface="Calibri"/>
                <a:cs typeface="Calibri"/>
              </a:rPr>
              <a:t>data.yaml</a:t>
            </a:r>
            <a:r>
              <a:rPr lang="en-US" sz="1000" dirty="0">
                <a:solidFill>
                  <a:srgbClr val="1F2D3D"/>
                </a:solidFill>
                <a:ea typeface="Calibri"/>
                <a:cs typeface="Calibri"/>
              </a:rPr>
              <a:t>)</a:t>
            </a:r>
            <a:endParaRPr lang="en-US" sz="1000" dirty="0">
              <a:solidFill>
                <a:srgbClr val="000000"/>
              </a:solidFill>
              <a:ea typeface="Calibri"/>
              <a:cs typeface="Calibri"/>
            </a:endParaRPr>
          </a:p>
          <a:p>
            <a:pPr algn="ctr"/>
            <a:endParaRPr lang="en-US" sz="1200" dirty="0">
              <a:solidFill>
                <a:srgbClr val="1F2D3D"/>
              </a:solidFill>
              <a:ea typeface="Calibri"/>
              <a:cs typeface="Calibri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8200718" y="1492107"/>
            <a:ext cx="1979848" cy="3581869"/>
          </a:xfrm>
          <a:prstGeom prst="roundRect">
            <a:avLst>
              <a:gd name="adj" fmla="val 5542"/>
            </a:avLst>
          </a:prstGeom>
          <a:solidFill>
            <a:srgbClr val="F5BAD5"/>
          </a:solidFill>
          <a:ln w="9525">
            <a:solidFill>
              <a:srgbClr val="D3DFF0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34" name="Shape 32"/>
          <p:cNvSpPr/>
          <p:nvPr/>
        </p:nvSpPr>
        <p:spPr>
          <a:xfrm>
            <a:off x="8194251" y="1485546"/>
            <a:ext cx="403785" cy="403785"/>
          </a:xfrm>
          <a:prstGeom prst="ellipse">
            <a:avLst/>
          </a:prstGeom>
          <a:solidFill>
            <a:srgbClr val="F08A8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35" name="Text 33"/>
          <p:cNvSpPr txBox="1"/>
          <p:nvPr/>
        </p:nvSpPr>
        <p:spPr>
          <a:xfrm>
            <a:off x="8194251" y="1485546"/>
            <a:ext cx="403785" cy="4037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/>
          </a:p>
        </p:txBody>
      </p:sp>
      <p:sp>
        <p:nvSpPr>
          <p:cNvPr id="36" name="Text 34"/>
          <p:cNvSpPr txBox="1"/>
          <p:nvPr/>
        </p:nvSpPr>
        <p:spPr>
          <a:xfrm>
            <a:off x="8637112" y="1563698"/>
            <a:ext cx="1523962" cy="3256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400"/>
          </a:p>
        </p:txBody>
      </p:sp>
      <p:sp>
        <p:nvSpPr>
          <p:cNvPr id="37" name="Text 35"/>
          <p:cNvSpPr txBox="1"/>
          <p:nvPr/>
        </p:nvSpPr>
        <p:spPr>
          <a:xfrm>
            <a:off x="8270200" y="3087612"/>
            <a:ext cx="1875828" cy="1836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>
                <a:solidFill>
                  <a:srgbClr val="1F2D3D"/>
                </a:solidFill>
                <a:ea typeface="Calibri"/>
                <a:cs typeface="Calibri"/>
              </a:rPr>
              <a:t>Used transfer learning</a:t>
            </a:r>
            <a:endParaRPr lang="en-US" sz="1200">
              <a:solidFill>
                <a:srgbClr val="000000"/>
              </a:solidFill>
              <a:ea typeface="Calibri"/>
              <a:cs typeface="Calibri"/>
            </a:endParaRPr>
          </a:p>
          <a:p>
            <a:pPr algn="ctr"/>
            <a:r>
              <a:rPr lang="en-US" sz="1200">
                <a:solidFill>
                  <a:srgbClr val="1F2D3D"/>
                </a:solidFill>
                <a:ea typeface="Calibri"/>
                <a:cs typeface="Calibri"/>
              </a:rPr>
              <a:t>with a pretrained</a:t>
            </a:r>
            <a:endParaRPr lang="en-US" sz="1200">
              <a:solidFill>
                <a:srgbClr val="000000"/>
              </a:solidFill>
              <a:ea typeface="Calibri"/>
              <a:cs typeface="Calibri"/>
            </a:endParaRPr>
          </a:p>
          <a:p>
            <a:pPr algn="ctr"/>
            <a:r>
              <a:rPr lang="en-US" sz="1200">
                <a:solidFill>
                  <a:srgbClr val="1F2D3D"/>
                </a:solidFill>
                <a:ea typeface="+mn-lt"/>
                <a:cs typeface="+mn-lt"/>
              </a:rPr>
              <a:t>YOLO26n</a:t>
            </a:r>
            <a:r>
              <a:rPr lang="en-US" sz="1200">
                <a:solidFill>
                  <a:srgbClr val="1F2D3D"/>
                </a:solidFill>
                <a:ea typeface="Calibri"/>
                <a:cs typeface="Calibri"/>
              </a:rPr>
              <a:t> model and</a:t>
            </a:r>
            <a:endParaRPr lang="en-US" sz="1200">
              <a:solidFill>
                <a:srgbClr val="000000"/>
              </a:solidFill>
              <a:ea typeface="Calibri"/>
              <a:cs typeface="Calibri"/>
            </a:endParaRPr>
          </a:p>
          <a:p>
            <a:pPr algn="ctr"/>
            <a:r>
              <a:rPr lang="en-US" sz="1200">
                <a:solidFill>
                  <a:srgbClr val="1F2D3D"/>
                </a:solidFill>
                <a:ea typeface="Calibri"/>
                <a:cs typeface="Calibri"/>
              </a:rPr>
              <a:t>train on 30 images</a:t>
            </a:r>
            <a:endParaRPr lang="en-US" sz="1200">
              <a:solidFill>
                <a:srgbClr val="000000"/>
              </a:solidFill>
              <a:ea typeface="Calibri"/>
              <a:cs typeface="Calibri"/>
            </a:endParaRPr>
          </a:p>
          <a:p>
            <a:pPr algn="ctr"/>
            <a:r>
              <a:rPr lang="en-US" sz="1200">
                <a:solidFill>
                  <a:srgbClr val="1F2D3D"/>
                </a:solidFill>
                <a:ea typeface="Calibri"/>
                <a:cs typeface="Calibri"/>
              </a:rPr>
              <a:t>(100 epochs, 640 </a:t>
            </a:r>
            <a:r>
              <a:rPr lang="en-US" sz="1200" err="1">
                <a:solidFill>
                  <a:srgbClr val="1F2D3D"/>
                </a:solidFill>
                <a:ea typeface="Calibri"/>
                <a:cs typeface="Calibri"/>
              </a:rPr>
              <a:t>px</a:t>
            </a:r>
            <a:r>
              <a:rPr lang="en-US" sz="1200">
                <a:solidFill>
                  <a:srgbClr val="1F2D3D"/>
                </a:solidFill>
                <a:ea typeface="Calibri"/>
                <a:cs typeface="Calibri"/>
              </a:rPr>
              <a:t>)</a:t>
            </a:r>
            <a:endParaRPr lang="en-US"/>
          </a:p>
          <a:p>
            <a:pPr algn="ctr"/>
            <a:endParaRPr lang="en-US" sz="1200">
              <a:solidFill>
                <a:srgbClr val="1F2D3D"/>
              </a:solidFill>
              <a:ea typeface="Calibri"/>
              <a:cs typeface="Calibri"/>
            </a:endParaRPr>
          </a:p>
          <a:p>
            <a:pPr marL="139700" indent="-139700">
              <a:spcAft>
                <a:spcPts val="100"/>
              </a:spcAft>
              <a:buFont typeface="Arial"/>
              <a:buChar char="•"/>
            </a:pPr>
            <a:r>
              <a:rPr lang="en-US" sz="1000">
                <a:solidFill>
                  <a:srgbClr val="1F2D3D"/>
                </a:solidFill>
                <a:ea typeface="Calibri"/>
                <a:cs typeface="Calibri"/>
              </a:rPr>
              <a:t>Split: 24 training / 6 validation</a:t>
            </a:r>
            <a:endParaRPr lang="en-US" sz="1000">
              <a:solidFill>
                <a:srgbClr val="000000"/>
              </a:solidFill>
              <a:ea typeface="Calibri"/>
              <a:cs typeface="Calibri"/>
            </a:endParaRPr>
          </a:p>
          <a:p>
            <a:pPr algn="ctr"/>
            <a:endParaRPr lang="en-US" sz="1200">
              <a:solidFill>
                <a:srgbClr val="1F2D3D"/>
              </a:solidFill>
              <a:ea typeface="Calibri"/>
              <a:cs typeface="Calibri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10304683" y="1491728"/>
            <a:ext cx="1810848" cy="3550358"/>
          </a:xfrm>
          <a:prstGeom prst="roundRect">
            <a:avLst>
              <a:gd name="adj" fmla="val 6039"/>
            </a:avLst>
          </a:prstGeom>
          <a:solidFill>
            <a:srgbClr val="EDE7F8"/>
          </a:solidFill>
          <a:ln w="9525">
            <a:solidFill>
              <a:srgbClr val="D3DFF0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41" name="Shape 39"/>
          <p:cNvSpPr/>
          <p:nvPr/>
        </p:nvSpPr>
        <p:spPr>
          <a:xfrm>
            <a:off x="10297839" y="1485546"/>
            <a:ext cx="403785" cy="403785"/>
          </a:xfrm>
          <a:prstGeom prst="ellipse">
            <a:avLst/>
          </a:prstGeom>
          <a:solidFill>
            <a:srgbClr val="9B7BC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42" name="Text 40"/>
          <p:cNvSpPr txBox="1"/>
          <p:nvPr/>
        </p:nvSpPr>
        <p:spPr>
          <a:xfrm>
            <a:off x="10297839" y="1485546"/>
            <a:ext cx="403785" cy="4037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/>
          </a:p>
        </p:txBody>
      </p:sp>
      <p:sp>
        <p:nvSpPr>
          <p:cNvPr id="43" name="Text 41"/>
          <p:cNvSpPr txBox="1"/>
          <p:nvPr/>
        </p:nvSpPr>
        <p:spPr>
          <a:xfrm>
            <a:off x="10740700" y="1563698"/>
            <a:ext cx="1361145" cy="3256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output</a:t>
            </a:r>
            <a:endParaRPr lang="en-US" sz="1400"/>
          </a:p>
        </p:txBody>
      </p:sp>
      <p:sp>
        <p:nvSpPr>
          <p:cNvPr id="44" name="Text 42"/>
          <p:cNvSpPr txBox="1"/>
          <p:nvPr/>
        </p:nvSpPr>
        <p:spPr>
          <a:xfrm>
            <a:off x="10351268" y="3210870"/>
            <a:ext cx="1686778" cy="748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model saved</a:t>
            </a:r>
            <a:endParaRPr lang="en-US" sz="1200"/>
          </a:p>
          <a:p>
            <a:pPr marL="0" indent="0" algn="ctr">
              <a:buNone/>
            </a:pPr>
            <a:r>
              <a:rPr lang="en-US" sz="120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ready for evaluation</a:t>
            </a:r>
            <a:endParaRPr lang="en-US" sz="1200"/>
          </a:p>
          <a:p>
            <a:pPr marL="0" indent="0" algn="ctr">
              <a:buNone/>
            </a:pPr>
            <a:r>
              <a:rPr lang="en-US" sz="120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independent</a:t>
            </a:r>
            <a:endParaRPr lang="en-US" sz="1200"/>
          </a:p>
          <a:p>
            <a:pPr marL="0" indent="0" algn="ctr">
              <a:buNone/>
            </a:pPr>
            <a:r>
              <a:rPr lang="en-US" sz="120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video</a:t>
            </a:r>
            <a:endParaRPr lang="en-US" sz="1200"/>
          </a:p>
        </p:txBody>
      </p:sp>
      <p:sp>
        <p:nvSpPr>
          <p:cNvPr id="46" name="Text 44"/>
          <p:cNvSpPr txBox="1"/>
          <p:nvPr/>
        </p:nvSpPr>
        <p:spPr>
          <a:xfrm>
            <a:off x="10353591" y="3842135"/>
            <a:ext cx="1628164" cy="1237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endParaRPr lang="en-US" sz="1300" b="1">
              <a:solidFill>
                <a:srgbClr val="12294A"/>
              </a:solidFill>
              <a:ea typeface="Calibri"/>
              <a:cs typeface="Calibri"/>
            </a:endParaRPr>
          </a:p>
          <a:p>
            <a:pPr marL="139700" indent="-139700">
              <a:spcAft>
                <a:spcPts val="100"/>
              </a:spcAft>
              <a:buSzPct val="100000"/>
              <a:buChar char="•"/>
            </a:pPr>
            <a:r>
              <a:rPr lang="en-US" sz="1050">
                <a:solidFill>
                  <a:srgbClr val="1F2D3D"/>
                </a:solidFill>
                <a:latin typeface="Calibri"/>
                <a:ea typeface="Calibri"/>
                <a:cs typeface="Calibri"/>
              </a:rPr>
              <a:t>Best model weights saved as YOLO_swinging_load.pt</a:t>
            </a:r>
            <a:endParaRPr lang="en-US" sz="1300">
              <a:latin typeface="Calibri"/>
              <a:ea typeface="Calibri"/>
              <a:cs typeface="Calibri"/>
            </a:endParaRPr>
          </a:p>
          <a:p>
            <a:pPr marL="139700" indent="-139700">
              <a:spcAft>
                <a:spcPts val="100"/>
              </a:spcAft>
              <a:buSzPct val="100000"/>
              <a:buChar char="•"/>
            </a:pPr>
            <a:r>
              <a:rPr lang="en-US" sz="1050">
                <a:solidFill>
                  <a:srgbClr val="1F2D3D"/>
                </a:solidFill>
                <a:latin typeface="Calibri"/>
                <a:ea typeface="Calibri"/>
                <a:cs typeface="Calibri"/>
              </a:rPr>
              <a:t>Then the model is ready for evaluation</a:t>
            </a:r>
          </a:p>
        </p:txBody>
      </p:sp>
      <p:sp>
        <p:nvSpPr>
          <p:cNvPr id="47" name="Shape 45"/>
          <p:cNvSpPr/>
          <p:nvPr/>
        </p:nvSpPr>
        <p:spPr>
          <a:xfrm>
            <a:off x="1818359" y="2670850"/>
            <a:ext cx="182354" cy="0"/>
          </a:xfrm>
          <a:prstGeom prst="line">
            <a:avLst/>
          </a:prstGeom>
          <a:noFill/>
          <a:ln w="31750">
            <a:solidFill>
              <a:srgbClr val="2F4A66"/>
            </a:solidFill>
            <a:prstDash val="solid"/>
            <a:tailEnd type="triangle"/>
          </a:ln>
        </p:spPr>
        <p:txBody>
          <a:bodyPr/>
          <a:lstStyle/>
          <a:p>
            <a:endParaRPr lang="nb-NO"/>
          </a:p>
        </p:txBody>
      </p:sp>
      <p:sp>
        <p:nvSpPr>
          <p:cNvPr id="48" name="Shape 46"/>
          <p:cNvSpPr/>
          <p:nvPr/>
        </p:nvSpPr>
        <p:spPr>
          <a:xfrm>
            <a:off x="3902410" y="2670850"/>
            <a:ext cx="182354" cy="0"/>
          </a:xfrm>
          <a:prstGeom prst="line">
            <a:avLst/>
          </a:prstGeom>
          <a:noFill/>
          <a:ln w="31750">
            <a:solidFill>
              <a:srgbClr val="2F4A66"/>
            </a:solidFill>
            <a:prstDash val="solid"/>
            <a:tailEnd type="triangle"/>
          </a:ln>
        </p:spPr>
        <p:txBody>
          <a:bodyPr/>
          <a:lstStyle/>
          <a:p>
            <a:endParaRPr lang="nb-NO"/>
          </a:p>
        </p:txBody>
      </p:sp>
      <p:sp>
        <p:nvSpPr>
          <p:cNvPr id="49" name="Shape 47"/>
          <p:cNvSpPr/>
          <p:nvPr/>
        </p:nvSpPr>
        <p:spPr>
          <a:xfrm>
            <a:off x="5836669" y="2670850"/>
            <a:ext cx="182354" cy="0"/>
          </a:xfrm>
          <a:prstGeom prst="line">
            <a:avLst/>
          </a:prstGeom>
          <a:noFill/>
          <a:ln w="31750">
            <a:solidFill>
              <a:srgbClr val="2F4A66"/>
            </a:solidFill>
            <a:prstDash val="solid"/>
            <a:tailEnd type="triangle"/>
          </a:ln>
        </p:spPr>
        <p:txBody>
          <a:bodyPr/>
          <a:lstStyle/>
          <a:p>
            <a:endParaRPr lang="nb-NO"/>
          </a:p>
        </p:txBody>
      </p:sp>
      <p:sp>
        <p:nvSpPr>
          <p:cNvPr id="50" name="Shape 48"/>
          <p:cNvSpPr/>
          <p:nvPr/>
        </p:nvSpPr>
        <p:spPr>
          <a:xfrm>
            <a:off x="8070511" y="2670850"/>
            <a:ext cx="182354" cy="0"/>
          </a:xfrm>
          <a:prstGeom prst="line">
            <a:avLst/>
          </a:prstGeom>
          <a:noFill/>
          <a:ln w="31750">
            <a:solidFill>
              <a:srgbClr val="2F4A66"/>
            </a:solidFill>
            <a:prstDash val="solid"/>
            <a:tailEnd type="triangle"/>
          </a:ln>
        </p:spPr>
        <p:txBody>
          <a:bodyPr/>
          <a:lstStyle/>
          <a:p>
            <a:endParaRPr lang="nb-NO"/>
          </a:p>
        </p:txBody>
      </p:sp>
      <p:sp>
        <p:nvSpPr>
          <p:cNvPr id="51" name="Shape 49"/>
          <p:cNvSpPr/>
          <p:nvPr/>
        </p:nvSpPr>
        <p:spPr>
          <a:xfrm>
            <a:off x="10174099" y="2670850"/>
            <a:ext cx="182354" cy="0"/>
          </a:xfrm>
          <a:prstGeom prst="line">
            <a:avLst/>
          </a:prstGeom>
          <a:noFill/>
          <a:ln w="31750">
            <a:solidFill>
              <a:srgbClr val="2F4A66"/>
            </a:solidFill>
            <a:prstDash val="solid"/>
            <a:tailEnd type="triangle"/>
          </a:ln>
        </p:spPr>
        <p:txBody>
          <a:bodyPr/>
          <a:lstStyle/>
          <a:p>
            <a:endParaRPr lang="nb-NO"/>
          </a:p>
        </p:txBody>
      </p:sp>
      <p:sp>
        <p:nvSpPr>
          <p:cNvPr id="61" name="Shape 53"/>
          <p:cNvSpPr/>
          <p:nvPr/>
        </p:nvSpPr>
        <p:spPr>
          <a:xfrm>
            <a:off x="6279530" y="2260552"/>
            <a:ext cx="521013" cy="651266"/>
          </a:xfrm>
          <a:prstGeom prst="roundRect">
            <a:avLst>
              <a:gd name="adj" fmla="val 14040"/>
            </a:avLst>
          </a:prstGeom>
          <a:solidFill>
            <a:srgbClr val="EAF1FC"/>
          </a:solidFill>
          <a:ln w="19050">
            <a:solidFill>
              <a:srgbClr val="2F5D96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62" name="Shape 54"/>
          <p:cNvSpPr/>
          <p:nvPr/>
        </p:nvSpPr>
        <p:spPr>
          <a:xfrm>
            <a:off x="6214403" y="2312654"/>
            <a:ext cx="521013" cy="651266"/>
          </a:xfrm>
          <a:prstGeom prst="roundRect">
            <a:avLst>
              <a:gd name="adj" fmla="val 14040"/>
            </a:avLst>
          </a:prstGeom>
          <a:solidFill>
            <a:srgbClr val="EAF1FC"/>
          </a:solidFill>
          <a:ln w="19050">
            <a:solidFill>
              <a:srgbClr val="2F5D96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63" name="Shape 55"/>
          <p:cNvSpPr/>
          <p:nvPr/>
        </p:nvSpPr>
        <p:spPr>
          <a:xfrm>
            <a:off x="6149276" y="2364755"/>
            <a:ext cx="521013" cy="651266"/>
          </a:xfrm>
          <a:prstGeom prst="roundRect">
            <a:avLst>
              <a:gd name="adj" fmla="val 14040"/>
            </a:avLst>
          </a:prstGeom>
          <a:solidFill>
            <a:srgbClr val="EAF1FC"/>
          </a:solidFill>
          <a:ln w="19050">
            <a:solidFill>
              <a:srgbClr val="2F5D96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64" name="Text 56"/>
          <p:cNvSpPr txBox="1"/>
          <p:nvPr/>
        </p:nvSpPr>
        <p:spPr>
          <a:xfrm>
            <a:off x="6149276" y="2364755"/>
            <a:ext cx="521013" cy="651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NDJSON</a:t>
            </a:r>
            <a:endParaRPr lang="en-US" sz="1050"/>
          </a:p>
        </p:txBody>
      </p:sp>
      <p:sp>
        <p:nvSpPr>
          <p:cNvPr id="65" name="Shape 57"/>
          <p:cNvSpPr/>
          <p:nvPr/>
        </p:nvSpPr>
        <p:spPr>
          <a:xfrm>
            <a:off x="6898232" y="2631774"/>
            <a:ext cx="195380" cy="0"/>
          </a:xfrm>
          <a:prstGeom prst="line">
            <a:avLst/>
          </a:prstGeom>
          <a:noFill/>
          <a:ln w="25400">
            <a:solidFill>
              <a:srgbClr val="2F4A66"/>
            </a:solidFill>
            <a:prstDash val="solid"/>
            <a:tailEnd type="triangle"/>
          </a:ln>
        </p:spPr>
        <p:txBody>
          <a:bodyPr/>
          <a:lstStyle/>
          <a:p>
            <a:endParaRPr lang="nb-NO"/>
          </a:p>
        </p:txBody>
      </p:sp>
      <p:sp>
        <p:nvSpPr>
          <p:cNvPr id="66" name="Shape 58"/>
          <p:cNvSpPr/>
          <p:nvPr/>
        </p:nvSpPr>
        <p:spPr>
          <a:xfrm>
            <a:off x="7217352" y="2299628"/>
            <a:ext cx="338658" cy="143278"/>
          </a:xfrm>
          <a:prstGeom prst="roundRect">
            <a:avLst>
              <a:gd name="adj" fmla="val 31910"/>
            </a:avLst>
          </a:prstGeom>
          <a:solidFill>
            <a:srgbClr val="3E6A99"/>
          </a:solidFill>
          <a:ln w="6350">
            <a:solidFill>
              <a:srgbClr val="3E6A99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67" name="Shape 59"/>
          <p:cNvSpPr/>
          <p:nvPr/>
        </p:nvSpPr>
        <p:spPr>
          <a:xfrm>
            <a:off x="7217352" y="2384293"/>
            <a:ext cx="664291" cy="481937"/>
          </a:xfrm>
          <a:prstGeom prst="roundRect">
            <a:avLst>
              <a:gd name="adj" fmla="val 11384"/>
            </a:avLst>
          </a:prstGeom>
          <a:solidFill>
            <a:srgbClr val="4A78A8"/>
          </a:solidFill>
          <a:ln w="6350">
            <a:solidFill>
              <a:srgbClr val="3E6A99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68" name="Text 60"/>
          <p:cNvSpPr txBox="1"/>
          <p:nvPr/>
        </p:nvSpPr>
        <p:spPr>
          <a:xfrm>
            <a:off x="7139200" y="2905305"/>
            <a:ext cx="820595" cy="169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format</a:t>
            </a:r>
            <a:endParaRPr lang="en-US" sz="1050"/>
          </a:p>
        </p:txBody>
      </p:sp>
      <p:sp>
        <p:nvSpPr>
          <p:cNvPr id="69" name="Shape 61"/>
          <p:cNvSpPr/>
          <p:nvPr/>
        </p:nvSpPr>
        <p:spPr>
          <a:xfrm>
            <a:off x="8975770" y="2149837"/>
            <a:ext cx="468911" cy="468911"/>
          </a:xfrm>
          <a:prstGeom prst="gear6">
            <a:avLst/>
          </a:prstGeom>
          <a:solidFill>
            <a:srgbClr val="2F4A66"/>
          </a:solidFill>
          <a:ln w="6350">
            <a:solidFill>
              <a:srgbClr val="2F4A66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70" name="Shape 62"/>
          <p:cNvSpPr/>
          <p:nvPr/>
        </p:nvSpPr>
        <p:spPr>
          <a:xfrm>
            <a:off x="9132074" y="2306141"/>
            <a:ext cx="156304" cy="156304"/>
          </a:xfrm>
          <a:prstGeom prst="ellipse">
            <a:avLst/>
          </a:prstGeom>
          <a:solidFill>
            <a:srgbClr val="E8EEFA"/>
          </a:solidFill>
          <a:ln w="6350">
            <a:solidFill>
              <a:srgbClr val="E8EEFA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71" name="Text 63"/>
          <p:cNvSpPr txBox="1"/>
          <p:nvPr/>
        </p:nvSpPr>
        <p:spPr>
          <a:xfrm>
            <a:off x="8337529" y="2670850"/>
            <a:ext cx="1745392" cy="2865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12294A"/>
                </a:solidFill>
                <a:latin typeface="Calibri"/>
                <a:ea typeface="Calibri"/>
                <a:cs typeface="Calibri"/>
              </a:rPr>
              <a:t>YOLO26n</a:t>
            </a:r>
            <a:endParaRPr lang="en-US" sz="2000"/>
          </a:p>
        </p:txBody>
      </p:sp>
      <p:sp>
        <p:nvSpPr>
          <p:cNvPr id="72" name="Shape 64"/>
          <p:cNvSpPr/>
          <p:nvPr/>
        </p:nvSpPr>
        <p:spPr>
          <a:xfrm>
            <a:off x="10838390" y="2084711"/>
            <a:ext cx="794544" cy="1042025"/>
          </a:xfrm>
          <a:prstGeom prst="snip1Rect">
            <a:avLst/>
          </a:prstGeom>
          <a:solidFill>
            <a:srgbClr val="FFFFFF"/>
          </a:solidFill>
          <a:ln w="31750">
            <a:solidFill>
              <a:srgbClr val="1B3554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73" name="Shape 65"/>
          <p:cNvSpPr/>
          <p:nvPr/>
        </p:nvSpPr>
        <p:spPr>
          <a:xfrm>
            <a:off x="10688599" y="2540597"/>
            <a:ext cx="1107152" cy="494962"/>
          </a:xfrm>
          <a:prstGeom prst="roundRect">
            <a:avLst>
              <a:gd name="adj" fmla="val 14779"/>
            </a:avLst>
          </a:prstGeom>
          <a:solidFill>
            <a:srgbClr val="1B3554"/>
          </a:solidFill>
          <a:ln w="6350">
            <a:solidFill>
              <a:srgbClr val="1B3554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74" name="Text 66"/>
          <p:cNvSpPr txBox="1"/>
          <p:nvPr/>
        </p:nvSpPr>
        <p:spPr>
          <a:xfrm>
            <a:off x="10688599" y="2540597"/>
            <a:ext cx="1107152" cy="494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YOLO_swinging</a:t>
            </a:r>
            <a:endParaRPr lang="en-US" sz="1200"/>
          </a:p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_load.pt</a:t>
            </a:r>
            <a:endParaRPr lang="en-US" sz="1200"/>
          </a:p>
        </p:txBody>
      </p:sp>
      <p:pic>
        <p:nvPicPr>
          <p:cNvPr id="76" name="Bilde 75">
            <a:extLst>
              <a:ext uri="{FF2B5EF4-FFF2-40B4-BE49-F238E27FC236}">
                <a16:creationId xmlns:a16="http://schemas.microsoft.com/office/drawing/2014/main" id="{713DE0C2-E0AE-2CB7-87FB-D9B5CA50A8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78" y="1995190"/>
            <a:ext cx="1213487" cy="910115"/>
          </a:xfrm>
          <a:prstGeom prst="rect">
            <a:avLst/>
          </a:prstGeom>
        </p:spPr>
      </p:pic>
      <p:pic>
        <p:nvPicPr>
          <p:cNvPr id="80" name="Bilde 79">
            <a:extLst>
              <a:ext uri="{FF2B5EF4-FFF2-40B4-BE49-F238E27FC236}">
                <a16:creationId xmlns:a16="http://schemas.microsoft.com/office/drawing/2014/main" id="{BA39B268-3795-655F-CD14-C695AE696B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78" y="2147590"/>
            <a:ext cx="1213487" cy="910115"/>
          </a:xfrm>
          <a:prstGeom prst="rect">
            <a:avLst/>
          </a:prstGeom>
        </p:spPr>
      </p:pic>
      <p:pic>
        <p:nvPicPr>
          <p:cNvPr id="82" name="Bilde 81">
            <a:extLst>
              <a:ext uri="{FF2B5EF4-FFF2-40B4-BE49-F238E27FC236}">
                <a16:creationId xmlns:a16="http://schemas.microsoft.com/office/drawing/2014/main" id="{BA2A0996-E477-5B3D-38BD-761762E92C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78" y="2299990"/>
            <a:ext cx="1213487" cy="910115"/>
          </a:xfrm>
          <a:prstGeom prst="rect">
            <a:avLst/>
          </a:prstGeom>
        </p:spPr>
      </p:pic>
      <p:pic>
        <p:nvPicPr>
          <p:cNvPr id="86" name="Bilde 85">
            <a:extLst>
              <a:ext uri="{FF2B5EF4-FFF2-40B4-BE49-F238E27FC236}">
                <a16:creationId xmlns:a16="http://schemas.microsoft.com/office/drawing/2014/main" id="{7E042C86-8452-90A7-0FB1-CD2DC96204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128" b="9211"/>
          <a:stretch>
            <a:fillRect/>
          </a:stretch>
        </p:blipFill>
        <p:spPr>
          <a:xfrm>
            <a:off x="2358939" y="1986033"/>
            <a:ext cx="590035" cy="609921"/>
          </a:xfrm>
          <a:prstGeom prst="rect">
            <a:avLst/>
          </a:prstGeom>
        </p:spPr>
      </p:pic>
      <p:pic>
        <p:nvPicPr>
          <p:cNvPr id="94" name="Bilde 93">
            <a:extLst>
              <a:ext uri="{FF2B5EF4-FFF2-40B4-BE49-F238E27FC236}">
                <a16:creationId xmlns:a16="http://schemas.microsoft.com/office/drawing/2014/main" id="{5FD4486A-9B9F-ED91-0422-B715490632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3630" y="1991532"/>
            <a:ext cx="1339985" cy="1317558"/>
          </a:xfrm>
          <a:prstGeom prst="rect">
            <a:avLst/>
          </a:prstGeom>
        </p:spPr>
      </p:pic>
      <p:pic>
        <p:nvPicPr>
          <p:cNvPr id="96" name="Bilde 95">
            <a:extLst>
              <a:ext uri="{FF2B5EF4-FFF2-40B4-BE49-F238E27FC236}">
                <a16:creationId xmlns:a16="http://schemas.microsoft.com/office/drawing/2014/main" id="{D2B7F8FE-3022-B238-5851-819DD97D1C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128" b="9211"/>
          <a:stretch>
            <a:fillRect/>
          </a:stretch>
        </p:blipFill>
        <p:spPr>
          <a:xfrm>
            <a:off x="3014101" y="1989763"/>
            <a:ext cx="590035" cy="609921"/>
          </a:xfrm>
          <a:prstGeom prst="rect">
            <a:avLst/>
          </a:prstGeom>
        </p:spPr>
      </p:pic>
      <p:pic>
        <p:nvPicPr>
          <p:cNvPr id="98" name="Bilde 97">
            <a:extLst>
              <a:ext uri="{FF2B5EF4-FFF2-40B4-BE49-F238E27FC236}">
                <a16:creationId xmlns:a16="http://schemas.microsoft.com/office/drawing/2014/main" id="{992CC78A-0131-B1F4-AB73-C92C538762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128" b="9211"/>
          <a:stretch>
            <a:fillRect/>
          </a:stretch>
        </p:blipFill>
        <p:spPr>
          <a:xfrm>
            <a:off x="3014101" y="2670850"/>
            <a:ext cx="590035" cy="609921"/>
          </a:xfrm>
          <a:prstGeom prst="rect">
            <a:avLst/>
          </a:prstGeom>
        </p:spPr>
      </p:pic>
      <p:pic>
        <p:nvPicPr>
          <p:cNvPr id="100" name="Bilde 99">
            <a:extLst>
              <a:ext uri="{FF2B5EF4-FFF2-40B4-BE49-F238E27FC236}">
                <a16:creationId xmlns:a16="http://schemas.microsoft.com/office/drawing/2014/main" id="{CEED47B2-B964-D5D3-7D8D-BEBB87BBA7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128" b="9211"/>
          <a:stretch>
            <a:fillRect/>
          </a:stretch>
        </p:blipFill>
        <p:spPr>
          <a:xfrm>
            <a:off x="2358939" y="2670850"/>
            <a:ext cx="590035" cy="60992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7025" y="100831"/>
            <a:ext cx="11197670" cy="441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123" b="1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Q1(a) Model Evaluation</a:t>
            </a:r>
            <a:endParaRPr lang="en-US" sz="3123"/>
          </a:p>
        </p:txBody>
      </p:sp>
      <p:sp>
        <p:nvSpPr>
          <p:cNvPr id="3" name="Text 1"/>
          <p:cNvSpPr txBox="1"/>
          <p:nvPr/>
        </p:nvSpPr>
        <p:spPr>
          <a:xfrm>
            <a:off x="497025" y="580010"/>
            <a:ext cx="11197670" cy="189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86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of the trained YOLO model on validation data and the independent 300-frame test video.</a:t>
            </a:r>
            <a:endParaRPr lang="en-US" sz="1286"/>
          </a:p>
        </p:txBody>
      </p:sp>
      <p:sp>
        <p:nvSpPr>
          <p:cNvPr id="4" name="Shape 2"/>
          <p:cNvSpPr/>
          <p:nvPr/>
        </p:nvSpPr>
        <p:spPr>
          <a:xfrm>
            <a:off x="256954" y="869930"/>
            <a:ext cx="4166155" cy="1072179"/>
          </a:xfrm>
          <a:prstGeom prst="roundRect">
            <a:avLst>
              <a:gd name="adj" fmla="val 7700"/>
            </a:avLst>
          </a:prstGeom>
          <a:solidFill>
            <a:schemeClr val="accent1">
              <a:lumMod val="75000"/>
            </a:schemeClr>
          </a:solidFill>
          <a:ln w="9525">
            <a:solidFill>
              <a:srgbClr val="BFD3F0"/>
            </a:solidFill>
            <a:prstDash val="solid"/>
          </a:ln>
        </p:spPr>
        <p:txBody>
          <a:bodyPr/>
          <a:lstStyle/>
          <a:p>
            <a:endParaRPr lang="nb-NO" sz="1653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430" y="904884"/>
            <a:ext cx="235807" cy="23580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67338" y="902114"/>
            <a:ext cx="2521998" cy="315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Objective/Task</a:t>
            </a:r>
            <a:endParaRPr lang="en-US" sz="200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80003" y="1311390"/>
            <a:ext cx="3717555" cy="554729"/>
          </a:xfrm>
          <a:prstGeom prst="roundRect">
            <a:avLst>
              <a:gd name="adj" fmla="val 12249"/>
            </a:avLst>
          </a:prstGeom>
          <a:solidFill>
            <a:srgbClr val="E9F1FC"/>
          </a:solidFill>
          <a:ln w="9525">
            <a:solidFill>
              <a:srgbClr val="E1EAF8"/>
            </a:solidFill>
            <a:prstDash val="solid"/>
          </a:ln>
        </p:spPr>
        <p:txBody>
          <a:bodyPr/>
          <a:lstStyle/>
          <a:p>
            <a:endParaRPr lang="nb-NO" sz="1653"/>
          </a:p>
        </p:txBody>
      </p:sp>
      <p:sp>
        <p:nvSpPr>
          <p:cNvPr id="9" name="Text 6"/>
          <p:cNvSpPr txBox="1"/>
          <p:nvPr/>
        </p:nvSpPr>
        <p:spPr>
          <a:xfrm>
            <a:off x="500788" y="1311390"/>
            <a:ext cx="3744575" cy="548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nb-NO">
                <a:ea typeface="Calibri"/>
                <a:cs typeface="Calibri"/>
              </a:rPr>
              <a:t>Show </a:t>
            </a:r>
            <a:r>
              <a:rPr lang="nb-NO" err="1">
                <a:ea typeface="Calibri"/>
                <a:cs typeface="Calibri"/>
              </a:rPr>
              <a:t>the</a:t>
            </a:r>
            <a:r>
              <a:rPr lang="nb-NO">
                <a:ea typeface="Calibri"/>
                <a:cs typeface="Calibri"/>
              </a:rPr>
              <a:t> </a:t>
            </a:r>
            <a:r>
              <a:rPr lang="nb-NO" err="1">
                <a:ea typeface="Calibri"/>
                <a:cs typeface="Calibri"/>
              </a:rPr>
              <a:t>performance</a:t>
            </a:r>
            <a:r>
              <a:rPr lang="nb-NO">
                <a:ea typeface="Calibri"/>
                <a:cs typeface="Calibri"/>
              </a:rPr>
              <a:t> </a:t>
            </a:r>
            <a:r>
              <a:rPr lang="nb-NO" err="1">
                <a:ea typeface="Calibri"/>
                <a:cs typeface="Calibri"/>
              </a:rPr>
              <a:t>of</a:t>
            </a:r>
            <a:r>
              <a:rPr lang="nb-NO">
                <a:ea typeface="Calibri"/>
                <a:cs typeface="Calibri"/>
              </a:rPr>
              <a:t> </a:t>
            </a:r>
            <a:r>
              <a:rPr lang="nb-NO" err="1">
                <a:ea typeface="Calibri"/>
                <a:cs typeface="Calibri"/>
              </a:rPr>
              <a:t>the</a:t>
            </a:r>
            <a:r>
              <a:rPr lang="nb-NO">
                <a:ea typeface="Calibri"/>
                <a:cs typeface="Calibri"/>
              </a:rPr>
              <a:t> </a:t>
            </a:r>
            <a:r>
              <a:rPr lang="nb-NO" err="1">
                <a:ea typeface="Calibri"/>
                <a:cs typeface="Calibri"/>
              </a:rPr>
              <a:t>model</a:t>
            </a:r>
            <a:r>
              <a:rPr lang="nb-NO">
                <a:ea typeface="Calibri"/>
                <a:cs typeface="Calibri"/>
              </a:rPr>
              <a:t> </a:t>
            </a:r>
            <a:r>
              <a:rPr lang="nb-NO" err="1">
                <a:ea typeface="Calibri"/>
                <a:cs typeface="Calibri"/>
              </a:rPr>
              <a:t>on</a:t>
            </a:r>
            <a:r>
              <a:rPr lang="nb-NO">
                <a:ea typeface="Calibri"/>
                <a:cs typeface="Calibri"/>
              </a:rPr>
              <a:t> test data </a:t>
            </a:r>
            <a:r>
              <a:rPr lang="nb-NO" err="1">
                <a:ea typeface="Calibri"/>
                <a:cs typeface="Calibri"/>
              </a:rPr>
              <a:t>set</a:t>
            </a:r>
            <a:r>
              <a:rPr lang="nb-NO">
                <a:ea typeface="Calibri"/>
                <a:cs typeface="Calibri"/>
              </a:rPr>
              <a:t> by plotting relevant KPIs</a:t>
            </a:r>
            <a:endParaRPr lang="nb-NO"/>
          </a:p>
        </p:txBody>
      </p:sp>
      <p:sp>
        <p:nvSpPr>
          <p:cNvPr id="10" name="Shape 7"/>
          <p:cNvSpPr/>
          <p:nvPr/>
        </p:nvSpPr>
        <p:spPr>
          <a:xfrm>
            <a:off x="4542357" y="876126"/>
            <a:ext cx="7492302" cy="1059787"/>
          </a:xfrm>
          <a:prstGeom prst="roundRect">
            <a:avLst>
              <a:gd name="adj" fmla="val 7700"/>
            </a:avLst>
          </a:prstGeom>
          <a:solidFill>
            <a:srgbClr val="E05858"/>
          </a:solidFill>
          <a:ln w="9525">
            <a:solidFill>
              <a:srgbClr val="F5C6D0"/>
            </a:solidFill>
            <a:prstDash val="solid"/>
          </a:ln>
        </p:spPr>
        <p:txBody>
          <a:bodyPr/>
          <a:lstStyle/>
          <a:p>
            <a:endParaRPr lang="nb-NO" sz="1653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8046" y="925170"/>
            <a:ext cx="319576" cy="30099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089205" y="902114"/>
            <a:ext cx="2521998" cy="315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Method</a:t>
            </a:r>
            <a:endParaRPr lang="en-US" sz="200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4615798" y="1243240"/>
            <a:ext cx="3342256" cy="636150"/>
          </a:xfrm>
          <a:prstGeom prst="roundRect">
            <a:avLst>
              <a:gd name="adj" fmla="val 11217"/>
            </a:avLst>
          </a:prstGeom>
          <a:solidFill>
            <a:srgbClr val="FBE6EC"/>
          </a:solidFill>
          <a:ln w="9525">
            <a:solidFill>
              <a:srgbClr val="F5D3DB"/>
            </a:solidFill>
            <a:prstDash val="solid"/>
          </a:ln>
        </p:spPr>
        <p:txBody>
          <a:bodyPr/>
          <a:lstStyle/>
          <a:p>
            <a:endParaRPr lang="nb-NO" sz="1653"/>
          </a:p>
        </p:txBody>
      </p:sp>
      <p:sp>
        <p:nvSpPr>
          <p:cNvPr id="17" name="Text 13"/>
          <p:cNvSpPr txBox="1"/>
          <p:nvPr/>
        </p:nvSpPr>
        <p:spPr>
          <a:xfrm>
            <a:off x="4635701" y="1212264"/>
            <a:ext cx="3401460" cy="6423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0F2A4A"/>
                </a:solidFill>
                <a:ea typeface="+mn-lt"/>
                <a:cs typeface="+mn-lt"/>
              </a:rPr>
              <a:t>1. Evaluate the model on the validation set using Precision, Recall, F1 and </a:t>
            </a:r>
            <a:r>
              <a:rPr lang="en-US" sz="1400" err="1">
                <a:solidFill>
                  <a:srgbClr val="0F2A4A"/>
                </a:solidFill>
                <a:ea typeface="+mn-lt"/>
                <a:cs typeface="+mn-lt"/>
              </a:rPr>
              <a:t>mAP</a:t>
            </a:r>
            <a:r>
              <a:rPr lang="en-US" sz="1400">
                <a:solidFill>
                  <a:srgbClr val="0F2A4A"/>
                </a:solidFill>
                <a:ea typeface="+mn-lt"/>
                <a:cs typeface="+mn-lt"/>
              </a:rPr>
              <a:t>.</a:t>
            </a:r>
            <a:endParaRPr lang="en-US" sz="1400">
              <a:solidFill>
                <a:srgbClr val="0F2A4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Shape 17"/>
          <p:cNvSpPr/>
          <p:nvPr/>
        </p:nvSpPr>
        <p:spPr>
          <a:xfrm>
            <a:off x="8056986" y="1218460"/>
            <a:ext cx="3883976" cy="661260"/>
          </a:xfrm>
          <a:prstGeom prst="roundRect">
            <a:avLst>
              <a:gd name="adj" fmla="val 10874"/>
            </a:avLst>
          </a:prstGeom>
          <a:solidFill>
            <a:srgbClr val="FBE6EC"/>
          </a:solidFill>
          <a:ln w="9525">
            <a:solidFill>
              <a:srgbClr val="F5D3DB"/>
            </a:solidFill>
            <a:prstDash val="solid"/>
          </a:ln>
        </p:spPr>
        <p:txBody>
          <a:bodyPr/>
          <a:lstStyle/>
          <a:p>
            <a:endParaRPr lang="nb-NO" sz="1653"/>
          </a:p>
        </p:txBody>
      </p:sp>
      <p:sp>
        <p:nvSpPr>
          <p:cNvPr id="22" name="Text 18"/>
          <p:cNvSpPr txBox="1"/>
          <p:nvPr/>
        </p:nvSpPr>
        <p:spPr>
          <a:xfrm>
            <a:off x="8175902" y="1255633"/>
            <a:ext cx="3764399" cy="617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0F2A4A"/>
                </a:solidFill>
                <a:ea typeface="+mn-lt"/>
                <a:cs typeface="+mn-lt"/>
              </a:rPr>
              <a:t>2. </a:t>
            </a:r>
            <a:r>
              <a:rPr lang="en-US" sz="1400" err="1">
                <a:solidFill>
                  <a:srgbClr val="0F2A4A"/>
                </a:solidFill>
                <a:ea typeface="+mn-lt"/>
                <a:cs typeface="+mn-lt"/>
              </a:rPr>
              <a:t>Runned</a:t>
            </a:r>
            <a:r>
              <a:rPr lang="en-US" sz="1400">
                <a:solidFill>
                  <a:srgbClr val="0F2A4A"/>
                </a:solidFill>
                <a:ea typeface="+mn-lt"/>
                <a:cs typeface="+mn-lt"/>
              </a:rPr>
              <a:t> the trained model on 300 independent test frames and measure confidence, missed detections and inference speed.</a:t>
            </a:r>
            <a:endParaRPr lang="nb-NO" sz="1400">
              <a:ea typeface="Calibri"/>
              <a:cs typeface="Calibri"/>
            </a:endParaRPr>
          </a:p>
        </p:txBody>
      </p:sp>
      <p:sp>
        <p:nvSpPr>
          <p:cNvPr id="23" name="Shape 19"/>
          <p:cNvSpPr/>
          <p:nvPr/>
        </p:nvSpPr>
        <p:spPr>
          <a:xfrm>
            <a:off x="52517" y="2042994"/>
            <a:ext cx="12130827" cy="3626889"/>
          </a:xfrm>
          <a:prstGeom prst="roundRect">
            <a:avLst>
              <a:gd name="adj" fmla="val 2810"/>
            </a:avLst>
          </a:prstGeom>
          <a:solidFill>
            <a:srgbClr val="92D050"/>
          </a:solidFill>
          <a:ln w="9525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nb-NO" sz="1653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275" y="2046542"/>
            <a:ext cx="378376" cy="403172"/>
          </a:xfrm>
          <a:prstGeom prst="rect">
            <a:avLst/>
          </a:prstGeom>
        </p:spPr>
      </p:pic>
      <p:sp>
        <p:nvSpPr>
          <p:cNvPr id="32" name="Shape 26"/>
          <p:cNvSpPr/>
          <p:nvPr/>
        </p:nvSpPr>
        <p:spPr>
          <a:xfrm>
            <a:off x="216249" y="2527991"/>
            <a:ext cx="3238021" cy="526449"/>
          </a:xfrm>
          <a:prstGeom prst="roundRect">
            <a:avLst>
              <a:gd name="adj" fmla="val 14531"/>
            </a:avLst>
          </a:prstGeom>
          <a:solidFill>
            <a:srgbClr val="FFFFFF"/>
          </a:solidFill>
          <a:ln w="9525">
            <a:solidFill>
              <a:srgbClr val="D3DFF0"/>
            </a:solidFill>
            <a:prstDash val="solid"/>
          </a:ln>
        </p:spPr>
        <p:txBody>
          <a:bodyPr/>
          <a:lstStyle/>
          <a:p>
            <a:endParaRPr lang="nb-NO" sz="1653"/>
          </a:p>
        </p:txBody>
      </p:sp>
      <p:sp>
        <p:nvSpPr>
          <p:cNvPr id="34" name="Text 27"/>
          <p:cNvSpPr txBox="1"/>
          <p:nvPr/>
        </p:nvSpPr>
        <p:spPr>
          <a:xfrm>
            <a:off x="352501" y="2602334"/>
            <a:ext cx="2221242" cy="402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b="1" dirty="0">
                <a:solidFill>
                  <a:srgbClr val="0F2A4A"/>
                </a:solidFill>
                <a:latin typeface="Calibri"/>
                <a:ea typeface="Calibri"/>
                <a:cs typeface="Calibri"/>
              </a:rPr>
              <a:t>Precision</a:t>
            </a:r>
            <a:r>
              <a:rPr lang="en-US" sz="1150" b="1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:</a:t>
            </a:r>
            <a:r>
              <a:rPr lang="en-US" sz="115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When it says “load”, is it right?</a:t>
            </a:r>
            <a:endParaRPr lang="en-US" sz="1194" dirty="0"/>
          </a:p>
        </p:txBody>
      </p:sp>
      <p:sp>
        <p:nvSpPr>
          <p:cNvPr id="35" name="Shape 28"/>
          <p:cNvSpPr/>
          <p:nvPr/>
        </p:nvSpPr>
        <p:spPr>
          <a:xfrm>
            <a:off x="2576444" y="2633749"/>
            <a:ext cx="815213" cy="283945"/>
          </a:xfrm>
          <a:prstGeom prst="roundRect">
            <a:avLst>
              <a:gd name="adj" fmla="val 17005"/>
            </a:avLst>
          </a:prstGeom>
          <a:solidFill>
            <a:srgbClr val="D9F4E6"/>
          </a:solidFill>
          <a:ln w="9525">
            <a:solidFill>
              <a:srgbClr val="D9F4E6"/>
            </a:solidFill>
            <a:prstDash val="solid"/>
          </a:ln>
        </p:spPr>
        <p:txBody>
          <a:bodyPr/>
          <a:lstStyle/>
          <a:p>
            <a:endParaRPr lang="nb-NO" sz="1653"/>
          </a:p>
        </p:txBody>
      </p:sp>
      <p:sp>
        <p:nvSpPr>
          <p:cNvPr id="36" name="Text 29"/>
          <p:cNvSpPr txBox="1"/>
          <p:nvPr/>
        </p:nvSpPr>
        <p:spPr>
          <a:xfrm>
            <a:off x="2582638" y="2639944"/>
            <a:ext cx="846188" cy="29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37" b="1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0.990</a:t>
            </a:r>
            <a:endParaRPr lang="en-US" sz="1837"/>
          </a:p>
        </p:txBody>
      </p:sp>
      <p:sp>
        <p:nvSpPr>
          <p:cNvPr id="37" name="Shape 30"/>
          <p:cNvSpPr/>
          <p:nvPr/>
        </p:nvSpPr>
        <p:spPr>
          <a:xfrm>
            <a:off x="241044" y="3154207"/>
            <a:ext cx="3200850" cy="507860"/>
          </a:xfrm>
          <a:prstGeom prst="roundRect">
            <a:avLst>
              <a:gd name="adj" fmla="val 14531"/>
            </a:avLst>
          </a:prstGeom>
          <a:solidFill>
            <a:srgbClr val="FFFFFF"/>
          </a:solidFill>
          <a:ln w="9525">
            <a:solidFill>
              <a:srgbClr val="D3DFF0"/>
            </a:solidFill>
            <a:prstDash val="solid"/>
          </a:ln>
        </p:spPr>
        <p:txBody>
          <a:bodyPr/>
          <a:lstStyle/>
          <a:p>
            <a:endParaRPr lang="nb-NO" sz="1653"/>
          </a:p>
        </p:txBody>
      </p:sp>
      <p:sp>
        <p:nvSpPr>
          <p:cNvPr id="39" name="Text 31"/>
          <p:cNvSpPr txBox="1"/>
          <p:nvPr/>
        </p:nvSpPr>
        <p:spPr>
          <a:xfrm>
            <a:off x="383449" y="3148011"/>
            <a:ext cx="1824754" cy="4954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b="1" dirty="0">
                <a:solidFill>
                  <a:srgbClr val="0F2A4A"/>
                </a:solidFill>
                <a:latin typeface="Calibri"/>
                <a:ea typeface="Calibri"/>
                <a:cs typeface="Calibri"/>
              </a:rPr>
              <a:t>Recall</a:t>
            </a:r>
            <a:r>
              <a:rPr lang="en-US" sz="1150" b="1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:</a:t>
            </a:r>
            <a:r>
              <a:rPr lang="en-US" sz="115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Does it find the load every time?</a:t>
            </a:r>
            <a:endParaRPr lang="en-US" sz="1194" dirty="0"/>
          </a:p>
        </p:txBody>
      </p:sp>
      <p:sp>
        <p:nvSpPr>
          <p:cNvPr id="40" name="Shape 32"/>
          <p:cNvSpPr/>
          <p:nvPr/>
        </p:nvSpPr>
        <p:spPr>
          <a:xfrm>
            <a:off x="2533082" y="3259963"/>
            <a:ext cx="827603" cy="283944"/>
          </a:xfrm>
          <a:prstGeom prst="roundRect">
            <a:avLst>
              <a:gd name="adj" fmla="val 17005"/>
            </a:avLst>
          </a:prstGeom>
          <a:solidFill>
            <a:srgbClr val="DBE9FB"/>
          </a:solidFill>
          <a:ln w="9525">
            <a:solidFill>
              <a:srgbClr val="DBE9FB"/>
            </a:solidFill>
            <a:prstDash val="solid"/>
          </a:ln>
        </p:spPr>
        <p:txBody>
          <a:bodyPr/>
          <a:lstStyle/>
          <a:p>
            <a:endParaRPr lang="nb-NO" sz="1653"/>
          </a:p>
        </p:txBody>
      </p:sp>
      <p:sp>
        <p:nvSpPr>
          <p:cNvPr id="41" name="Text 33"/>
          <p:cNvSpPr txBox="1"/>
          <p:nvPr/>
        </p:nvSpPr>
        <p:spPr>
          <a:xfrm>
            <a:off x="2545471" y="3253768"/>
            <a:ext cx="833798" cy="29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37" b="1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0.833</a:t>
            </a:r>
            <a:endParaRPr lang="en-US" sz="1837"/>
          </a:p>
        </p:txBody>
      </p:sp>
      <p:sp>
        <p:nvSpPr>
          <p:cNvPr id="42" name="Shape 34"/>
          <p:cNvSpPr/>
          <p:nvPr/>
        </p:nvSpPr>
        <p:spPr>
          <a:xfrm>
            <a:off x="253432" y="3761944"/>
            <a:ext cx="3225630" cy="433515"/>
          </a:xfrm>
          <a:prstGeom prst="roundRect">
            <a:avLst>
              <a:gd name="adj" fmla="val 14531"/>
            </a:avLst>
          </a:prstGeom>
          <a:solidFill>
            <a:srgbClr val="FFFFFF"/>
          </a:solidFill>
          <a:ln w="9525">
            <a:solidFill>
              <a:srgbClr val="D3DFF0"/>
            </a:solidFill>
            <a:prstDash val="solid"/>
          </a:ln>
        </p:spPr>
        <p:txBody>
          <a:bodyPr/>
          <a:lstStyle/>
          <a:p>
            <a:endParaRPr lang="nb-NO" sz="1653"/>
          </a:p>
        </p:txBody>
      </p:sp>
      <p:sp>
        <p:nvSpPr>
          <p:cNvPr id="44" name="Text 35"/>
          <p:cNvSpPr txBox="1"/>
          <p:nvPr/>
        </p:nvSpPr>
        <p:spPr>
          <a:xfrm>
            <a:off x="352476" y="3823908"/>
            <a:ext cx="1973437" cy="297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b="1" dirty="0">
                <a:solidFill>
                  <a:srgbClr val="0F2A4A"/>
                </a:solidFill>
                <a:latin typeface="Calibri"/>
                <a:ea typeface="Calibri"/>
                <a:cs typeface="Calibri"/>
              </a:rPr>
              <a:t>F1-score: </a:t>
            </a:r>
            <a:r>
              <a:rPr lang="en-US" sz="1150" dirty="0">
                <a:solidFill>
                  <a:srgbClr val="0F2A4A"/>
                </a:solidFill>
                <a:ea typeface="+mn-lt"/>
                <a:cs typeface="+mn-lt"/>
              </a:rPr>
              <a:t>balance between precision and recall</a:t>
            </a:r>
            <a:endParaRPr lang="en-US" sz="1194" dirty="0"/>
          </a:p>
        </p:txBody>
      </p:sp>
      <p:sp>
        <p:nvSpPr>
          <p:cNvPr id="45" name="Shape 36"/>
          <p:cNvSpPr/>
          <p:nvPr/>
        </p:nvSpPr>
        <p:spPr>
          <a:xfrm>
            <a:off x="2526887" y="3830531"/>
            <a:ext cx="827603" cy="290140"/>
          </a:xfrm>
          <a:prstGeom prst="roundRect">
            <a:avLst>
              <a:gd name="adj" fmla="val 17005"/>
            </a:avLst>
          </a:prstGeom>
          <a:solidFill>
            <a:srgbClr val="D9F4E6"/>
          </a:solidFill>
          <a:ln w="9525">
            <a:solidFill>
              <a:srgbClr val="D9F4E6"/>
            </a:solidFill>
            <a:prstDash val="solid"/>
          </a:ln>
        </p:spPr>
        <p:txBody>
          <a:bodyPr/>
          <a:lstStyle/>
          <a:p>
            <a:endParaRPr lang="nb-NO" sz="1653"/>
          </a:p>
        </p:txBody>
      </p:sp>
      <p:sp>
        <p:nvSpPr>
          <p:cNvPr id="46" name="Text 37"/>
          <p:cNvSpPr txBox="1"/>
          <p:nvPr/>
        </p:nvSpPr>
        <p:spPr>
          <a:xfrm>
            <a:off x="2440161" y="3830531"/>
            <a:ext cx="920529" cy="296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37" b="1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0.905</a:t>
            </a:r>
            <a:endParaRPr lang="en-US" sz="1837"/>
          </a:p>
        </p:txBody>
      </p:sp>
      <p:sp>
        <p:nvSpPr>
          <p:cNvPr id="47" name="Shape 38"/>
          <p:cNvSpPr/>
          <p:nvPr/>
        </p:nvSpPr>
        <p:spPr>
          <a:xfrm>
            <a:off x="259629" y="4208494"/>
            <a:ext cx="3225629" cy="743290"/>
          </a:xfrm>
          <a:prstGeom prst="roundRect">
            <a:avLst>
              <a:gd name="adj" fmla="val 14531"/>
            </a:avLst>
          </a:prstGeom>
          <a:solidFill>
            <a:srgbClr val="FFFFFF"/>
          </a:solidFill>
          <a:ln w="9525">
            <a:solidFill>
              <a:srgbClr val="D3DFF0"/>
            </a:solidFill>
            <a:prstDash val="solid"/>
          </a:ln>
        </p:spPr>
        <p:txBody>
          <a:bodyPr/>
          <a:lstStyle/>
          <a:p>
            <a:endParaRPr lang="nb-NO" sz="1653"/>
          </a:p>
        </p:txBody>
      </p:sp>
      <p:sp>
        <p:nvSpPr>
          <p:cNvPr id="49" name="Text 39"/>
          <p:cNvSpPr txBox="1"/>
          <p:nvPr/>
        </p:nvSpPr>
        <p:spPr>
          <a:xfrm>
            <a:off x="364862" y="4450120"/>
            <a:ext cx="1985828" cy="284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b="1" dirty="0">
                <a:solidFill>
                  <a:srgbClr val="0F2A4A"/>
                </a:solidFill>
                <a:latin typeface="Calibri"/>
                <a:ea typeface="Calibri"/>
                <a:cs typeface="Calibri"/>
              </a:rPr>
              <a:t>mAP@50:</a:t>
            </a:r>
            <a:r>
              <a:rPr lang="en-US" sz="1150" dirty="0">
                <a:solidFill>
                  <a:srgbClr val="0F2A4A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150" dirty="0">
                <a:solidFill>
                  <a:srgbClr val="0F2A4A"/>
                </a:solidFill>
                <a:ea typeface="+mn-lt"/>
                <a:cs typeface="+mn-lt"/>
              </a:rPr>
              <a:t>detection accuracy when predicted boxes overlap the true boxes by at least 50% </a:t>
            </a:r>
            <a:r>
              <a:rPr lang="en-US" sz="1150" dirty="0" err="1">
                <a:solidFill>
                  <a:srgbClr val="0F2A4A"/>
                </a:solidFill>
                <a:ea typeface="+mn-lt"/>
                <a:cs typeface="+mn-lt"/>
              </a:rPr>
              <a:t>IoU</a:t>
            </a:r>
            <a:endParaRPr lang="en-US" sz="1194" dirty="0" err="1"/>
          </a:p>
        </p:txBody>
      </p:sp>
      <p:sp>
        <p:nvSpPr>
          <p:cNvPr id="50" name="Shape 40"/>
          <p:cNvSpPr/>
          <p:nvPr/>
        </p:nvSpPr>
        <p:spPr>
          <a:xfrm>
            <a:off x="2520692" y="4407185"/>
            <a:ext cx="809017" cy="333507"/>
          </a:xfrm>
          <a:prstGeom prst="roundRect">
            <a:avLst>
              <a:gd name="adj" fmla="val 17005"/>
            </a:avLst>
          </a:prstGeom>
          <a:solidFill>
            <a:srgbClr val="DBE9FB"/>
          </a:solidFill>
          <a:ln w="9525">
            <a:solidFill>
              <a:srgbClr val="DBE9FB"/>
            </a:solidFill>
            <a:prstDash val="solid"/>
          </a:ln>
        </p:spPr>
        <p:txBody>
          <a:bodyPr/>
          <a:lstStyle/>
          <a:p>
            <a:endParaRPr lang="nb-NO" sz="1653"/>
          </a:p>
        </p:txBody>
      </p:sp>
      <p:sp>
        <p:nvSpPr>
          <p:cNvPr id="51" name="Text 41"/>
          <p:cNvSpPr txBox="1"/>
          <p:nvPr/>
        </p:nvSpPr>
        <p:spPr>
          <a:xfrm>
            <a:off x="2520692" y="4400990"/>
            <a:ext cx="821408" cy="3335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37" b="1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0.955</a:t>
            </a:r>
            <a:endParaRPr lang="en-US" sz="1837"/>
          </a:p>
        </p:txBody>
      </p:sp>
      <p:sp>
        <p:nvSpPr>
          <p:cNvPr id="52" name="Shape 42"/>
          <p:cNvSpPr/>
          <p:nvPr/>
        </p:nvSpPr>
        <p:spPr>
          <a:xfrm>
            <a:off x="247237" y="4958720"/>
            <a:ext cx="3213239" cy="594597"/>
          </a:xfrm>
          <a:prstGeom prst="roundRect">
            <a:avLst>
              <a:gd name="adj" fmla="val 14531"/>
            </a:avLst>
          </a:prstGeom>
          <a:solidFill>
            <a:srgbClr val="FFFFFF"/>
          </a:solidFill>
          <a:ln w="9525">
            <a:solidFill>
              <a:srgbClr val="D3DFF0"/>
            </a:solidFill>
            <a:prstDash val="solid"/>
          </a:ln>
        </p:spPr>
        <p:txBody>
          <a:bodyPr/>
          <a:lstStyle/>
          <a:p>
            <a:endParaRPr lang="nb-NO" sz="1653"/>
          </a:p>
        </p:txBody>
      </p:sp>
      <p:sp>
        <p:nvSpPr>
          <p:cNvPr id="54" name="Text 43"/>
          <p:cNvSpPr txBox="1"/>
          <p:nvPr/>
        </p:nvSpPr>
        <p:spPr>
          <a:xfrm>
            <a:off x="383438" y="5014483"/>
            <a:ext cx="1917679" cy="520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b="1" dirty="0">
                <a:solidFill>
                  <a:srgbClr val="0F2A4A"/>
                </a:solidFill>
                <a:ea typeface="+mn-lt"/>
                <a:cs typeface="+mn-lt"/>
              </a:rPr>
              <a:t>mAP@50–95:</a:t>
            </a:r>
            <a:r>
              <a:rPr lang="en-US" sz="1150" dirty="0">
                <a:solidFill>
                  <a:srgbClr val="0F2A4A"/>
                </a:solidFill>
                <a:ea typeface="+mn-lt"/>
                <a:cs typeface="+mn-lt"/>
              </a:rPr>
              <a:t> performance across </a:t>
            </a:r>
            <a:r>
              <a:rPr lang="en-US" sz="1150" dirty="0" err="1">
                <a:solidFill>
                  <a:srgbClr val="0F2A4A"/>
                </a:solidFill>
                <a:ea typeface="+mn-lt"/>
                <a:cs typeface="+mn-lt"/>
              </a:rPr>
              <a:t>IoU</a:t>
            </a:r>
            <a:r>
              <a:rPr lang="en-US" sz="1150" dirty="0">
                <a:solidFill>
                  <a:srgbClr val="0F2A4A"/>
                </a:solidFill>
                <a:ea typeface="+mn-lt"/>
                <a:cs typeface="+mn-lt"/>
              </a:rPr>
              <a:t> 0.50–0.95, requiring more precise box overlap.</a:t>
            </a:r>
            <a:endParaRPr lang="nb-NO" dirty="0">
              <a:ea typeface="Calibri"/>
              <a:cs typeface="Calibri"/>
            </a:endParaRPr>
          </a:p>
        </p:txBody>
      </p:sp>
      <p:sp>
        <p:nvSpPr>
          <p:cNvPr id="55" name="Shape 44"/>
          <p:cNvSpPr/>
          <p:nvPr/>
        </p:nvSpPr>
        <p:spPr>
          <a:xfrm>
            <a:off x="2495922" y="5114046"/>
            <a:ext cx="802822" cy="265358"/>
          </a:xfrm>
          <a:prstGeom prst="roundRect">
            <a:avLst>
              <a:gd name="adj" fmla="val 17005"/>
            </a:avLst>
          </a:prstGeom>
          <a:solidFill>
            <a:srgbClr val="D9F4E6"/>
          </a:solidFill>
          <a:ln w="9525">
            <a:solidFill>
              <a:srgbClr val="D9F4E6"/>
            </a:solidFill>
            <a:prstDash val="solid"/>
          </a:ln>
        </p:spPr>
        <p:txBody>
          <a:bodyPr/>
          <a:lstStyle/>
          <a:p>
            <a:endParaRPr lang="nb-NO" sz="1653"/>
          </a:p>
        </p:txBody>
      </p:sp>
      <p:sp>
        <p:nvSpPr>
          <p:cNvPr id="56" name="Text 45"/>
          <p:cNvSpPr txBox="1"/>
          <p:nvPr/>
        </p:nvSpPr>
        <p:spPr>
          <a:xfrm>
            <a:off x="2508312" y="5132632"/>
            <a:ext cx="802822" cy="252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37" b="1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0.790</a:t>
            </a:r>
            <a:endParaRPr lang="en-US" sz="1837"/>
          </a:p>
        </p:txBody>
      </p:sp>
      <p:sp>
        <p:nvSpPr>
          <p:cNvPr id="60" name="Text 48"/>
          <p:cNvSpPr txBox="1"/>
          <p:nvPr/>
        </p:nvSpPr>
        <p:spPr>
          <a:xfrm>
            <a:off x="4249100" y="2224584"/>
            <a:ext cx="6868751" cy="209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Results: Test frames Performance (300 frames)</a:t>
            </a:r>
            <a:endParaRPr lang="en-US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1" name="Shape 49"/>
          <p:cNvSpPr/>
          <p:nvPr/>
        </p:nvSpPr>
        <p:spPr>
          <a:xfrm>
            <a:off x="4213883" y="2533858"/>
            <a:ext cx="1847363" cy="699853"/>
          </a:xfrm>
          <a:prstGeom prst="roundRect">
            <a:avLst>
              <a:gd name="adj" fmla="val 7952"/>
            </a:avLst>
          </a:prstGeom>
          <a:solidFill>
            <a:srgbClr val="FFFFFF"/>
          </a:solidFill>
          <a:ln w="9525">
            <a:solidFill>
              <a:srgbClr val="F0D3DB"/>
            </a:solidFill>
            <a:prstDash val="solid"/>
          </a:ln>
        </p:spPr>
        <p:txBody>
          <a:bodyPr/>
          <a:lstStyle/>
          <a:p>
            <a:endParaRPr lang="nb-NO" sz="1653"/>
          </a:p>
        </p:txBody>
      </p:sp>
      <p:sp>
        <p:nvSpPr>
          <p:cNvPr id="64" name="Text 51"/>
          <p:cNvSpPr txBox="1"/>
          <p:nvPr/>
        </p:nvSpPr>
        <p:spPr>
          <a:xfrm>
            <a:off x="4289542" y="2549174"/>
            <a:ext cx="1746484" cy="264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6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confidence</a:t>
            </a:r>
            <a:endParaRPr lang="en-US" sz="1056"/>
          </a:p>
        </p:txBody>
      </p:sp>
      <p:sp>
        <p:nvSpPr>
          <p:cNvPr id="65" name="Shape 52"/>
          <p:cNvSpPr/>
          <p:nvPr/>
        </p:nvSpPr>
        <p:spPr>
          <a:xfrm>
            <a:off x="4283238" y="2782459"/>
            <a:ext cx="1696043" cy="264810"/>
          </a:xfrm>
          <a:prstGeom prst="roundRect">
            <a:avLst>
              <a:gd name="adj" fmla="val 15858"/>
            </a:avLst>
          </a:prstGeom>
          <a:solidFill>
            <a:srgbClr val="FBDDE4"/>
          </a:solidFill>
          <a:ln w="9525">
            <a:solidFill>
              <a:srgbClr val="FBDDE4"/>
            </a:solidFill>
            <a:prstDash val="solid"/>
          </a:ln>
        </p:spPr>
        <p:txBody>
          <a:bodyPr/>
          <a:lstStyle/>
          <a:p>
            <a:endParaRPr lang="nb-NO" sz="1653"/>
          </a:p>
        </p:txBody>
      </p:sp>
      <p:sp>
        <p:nvSpPr>
          <p:cNvPr id="66" name="Text 53"/>
          <p:cNvSpPr txBox="1"/>
          <p:nvPr/>
        </p:nvSpPr>
        <p:spPr>
          <a:xfrm>
            <a:off x="4239100" y="2785632"/>
            <a:ext cx="1696043" cy="264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37" b="1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0.892</a:t>
            </a:r>
            <a:endParaRPr lang="en-US" sz="1837"/>
          </a:p>
        </p:txBody>
      </p:sp>
      <p:sp>
        <p:nvSpPr>
          <p:cNvPr id="67" name="Shape 54"/>
          <p:cNvSpPr/>
          <p:nvPr/>
        </p:nvSpPr>
        <p:spPr>
          <a:xfrm>
            <a:off x="6111685" y="2533859"/>
            <a:ext cx="1796924" cy="725074"/>
          </a:xfrm>
          <a:prstGeom prst="roundRect">
            <a:avLst>
              <a:gd name="adj" fmla="val 7952"/>
            </a:avLst>
          </a:prstGeom>
          <a:solidFill>
            <a:srgbClr val="FFFFFF"/>
          </a:solidFill>
          <a:ln w="9525">
            <a:solidFill>
              <a:srgbClr val="F0D3DB"/>
            </a:solidFill>
            <a:prstDash val="solid"/>
          </a:ln>
        </p:spPr>
        <p:txBody>
          <a:bodyPr/>
          <a:lstStyle/>
          <a:p>
            <a:endParaRPr lang="nb-NO" sz="1653"/>
          </a:p>
        </p:txBody>
      </p:sp>
      <p:sp>
        <p:nvSpPr>
          <p:cNvPr id="70" name="Text 56"/>
          <p:cNvSpPr txBox="1"/>
          <p:nvPr/>
        </p:nvSpPr>
        <p:spPr>
          <a:xfrm>
            <a:off x="5622712" y="2550387"/>
            <a:ext cx="2544774" cy="27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0F2A4A"/>
                </a:solidFill>
                <a:latin typeface="Calibri"/>
                <a:ea typeface="Calibri"/>
                <a:cs typeface="Calibri"/>
              </a:rPr>
              <a:t>Frames with no detection</a:t>
            </a:r>
            <a:endParaRPr lang="en-US" sz="1050" dirty="0">
              <a:latin typeface="Calibri"/>
              <a:ea typeface="Calibri"/>
              <a:cs typeface="Calibri"/>
            </a:endParaRPr>
          </a:p>
        </p:txBody>
      </p:sp>
      <p:sp>
        <p:nvSpPr>
          <p:cNvPr id="71" name="Shape 57"/>
          <p:cNvSpPr/>
          <p:nvPr/>
        </p:nvSpPr>
        <p:spPr>
          <a:xfrm>
            <a:off x="6125399" y="2794946"/>
            <a:ext cx="1645604" cy="264810"/>
          </a:xfrm>
          <a:prstGeom prst="roundRect">
            <a:avLst>
              <a:gd name="adj" fmla="val 15858"/>
            </a:avLst>
          </a:prstGeom>
          <a:solidFill>
            <a:srgbClr val="DBE9FB"/>
          </a:solidFill>
          <a:ln w="9525">
            <a:solidFill>
              <a:srgbClr val="DBE9FB"/>
            </a:solidFill>
            <a:prstDash val="solid"/>
          </a:ln>
        </p:spPr>
        <p:txBody>
          <a:bodyPr/>
          <a:lstStyle/>
          <a:p>
            <a:endParaRPr lang="nb-NO" sz="1653"/>
          </a:p>
        </p:txBody>
      </p:sp>
      <p:sp>
        <p:nvSpPr>
          <p:cNvPr id="72" name="Text 58"/>
          <p:cNvSpPr txBox="1"/>
          <p:nvPr/>
        </p:nvSpPr>
        <p:spPr>
          <a:xfrm>
            <a:off x="6122246" y="2812596"/>
            <a:ext cx="1645604" cy="264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37" b="1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300</a:t>
            </a:r>
            <a:endParaRPr lang="en-US" sz="1837"/>
          </a:p>
        </p:txBody>
      </p:sp>
      <p:sp>
        <p:nvSpPr>
          <p:cNvPr id="73" name="Shape 59"/>
          <p:cNvSpPr/>
          <p:nvPr/>
        </p:nvSpPr>
        <p:spPr>
          <a:xfrm>
            <a:off x="7971659" y="2533858"/>
            <a:ext cx="1778008" cy="699853"/>
          </a:xfrm>
          <a:prstGeom prst="roundRect">
            <a:avLst>
              <a:gd name="adj" fmla="val 7952"/>
            </a:avLst>
          </a:prstGeom>
          <a:solidFill>
            <a:srgbClr val="FFFFFF"/>
          </a:solidFill>
          <a:ln w="9525">
            <a:solidFill>
              <a:srgbClr val="F0D3DB"/>
            </a:solidFill>
            <a:prstDash val="solid"/>
          </a:ln>
        </p:spPr>
        <p:txBody>
          <a:bodyPr/>
          <a:lstStyle/>
          <a:p>
            <a:endParaRPr lang="nb-NO" sz="1653"/>
          </a:p>
        </p:txBody>
      </p:sp>
      <p:sp>
        <p:nvSpPr>
          <p:cNvPr id="76" name="Text 61"/>
          <p:cNvSpPr txBox="1"/>
          <p:nvPr/>
        </p:nvSpPr>
        <p:spPr>
          <a:xfrm>
            <a:off x="7990574" y="2597833"/>
            <a:ext cx="1677128" cy="264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6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inference time</a:t>
            </a:r>
            <a:endParaRPr lang="en-US" sz="1056"/>
          </a:p>
        </p:txBody>
      </p:sp>
      <p:sp>
        <p:nvSpPr>
          <p:cNvPr id="77" name="Shape 62"/>
          <p:cNvSpPr/>
          <p:nvPr/>
        </p:nvSpPr>
        <p:spPr>
          <a:xfrm>
            <a:off x="8038557" y="2883208"/>
            <a:ext cx="1626689" cy="264810"/>
          </a:xfrm>
          <a:prstGeom prst="roundRect">
            <a:avLst>
              <a:gd name="adj" fmla="val 15858"/>
            </a:avLst>
          </a:prstGeom>
          <a:solidFill>
            <a:srgbClr val="FBDDE4"/>
          </a:solidFill>
          <a:ln w="9525">
            <a:solidFill>
              <a:srgbClr val="FBDDE4"/>
            </a:solidFill>
            <a:prstDash val="solid"/>
          </a:ln>
        </p:spPr>
        <p:txBody>
          <a:bodyPr/>
          <a:lstStyle/>
          <a:p>
            <a:endParaRPr lang="nb-NO" sz="1653"/>
          </a:p>
        </p:txBody>
      </p:sp>
      <p:sp>
        <p:nvSpPr>
          <p:cNvPr id="78" name="Text 63"/>
          <p:cNvSpPr txBox="1"/>
          <p:nvPr/>
        </p:nvSpPr>
        <p:spPr>
          <a:xfrm>
            <a:off x="8015793" y="2895818"/>
            <a:ext cx="1626689" cy="264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37" b="1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69.5 ms</a:t>
            </a:r>
            <a:endParaRPr lang="en-US" sz="1837"/>
          </a:p>
        </p:txBody>
      </p:sp>
      <p:sp>
        <p:nvSpPr>
          <p:cNvPr id="79" name="Shape 64"/>
          <p:cNvSpPr/>
          <p:nvPr/>
        </p:nvSpPr>
        <p:spPr>
          <a:xfrm>
            <a:off x="9825328" y="2533859"/>
            <a:ext cx="1859974" cy="725074"/>
          </a:xfrm>
          <a:prstGeom prst="roundRect">
            <a:avLst>
              <a:gd name="adj" fmla="val 7952"/>
            </a:avLst>
          </a:prstGeom>
          <a:solidFill>
            <a:srgbClr val="FFFFFF"/>
          </a:solidFill>
          <a:ln w="9525">
            <a:solidFill>
              <a:srgbClr val="F0D3DB"/>
            </a:solidFill>
            <a:prstDash val="solid"/>
          </a:ln>
        </p:spPr>
        <p:txBody>
          <a:bodyPr/>
          <a:lstStyle/>
          <a:p>
            <a:endParaRPr lang="nb-NO" sz="1653"/>
          </a:p>
        </p:txBody>
      </p:sp>
      <p:sp>
        <p:nvSpPr>
          <p:cNvPr id="82" name="Text 66"/>
          <p:cNvSpPr txBox="1"/>
          <p:nvPr/>
        </p:nvSpPr>
        <p:spPr>
          <a:xfrm>
            <a:off x="9844241" y="2559077"/>
            <a:ext cx="1759093" cy="264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6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FPS</a:t>
            </a:r>
            <a:endParaRPr lang="en-US" sz="1056"/>
          </a:p>
        </p:txBody>
      </p:sp>
      <p:sp>
        <p:nvSpPr>
          <p:cNvPr id="83" name="Shape 67"/>
          <p:cNvSpPr/>
          <p:nvPr/>
        </p:nvSpPr>
        <p:spPr>
          <a:xfrm>
            <a:off x="9885224" y="2899547"/>
            <a:ext cx="1708654" cy="264810"/>
          </a:xfrm>
          <a:prstGeom prst="roundRect">
            <a:avLst>
              <a:gd name="adj" fmla="val 15858"/>
            </a:avLst>
          </a:prstGeom>
          <a:solidFill>
            <a:srgbClr val="DBE9FB"/>
          </a:solidFill>
          <a:ln w="9525">
            <a:solidFill>
              <a:srgbClr val="DBE9FB"/>
            </a:solidFill>
            <a:prstDash val="solid"/>
          </a:ln>
        </p:spPr>
        <p:txBody>
          <a:bodyPr/>
          <a:lstStyle/>
          <a:p>
            <a:endParaRPr lang="nb-NO" sz="1653"/>
          </a:p>
        </p:txBody>
      </p:sp>
      <p:sp>
        <p:nvSpPr>
          <p:cNvPr id="84" name="Text 68"/>
          <p:cNvSpPr txBox="1"/>
          <p:nvPr/>
        </p:nvSpPr>
        <p:spPr>
          <a:xfrm>
            <a:off x="9894680" y="2918991"/>
            <a:ext cx="1708654" cy="264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37" b="1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14.4</a:t>
            </a:r>
            <a:endParaRPr lang="en-US" sz="1837"/>
          </a:p>
        </p:txBody>
      </p:sp>
      <p:sp>
        <p:nvSpPr>
          <p:cNvPr id="85" name="Shape 69"/>
          <p:cNvSpPr/>
          <p:nvPr/>
        </p:nvSpPr>
        <p:spPr>
          <a:xfrm>
            <a:off x="3588001" y="3336460"/>
            <a:ext cx="2800888" cy="2169748"/>
          </a:xfrm>
          <a:prstGeom prst="roundRect">
            <a:avLst>
              <a:gd name="adj" fmla="val 4099"/>
            </a:avLst>
          </a:prstGeom>
          <a:solidFill>
            <a:srgbClr val="FFFFFF"/>
          </a:solidFill>
          <a:ln w="9525">
            <a:solidFill>
              <a:srgbClr val="F0D3DB"/>
            </a:solidFill>
            <a:prstDash val="solid"/>
          </a:ln>
        </p:spPr>
        <p:txBody>
          <a:bodyPr/>
          <a:lstStyle/>
          <a:p>
            <a:endParaRPr lang="nb-NO" sz="1653"/>
          </a:p>
        </p:txBody>
      </p:sp>
      <p:sp>
        <p:nvSpPr>
          <p:cNvPr id="88" name="Shape 72"/>
          <p:cNvSpPr/>
          <p:nvPr/>
        </p:nvSpPr>
        <p:spPr>
          <a:xfrm>
            <a:off x="6495061" y="3324069"/>
            <a:ext cx="2694252" cy="2206922"/>
          </a:xfrm>
          <a:prstGeom prst="roundRect">
            <a:avLst>
              <a:gd name="adj" fmla="val 4099"/>
            </a:avLst>
          </a:prstGeom>
          <a:solidFill>
            <a:srgbClr val="FFFFFF"/>
          </a:solidFill>
          <a:ln w="9525">
            <a:solidFill>
              <a:srgbClr val="F0D3DB"/>
            </a:solidFill>
            <a:prstDash val="solid"/>
          </a:ln>
        </p:spPr>
        <p:txBody>
          <a:bodyPr/>
          <a:lstStyle/>
          <a:p>
            <a:endParaRPr lang="nb-NO" sz="1653"/>
          </a:p>
        </p:txBody>
      </p:sp>
      <p:sp>
        <p:nvSpPr>
          <p:cNvPr id="91" name="Shape 75"/>
          <p:cNvSpPr/>
          <p:nvPr/>
        </p:nvSpPr>
        <p:spPr>
          <a:xfrm>
            <a:off x="9264735" y="3311679"/>
            <a:ext cx="2860422" cy="2237899"/>
          </a:xfrm>
          <a:prstGeom prst="roundRect">
            <a:avLst>
              <a:gd name="adj" fmla="val 4099"/>
            </a:avLst>
          </a:prstGeom>
          <a:solidFill>
            <a:srgbClr val="FFFFFF"/>
          </a:solidFill>
          <a:ln w="9525">
            <a:solidFill>
              <a:srgbClr val="F0D3DB"/>
            </a:solidFill>
            <a:prstDash val="solid"/>
          </a:ln>
        </p:spPr>
        <p:txBody>
          <a:bodyPr/>
          <a:lstStyle/>
          <a:p>
            <a:endParaRPr lang="nb-NO" sz="1653"/>
          </a:p>
        </p:txBody>
      </p:sp>
      <p:pic>
        <p:nvPicPr>
          <p:cNvPr id="106" name="Bilde 105">
            <a:extLst>
              <a:ext uri="{FF2B5EF4-FFF2-40B4-BE49-F238E27FC236}">
                <a16:creationId xmlns:a16="http://schemas.microsoft.com/office/drawing/2014/main" id="{B012FFEE-A47B-4F05-D45F-8164F5D971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8612" y="3403338"/>
            <a:ext cx="2544807" cy="1982901"/>
          </a:xfrm>
          <a:prstGeom prst="rect">
            <a:avLst/>
          </a:prstGeom>
        </p:spPr>
      </p:pic>
      <p:pic>
        <p:nvPicPr>
          <p:cNvPr id="108" name="Bilde 107">
            <a:extLst>
              <a:ext uri="{FF2B5EF4-FFF2-40B4-BE49-F238E27FC236}">
                <a16:creationId xmlns:a16="http://schemas.microsoft.com/office/drawing/2014/main" id="{05691E22-D8DE-8194-852E-C03919153CE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89190" y="3379330"/>
            <a:ext cx="2698156" cy="2106270"/>
          </a:xfrm>
          <a:prstGeom prst="rect">
            <a:avLst/>
          </a:prstGeom>
        </p:spPr>
      </p:pic>
      <p:pic>
        <p:nvPicPr>
          <p:cNvPr id="110" name="Bilde 109">
            <a:extLst>
              <a:ext uri="{FF2B5EF4-FFF2-40B4-BE49-F238E27FC236}">
                <a16:creationId xmlns:a16="http://schemas.microsoft.com/office/drawing/2014/main" id="{52EC92B3-1900-B9D7-8EA5-163655B13CC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95582" y="3386325"/>
            <a:ext cx="2800202" cy="2085873"/>
          </a:xfrm>
          <a:prstGeom prst="rect">
            <a:avLst/>
          </a:prstGeom>
        </p:spPr>
      </p:pic>
      <p:sp>
        <p:nvSpPr>
          <p:cNvPr id="62" name="TekstSylinder 61">
            <a:extLst>
              <a:ext uri="{FF2B5EF4-FFF2-40B4-BE49-F238E27FC236}">
                <a16:creationId xmlns:a16="http://schemas.microsoft.com/office/drawing/2014/main" id="{0896303B-6D92-D47A-7C9F-7381B0F8139D}"/>
              </a:ext>
            </a:extLst>
          </p:cNvPr>
          <p:cNvSpPr txBox="1"/>
          <p:nvPr/>
        </p:nvSpPr>
        <p:spPr>
          <a:xfrm>
            <a:off x="667660" y="2076970"/>
            <a:ext cx="189035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nb-NO" sz="2000" b="1" err="1">
                <a:solidFill>
                  <a:schemeClr val="bg1"/>
                </a:solidFill>
                <a:ea typeface="Calibri"/>
                <a:cs typeface="Calibri"/>
              </a:rPr>
              <a:t>Results</a:t>
            </a:r>
            <a:r>
              <a:rPr lang="nb-NO" sz="2000" b="1">
                <a:solidFill>
                  <a:schemeClr val="bg1"/>
                </a:solidFill>
                <a:ea typeface="Calibri"/>
                <a:cs typeface="Calibri"/>
              </a:rPr>
              <a:t> (KPIs)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72646" y="211641"/>
            <a:ext cx="9221512" cy="377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314" b="1">
                <a:solidFill>
                  <a:srgbClr val="0F2A5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Q1(b) Bounding Box and Center Coordinates</a:t>
            </a:r>
            <a:endParaRPr lang="en-US" sz="2314"/>
          </a:p>
        </p:txBody>
      </p:sp>
      <p:sp>
        <p:nvSpPr>
          <p:cNvPr id="4" name="Shape 2"/>
          <p:cNvSpPr/>
          <p:nvPr/>
        </p:nvSpPr>
        <p:spPr>
          <a:xfrm>
            <a:off x="156791" y="900839"/>
            <a:ext cx="11839727" cy="497381"/>
          </a:xfrm>
          <a:prstGeom prst="roundRect">
            <a:avLst>
              <a:gd name="adj" fmla="val 6452"/>
            </a:avLst>
          </a:prstGeom>
          <a:solidFill>
            <a:srgbClr val="DCEAFF"/>
          </a:solidFill>
          <a:ln w="12700">
            <a:solidFill>
              <a:srgbClr val="AFCDF4"/>
            </a:solidFill>
            <a:prstDash val="solid"/>
          </a:ln>
        </p:spPr>
        <p:txBody>
          <a:bodyPr/>
          <a:lstStyle/>
          <a:p>
            <a:endParaRPr lang="nb-NO" sz="1488"/>
          </a:p>
        </p:txBody>
      </p:sp>
      <p:sp>
        <p:nvSpPr>
          <p:cNvPr id="5" name="Text 3"/>
          <p:cNvSpPr/>
          <p:nvPr/>
        </p:nvSpPr>
        <p:spPr>
          <a:xfrm>
            <a:off x="200637" y="915095"/>
            <a:ext cx="1405132" cy="275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F2A52"/>
                </a:solidFill>
              </a:rPr>
              <a:t>OBJECTIVE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82845" y="909789"/>
            <a:ext cx="10532528" cy="395774"/>
          </a:xfrm>
          <a:prstGeom prst="rect">
            <a:avLst/>
          </a:prstGeom>
          <a:noFill/>
          <a:ln/>
        </p:spPr>
        <p:txBody>
          <a:bodyPr wrap="square" lIns="105" tIns="105" rIns="105" bIns="105" rtlCol="0" anchor="ctr"/>
          <a:lstStyle/>
          <a:p>
            <a:r>
              <a:rPr lang="en-US" sz="1000" dirty="0">
                <a:solidFill>
                  <a:srgbClr val="0F2A52"/>
                </a:solidFill>
              </a:rPr>
              <a:t>Show the predicted bounding box, its coordinates and the center point on five randomly sampled test images.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59834" y="1489405"/>
            <a:ext cx="5176255" cy="708033"/>
          </a:xfrm>
          <a:prstGeom prst="roundRect">
            <a:avLst>
              <a:gd name="adj" fmla="val 6452"/>
            </a:avLst>
          </a:prstGeom>
          <a:solidFill>
            <a:srgbClr val="FCE7EF"/>
          </a:solidFill>
          <a:ln w="12700">
            <a:solidFill>
              <a:srgbClr val="F3B8CA"/>
            </a:solidFill>
            <a:prstDash val="solid"/>
          </a:ln>
        </p:spPr>
        <p:txBody>
          <a:bodyPr/>
          <a:lstStyle/>
          <a:p>
            <a:endParaRPr lang="nb-NO" sz="1488"/>
          </a:p>
        </p:txBody>
      </p:sp>
      <p:sp>
        <p:nvSpPr>
          <p:cNvPr id="8" name="Text 6"/>
          <p:cNvSpPr/>
          <p:nvPr/>
        </p:nvSpPr>
        <p:spPr>
          <a:xfrm>
            <a:off x="296513" y="1559388"/>
            <a:ext cx="944827" cy="188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0F2A52"/>
                </a:solidFill>
              </a:rPr>
              <a:t>METHOD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15098" y="1840420"/>
            <a:ext cx="207433" cy="201233"/>
          </a:xfrm>
          <a:prstGeom prst="ellipse">
            <a:avLst/>
          </a:prstGeom>
          <a:solidFill>
            <a:srgbClr val="F45787"/>
          </a:solidFill>
          <a:ln w="12700">
            <a:solidFill>
              <a:srgbClr val="F45787"/>
            </a:solidFill>
            <a:prstDash val="solid"/>
          </a:ln>
        </p:spPr>
        <p:txBody>
          <a:bodyPr/>
          <a:lstStyle/>
          <a:p>
            <a:endParaRPr lang="nb-NO" sz="1488"/>
          </a:p>
        </p:txBody>
      </p:sp>
      <p:sp>
        <p:nvSpPr>
          <p:cNvPr id="10" name="Text 8"/>
          <p:cNvSpPr/>
          <p:nvPr/>
        </p:nvSpPr>
        <p:spPr>
          <a:xfrm>
            <a:off x="296513" y="1876850"/>
            <a:ext cx="256993" cy="136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8" b="1">
                <a:solidFill>
                  <a:srgbClr val="FFFFFF"/>
                </a:solidFill>
              </a:rPr>
              <a:t>1</a:t>
            </a:r>
            <a:endParaRPr lang="en-US" sz="868"/>
          </a:p>
        </p:txBody>
      </p:sp>
      <p:sp>
        <p:nvSpPr>
          <p:cNvPr id="11" name="Text 9"/>
          <p:cNvSpPr/>
          <p:nvPr/>
        </p:nvSpPr>
        <p:spPr>
          <a:xfrm>
            <a:off x="583000" y="1802627"/>
            <a:ext cx="1480095" cy="338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0F2A52"/>
                </a:solidFill>
              </a:rPr>
              <a:t>Randomly sampled 5 test frames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513622" y="1598811"/>
            <a:ext cx="269383" cy="207428"/>
          </a:xfrm>
          <a:prstGeom prst="ellipse">
            <a:avLst/>
          </a:prstGeom>
          <a:solidFill>
            <a:srgbClr val="6C9DF8"/>
          </a:solidFill>
          <a:ln w="12700">
            <a:solidFill>
              <a:srgbClr val="6C9DF8"/>
            </a:solidFill>
            <a:prstDash val="solid"/>
          </a:ln>
        </p:spPr>
        <p:txBody>
          <a:bodyPr/>
          <a:lstStyle/>
          <a:p>
            <a:endParaRPr lang="nb-NO" sz="1488"/>
          </a:p>
        </p:txBody>
      </p:sp>
      <p:sp>
        <p:nvSpPr>
          <p:cNvPr id="13" name="Text 11"/>
          <p:cNvSpPr/>
          <p:nvPr/>
        </p:nvSpPr>
        <p:spPr>
          <a:xfrm>
            <a:off x="1501232" y="1635241"/>
            <a:ext cx="256993" cy="136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8" b="1">
                <a:solidFill>
                  <a:srgbClr val="FFFFFF"/>
                </a:solidFill>
              </a:rPr>
              <a:t>2</a:t>
            </a:r>
            <a:endParaRPr lang="en-US" sz="868"/>
          </a:p>
        </p:txBody>
      </p:sp>
      <p:sp>
        <p:nvSpPr>
          <p:cNvPr id="14" name="Text 12"/>
          <p:cNvSpPr/>
          <p:nvPr/>
        </p:nvSpPr>
        <p:spPr>
          <a:xfrm>
            <a:off x="1818694" y="1567212"/>
            <a:ext cx="1095999" cy="3325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 err="1">
                <a:solidFill>
                  <a:srgbClr val="0F2A52"/>
                </a:solidFill>
              </a:rPr>
              <a:t>Runned</a:t>
            </a:r>
            <a:r>
              <a:rPr lang="en-US" sz="850" dirty="0">
                <a:solidFill>
                  <a:srgbClr val="0F2A52"/>
                </a:solidFill>
              </a:rPr>
              <a:t> YOLO prediction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482948" y="1797054"/>
            <a:ext cx="219823" cy="219819"/>
          </a:xfrm>
          <a:prstGeom prst="ellipse">
            <a:avLst/>
          </a:prstGeom>
          <a:solidFill>
            <a:srgbClr val="F45787"/>
          </a:solidFill>
          <a:ln w="12700">
            <a:solidFill>
              <a:srgbClr val="F45787"/>
            </a:solidFill>
            <a:prstDash val="solid"/>
          </a:ln>
        </p:spPr>
        <p:txBody>
          <a:bodyPr/>
          <a:lstStyle/>
          <a:p>
            <a:endParaRPr lang="nb-NO" sz="1488"/>
          </a:p>
        </p:txBody>
      </p:sp>
      <p:sp>
        <p:nvSpPr>
          <p:cNvPr id="16" name="Text 14"/>
          <p:cNvSpPr/>
          <p:nvPr/>
        </p:nvSpPr>
        <p:spPr>
          <a:xfrm>
            <a:off x="2414801" y="1839679"/>
            <a:ext cx="356114" cy="14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8" b="1">
                <a:solidFill>
                  <a:srgbClr val="FFFFFF"/>
                </a:solidFill>
              </a:rPr>
              <a:t>3</a:t>
            </a:r>
            <a:endParaRPr lang="en-US" sz="868"/>
          </a:p>
        </p:txBody>
      </p:sp>
      <p:sp>
        <p:nvSpPr>
          <p:cNvPr id="17" name="Text 15"/>
          <p:cNvSpPr/>
          <p:nvPr/>
        </p:nvSpPr>
        <p:spPr>
          <a:xfrm>
            <a:off x="2732263" y="1771651"/>
            <a:ext cx="1523462" cy="369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93">
                <a:solidFill>
                  <a:srgbClr val="0F2A52"/>
                </a:solidFill>
              </a:rPr>
              <a:t>Extract box as (x1, y1, x2, y2)</a:t>
            </a:r>
            <a:endParaRPr lang="en-US" sz="893"/>
          </a:p>
        </p:txBody>
      </p:sp>
      <p:sp>
        <p:nvSpPr>
          <p:cNvPr id="18" name="Shape 16"/>
          <p:cNvSpPr/>
          <p:nvPr/>
        </p:nvSpPr>
        <p:spPr>
          <a:xfrm>
            <a:off x="3328374" y="1629786"/>
            <a:ext cx="287969" cy="182648"/>
          </a:xfrm>
          <a:prstGeom prst="ellipse">
            <a:avLst/>
          </a:prstGeom>
          <a:solidFill>
            <a:srgbClr val="6C9DF8"/>
          </a:solidFill>
          <a:ln w="12700">
            <a:solidFill>
              <a:srgbClr val="6C9DF8"/>
            </a:solidFill>
            <a:prstDash val="solid"/>
          </a:ln>
        </p:spPr>
        <p:txBody>
          <a:bodyPr/>
          <a:lstStyle/>
          <a:p>
            <a:endParaRPr lang="nb-NO" sz="1488"/>
          </a:p>
        </p:txBody>
      </p:sp>
      <p:sp>
        <p:nvSpPr>
          <p:cNvPr id="19" name="Text 17"/>
          <p:cNvSpPr/>
          <p:nvPr/>
        </p:nvSpPr>
        <p:spPr>
          <a:xfrm>
            <a:off x="3285009" y="1660021"/>
            <a:ext cx="349919" cy="136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8" b="1">
                <a:solidFill>
                  <a:srgbClr val="FFFFFF"/>
                </a:solidFill>
              </a:rPr>
              <a:t>4</a:t>
            </a:r>
            <a:endParaRPr lang="en-US" sz="868"/>
          </a:p>
        </p:txBody>
      </p:sp>
      <p:sp>
        <p:nvSpPr>
          <p:cNvPr id="20" name="Text 18"/>
          <p:cNvSpPr/>
          <p:nvPr/>
        </p:nvSpPr>
        <p:spPr>
          <a:xfrm>
            <a:off x="3757337" y="1548627"/>
            <a:ext cx="1758876" cy="338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0F2A52"/>
                </a:solidFill>
                <a:ea typeface="+mn-lt"/>
                <a:cs typeface="+mn-lt"/>
              </a:rPr>
              <a:t>Calculate center and visualize with OpenCV</a:t>
            </a:r>
            <a:endParaRPr lang="nb-NO" dirty="0"/>
          </a:p>
        </p:txBody>
      </p:sp>
      <p:sp>
        <p:nvSpPr>
          <p:cNvPr id="21" name="Shape 19"/>
          <p:cNvSpPr/>
          <p:nvPr/>
        </p:nvSpPr>
        <p:spPr>
          <a:xfrm>
            <a:off x="5507967" y="1496515"/>
            <a:ext cx="6461361" cy="692914"/>
          </a:xfrm>
          <a:prstGeom prst="roundRect">
            <a:avLst>
              <a:gd name="adj" fmla="val 11111"/>
            </a:avLst>
          </a:prstGeom>
          <a:solidFill>
            <a:srgbClr val="ECE8FA"/>
          </a:solidFill>
          <a:ln w="12700">
            <a:solidFill>
              <a:srgbClr val="C9BFEF"/>
            </a:solidFill>
            <a:prstDash val="solid"/>
          </a:ln>
        </p:spPr>
        <p:txBody>
          <a:bodyPr/>
          <a:lstStyle/>
          <a:p>
            <a:endParaRPr lang="nb-NO" sz="1488"/>
          </a:p>
        </p:txBody>
      </p:sp>
      <p:sp>
        <p:nvSpPr>
          <p:cNvPr id="22" name="Text 20"/>
          <p:cNvSpPr/>
          <p:nvPr/>
        </p:nvSpPr>
        <p:spPr>
          <a:xfrm>
            <a:off x="5515423" y="1558111"/>
            <a:ext cx="3067292" cy="488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0F2A52"/>
                </a:solidFill>
              </a:rPr>
              <a:t>Center point calculation:</a:t>
            </a:r>
          </a:p>
          <a:p>
            <a:r>
              <a:rPr lang="en-US" sz="1000" dirty="0">
                <a:solidFill>
                  <a:srgbClr val="0F2A52"/>
                </a:solidFill>
                <a:ea typeface="+mn-lt"/>
                <a:cs typeface="+mn-lt"/>
              </a:rPr>
              <a:t>where </a:t>
            </a:r>
            <a:r>
              <a:rPr lang="en-US" sz="1000" dirty="0">
                <a:solidFill>
                  <a:srgbClr val="0F2A52"/>
                </a:solidFill>
                <a:latin typeface="Consolas"/>
                <a:ea typeface="Calibri"/>
                <a:cs typeface="Calibri"/>
              </a:rPr>
              <a:t>(x1, y1)</a:t>
            </a:r>
            <a:r>
              <a:rPr lang="en-US" sz="1000" dirty="0">
                <a:solidFill>
                  <a:srgbClr val="0F2A52"/>
                </a:solidFill>
                <a:ea typeface="+mn-lt"/>
                <a:cs typeface="+mn-lt"/>
              </a:rPr>
              <a:t> and </a:t>
            </a:r>
            <a:r>
              <a:rPr lang="en-US" sz="1000" dirty="0">
                <a:solidFill>
                  <a:srgbClr val="0F2A52"/>
                </a:solidFill>
                <a:latin typeface="Consolas"/>
                <a:ea typeface="Calibri"/>
                <a:cs typeface="Calibri"/>
              </a:rPr>
              <a:t>(x2, y2)</a:t>
            </a:r>
            <a:r>
              <a:rPr lang="en-US" sz="1000" dirty="0">
                <a:solidFill>
                  <a:srgbClr val="0F2A52"/>
                </a:solidFill>
                <a:ea typeface="+mn-lt"/>
                <a:cs typeface="+mn-lt"/>
              </a:rPr>
              <a:t> are the opposite corners of the bounding box.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9087854" y="1397775"/>
            <a:ext cx="2880298" cy="798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0F2A52"/>
                </a:solidFill>
                <a:latin typeface="Aptos Mono"/>
                <a:ea typeface="Aptos Mono" pitchFamily="34" charset="-122"/>
                <a:cs typeface="Aptos Mono" pitchFamily="34" charset="-120"/>
              </a:rPr>
              <a:t>cx = (x1 + x2) / 2 </a:t>
            </a:r>
            <a:endParaRPr lang="en-US" dirty="0">
              <a:solidFill>
                <a:srgbClr val="000000"/>
              </a:solidFill>
              <a:latin typeface="Aptos Mono"/>
              <a:ea typeface="Calibri"/>
              <a:cs typeface="Calibri"/>
            </a:endParaRPr>
          </a:p>
          <a:p>
            <a:r>
              <a:rPr lang="en-US" b="1" dirty="0">
                <a:solidFill>
                  <a:srgbClr val="0F2A52"/>
                </a:solidFill>
                <a:latin typeface="Aptos Mono"/>
                <a:ea typeface="Aptos Mono" pitchFamily="34" charset="-122"/>
                <a:cs typeface="Aptos Mono" pitchFamily="34" charset="-120"/>
              </a:rPr>
              <a:t>cy = (y1 + y2) / 2</a:t>
            </a:r>
            <a:endParaRPr lang="en-US" dirty="0">
              <a:latin typeface="Aptos Mono"/>
              <a:ea typeface="Calibri"/>
              <a:cs typeface="Calibri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148975" y="2392240"/>
            <a:ext cx="11827871" cy="3150409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D7DFEB"/>
            </a:solidFill>
            <a:prstDash val="solid"/>
          </a:ln>
        </p:spPr>
        <p:txBody>
          <a:bodyPr/>
          <a:lstStyle/>
          <a:p>
            <a:endParaRPr lang="nb-NO" sz="1488"/>
          </a:p>
        </p:txBody>
      </p:sp>
      <p:sp>
        <p:nvSpPr>
          <p:cNvPr id="29" name="Text 27"/>
          <p:cNvSpPr/>
          <p:nvPr/>
        </p:nvSpPr>
        <p:spPr>
          <a:xfrm>
            <a:off x="293559" y="2598615"/>
            <a:ext cx="944827" cy="188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0F2A52"/>
                </a:solidFill>
              </a:rPr>
              <a:t>RESULTS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240375" y="2641221"/>
            <a:ext cx="7936548" cy="188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>
                <a:solidFill>
                  <a:srgbClr val="46546A"/>
                </a:solidFill>
              </a:rPr>
              <a:t>Five sampled test frames with the detected swinging load, bounding-box coordinates and center point:</a:t>
            </a:r>
            <a:endParaRPr lang="en-US" sz="975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 marL="0" algn="l" defTabSz="914400" rtl="0" eaLnBrk="1" latinLnBrk="0" hangingPunct="1">
              <a:defRPr sz="800" kern="1200">
                <a:solidFill>
                  <a:srgbClr val="7A879C"/>
                </a:solidFill>
                <a:latin typeface="Aptos"/>
                <a:ea typeface="Aptos"/>
                <a:cs typeface="Apto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/>
              <a:pPr algn="l"/>
              <a:t>4</a:t>
            </a:fld>
            <a:endParaRPr lang="en-US"/>
          </a:p>
        </p:txBody>
      </p:sp>
      <p:pic>
        <p:nvPicPr>
          <p:cNvPr id="32" name="Bilde 31" descr="Et bilde som inneholder skjermbilde, Karminrød&#10;&#10;KI-generert innhold kan være feil.">
            <a:extLst>
              <a:ext uri="{FF2B5EF4-FFF2-40B4-BE49-F238E27FC236}">
                <a16:creationId xmlns:a16="http://schemas.microsoft.com/office/drawing/2014/main" id="{7B1D7364-DBE9-3D62-3E38-DB86ED5DFA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149" y="3166230"/>
            <a:ext cx="11422890" cy="188110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72646" y="166289"/>
            <a:ext cx="9221512" cy="4157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2314" b="1">
                <a:solidFill>
                  <a:srgbClr val="173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Q1(c)  Depth at Bounding-Box Center</a:t>
            </a:r>
            <a:endParaRPr lang="en-US" sz="2314"/>
          </a:p>
        </p:txBody>
      </p:sp>
      <p:sp>
        <p:nvSpPr>
          <p:cNvPr id="3" name="Text 1"/>
          <p:cNvSpPr/>
          <p:nvPr/>
        </p:nvSpPr>
        <p:spPr>
          <a:xfrm>
            <a:off x="2001749" y="597130"/>
            <a:ext cx="8238892" cy="25699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157">
                <a:solidFill>
                  <a:srgbClr val="5B66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Using YOLO center coordinates together with aligned RealSense depth data</a:t>
            </a:r>
            <a:endParaRPr lang="en-US" sz="1157"/>
          </a:p>
        </p:txBody>
      </p:sp>
      <p:sp>
        <p:nvSpPr>
          <p:cNvPr id="4" name="Shape 2"/>
          <p:cNvSpPr/>
          <p:nvPr/>
        </p:nvSpPr>
        <p:spPr>
          <a:xfrm>
            <a:off x="1397060" y="922151"/>
            <a:ext cx="9410478" cy="506427"/>
          </a:xfrm>
          <a:prstGeom prst="roundRect">
            <a:avLst>
              <a:gd name="adj" fmla="val 17910"/>
            </a:avLst>
          </a:prstGeom>
          <a:solidFill>
            <a:srgbClr val="D9B8D3"/>
          </a:solidFill>
          <a:ln w="12700">
            <a:solidFill>
              <a:srgbClr val="B9D1F6"/>
            </a:solidFill>
            <a:prstDash val="solid"/>
          </a:ln>
        </p:spPr>
        <p:txBody>
          <a:bodyPr/>
          <a:lstStyle/>
          <a:p>
            <a:endParaRPr lang="nb-NO" sz="1488"/>
          </a:p>
        </p:txBody>
      </p:sp>
      <p:sp>
        <p:nvSpPr>
          <p:cNvPr id="7" name="Text 5"/>
          <p:cNvSpPr/>
          <p:nvPr/>
        </p:nvSpPr>
        <p:spPr>
          <a:xfrm>
            <a:off x="1850577" y="990179"/>
            <a:ext cx="967503" cy="25699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40" b="1">
                <a:solidFill>
                  <a:srgbClr val="173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</a:t>
            </a:r>
            <a:endParaRPr lang="en-US" sz="1240"/>
          </a:p>
        </p:txBody>
      </p:sp>
      <p:sp>
        <p:nvSpPr>
          <p:cNvPr id="8" name="Text 6"/>
          <p:cNvSpPr/>
          <p:nvPr/>
        </p:nvSpPr>
        <p:spPr>
          <a:xfrm>
            <a:off x="2780287" y="982620"/>
            <a:ext cx="7709789" cy="2872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r>
              <a:rPr lang="en-US" sz="1157">
                <a:solidFill>
                  <a:srgbClr val="173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the YOLO bounding-box center for every test frame and read the corresponding depth value from the matching depth frame.</a:t>
            </a:r>
            <a:endParaRPr lang="en-US" sz="1157"/>
          </a:p>
        </p:txBody>
      </p:sp>
      <p:sp>
        <p:nvSpPr>
          <p:cNvPr id="9" name="Shape 7"/>
          <p:cNvSpPr/>
          <p:nvPr/>
        </p:nvSpPr>
        <p:spPr>
          <a:xfrm>
            <a:off x="1397060" y="1572192"/>
            <a:ext cx="4625873" cy="1239613"/>
          </a:xfrm>
          <a:prstGeom prst="roundRect">
            <a:avLst>
              <a:gd name="adj" fmla="val 7317"/>
            </a:avLst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rgbClr val="92D050"/>
            </a:solidFill>
            <a:prstDash val="solid"/>
          </a:ln>
        </p:spPr>
        <p:txBody>
          <a:bodyPr/>
          <a:lstStyle/>
          <a:p>
            <a:endParaRPr lang="nb-NO" sz="1488"/>
          </a:p>
        </p:txBody>
      </p:sp>
      <p:sp>
        <p:nvSpPr>
          <p:cNvPr id="10" name="Text 8"/>
          <p:cNvSpPr/>
          <p:nvPr/>
        </p:nvSpPr>
        <p:spPr>
          <a:xfrm>
            <a:off x="1601143" y="1678013"/>
            <a:ext cx="831448" cy="2116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lang="en-US" sz="1405" b="1">
                <a:solidFill>
                  <a:srgbClr val="173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</a:t>
            </a:r>
            <a:endParaRPr lang="en-US" sz="1405"/>
          </a:p>
        </p:txBody>
      </p:sp>
      <p:sp>
        <p:nvSpPr>
          <p:cNvPr id="11" name="Shape 9"/>
          <p:cNvSpPr/>
          <p:nvPr/>
        </p:nvSpPr>
        <p:spPr>
          <a:xfrm>
            <a:off x="1616260" y="2025709"/>
            <a:ext cx="287227" cy="287227"/>
          </a:xfrm>
          <a:prstGeom prst="ellipse">
            <a:avLst/>
          </a:prstGeom>
          <a:solidFill>
            <a:srgbClr val="169A7A"/>
          </a:solidFill>
          <a:ln w="12700">
            <a:solidFill>
              <a:srgbClr val="169A7A"/>
            </a:solidFill>
            <a:prstDash val="solid"/>
          </a:ln>
        </p:spPr>
        <p:txBody>
          <a:bodyPr/>
          <a:lstStyle/>
          <a:p>
            <a:endParaRPr lang="nb-NO" sz="1488"/>
          </a:p>
        </p:txBody>
      </p:sp>
      <p:sp>
        <p:nvSpPr>
          <p:cNvPr id="12" name="Text 10"/>
          <p:cNvSpPr/>
          <p:nvPr/>
        </p:nvSpPr>
        <p:spPr>
          <a:xfrm>
            <a:off x="1616260" y="2029489"/>
            <a:ext cx="287227" cy="2494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157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57"/>
          </a:p>
        </p:txBody>
      </p:sp>
      <p:sp>
        <p:nvSpPr>
          <p:cNvPr id="13" name="Text 11"/>
          <p:cNvSpPr/>
          <p:nvPr/>
        </p:nvSpPr>
        <p:spPr>
          <a:xfrm>
            <a:off x="1948839" y="1950123"/>
            <a:ext cx="1171586" cy="4157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1075" b="1">
                <a:solidFill>
                  <a:srgbClr val="173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 RGB and depth by frame index</a:t>
            </a:r>
            <a:endParaRPr lang="en-US" sz="1075"/>
          </a:p>
        </p:txBody>
      </p:sp>
      <p:sp>
        <p:nvSpPr>
          <p:cNvPr id="14" name="Text 12"/>
          <p:cNvSpPr/>
          <p:nvPr/>
        </p:nvSpPr>
        <p:spPr>
          <a:xfrm>
            <a:off x="1948839" y="2343171"/>
            <a:ext cx="1300082" cy="2721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lang="en-US" sz="909">
                <a:solidFill>
                  <a:srgbClr val="5B66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RGB frame 0042 → depth frame 0042</a:t>
            </a:r>
            <a:endParaRPr lang="en-US" sz="909"/>
          </a:p>
        </p:txBody>
      </p:sp>
      <p:sp>
        <p:nvSpPr>
          <p:cNvPr id="15" name="Shape 13"/>
          <p:cNvSpPr/>
          <p:nvPr/>
        </p:nvSpPr>
        <p:spPr>
          <a:xfrm>
            <a:off x="3339625" y="2025709"/>
            <a:ext cx="287227" cy="287227"/>
          </a:xfrm>
          <a:prstGeom prst="ellipse">
            <a:avLst/>
          </a:prstGeom>
          <a:solidFill>
            <a:srgbClr val="169A7A"/>
          </a:solidFill>
          <a:ln w="12700">
            <a:solidFill>
              <a:srgbClr val="169A7A"/>
            </a:solidFill>
            <a:prstDash val="solid"/>
          </a:ln>
        </p:spPr>
        <p:txBody>
          <a:bodyPr/>
          <a:lstStyle/>
          <a:p>
            <a:endParaRPr lang="nb-NO" sz="1488"/>
          </a:p>
        </p:txBody>
      </p:sp>
      <p:sp>
        <p:nvSpPr>
          <p:cNvPr id="16" name="Text 14"/>
          <p:cNvSpPr/>
          <p:nvPr/>
        </p:nvSpPr>
        <p:spPr>
          <a:xfrm>
            <a:off x="3339625" y="2029489"/>
            <a:ext cx="287227" cy="2494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157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57"/>
          </a:p>
        </p:txBody>
      </p:sp>
      <p:sp>
        <p:nvSpPr>
          <p:cNvPr id="17" name="Text 15"/>
          <p:cNvSpPr/>
          <p:nvPr/>
        </p:nvSpPr>
        <p:spPr>
          <a:xfrm>
            <a:off x="3672203" y="1950123"/>
            <a:ext cx="1171586" cy="4157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75" b="1">
                <a:solidFill>
                  <a:srgbClr val="173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YOLO center (cx, cy)</a:t>
            </a:r>
            <a:endParaRPr lang="en-US" sz="1075"/>
          </a:p>
        </p:txBody>
      </p:sp>
      <p:sp>
        <p:nvSpPr>
          <p:cNvPr id="18" name="Text 16"/>
          <p:cNvSpPr/>
          <p:nvPr/>
        </p:nvSpPr>
        <p:spPr>
          <a:xfrm>
            <a:off x="3672204" y="2343171"/>
            <a:ext cx="1300082" cy="2721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r>
              <a:rPr lang="en-US" sz="909">
                <a:solidFill>
                  <a:srgbClr val="5B66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Center calculated from the predicted bounding box</a:t>
            </a:r>
            <a:endParaRPr lang="en-US" sz="909"/>
          </a:p>
        </p:txBody>
      </p:sp>
      <p:sp>
        <p:nvSpPr>
          <p:cNvPr id="19" name="Shape 17"/>
          <p:cNvSpPr/>
          <p:nvPr/>
        </p:nvSpPr>
        <p:spPr>
          <a:xfrm>
            <a:off x="4987403" y="2025709"/>
            <a:ext cx="287227" cy="287227"/>
          </a:xfrm>
          <a:prstGeom prst="ellipse">
            <a:avLst/>
          </a:prstGeom>
          <a:solidFill>
            <a:srgbClr val="169A7A"/>
          </a:solidFill>
          <a:ln w="12700">
            <a:solidFill>
              <a:srgbClr val="169A7A"/>
            </a:solidFill>
            <a:prstDash val="solid"/>
          </a:ln>
        </p:spPr>
        <p:txBody>
          <a:bodyPr/>
          <a:lstStyle/>
          <a:p>
            <a:endParaRPr lang="nb-NO" sz="1488"/>
          </a:p>
        </p:txBody>
      </p:sp>
      <p:sp>
        <p:nvSpPr>
          <p:cNvPr id="20" name="Text 18"/>
          <p:cNvSpPr/>
          <p:nvPr/>
        </p:nvSpPr>
        <p:spPr>
          <a:xfrm>
            <a:off x="4987403" y="2029489"/>
            <a:ext cx="287227" cy="2494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157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57"/>
          </a:p>
        </p:txBody>
      </p:sp>
      <p:sp>
        <p:nvSpPr>
          <p:cNvPr id="21" name="Text 19"/>
          <p:cNvSpPr/>
          <p:nvPr/>
        </p:nvSpPr>
        <p:spPr>
          <a:xfrm>
            <a:off x="5319982" y="1950123"/>
            <a:ext cx="574455" cy="4157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r>
              <a:rPr lang="en-US" sz="1075" b="1">
                <a:solidFill>
                  <a:srgbClr val="173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aligned depth at same pixel</a:t>
            </a:r>
            <a:endParaRPr lang="en-US" sz="1075"/>
          </a:p>
        </p:txBody>
      </p:sp>
      <p:sp>
        <p:nvSpPr>
          <p:cNvPr id="22" name="Text 20"/>
          <p:cNvSpPr/>
          <p:nvPr/>
        </p:nvSpPr>
        <p:spPr>
          <a:xfrm>
            <a:off x="5319982" y="2343171"/>
            <a:ext cx="574455" cy="2721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r>
              <a:rPr lang="en-US" sz="909">
                <a:solidFill>
                  <a:srgbClr val="5B66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depth × scale → meters</a:t>
            </a:r>
            <a:endParaRPr lang="en-US" sz="909"/>
          </a:p>
        </p:txBody>
      </p:sp>
      <p:sp>
        <p:nvSpPr>
          <p:cNvPr id="23" name="Shape 21"/>
          <p:cNvSpPr/>
          <p:nvPr/>
        </p:nvSpPr>
        <p:spPr>
          <a:xfrm>
            <a:off x="6166547" y="1572192"/>
            <a:ext cx="4640991" cy="1239613"/>
          </a:xfrm>
          <a:prstGeom prst="roundRect">
            <a:avLst>
              <a:gd name="adj" fmla="val 7317"/>
            </a:avLst>
          </a:prstGeom>
          <a:solidFill>
            <a:srgbClr val="EEE9FB"/>
          </a:solidFill>
          <a:ln w="12700">
            <a:solidFill>
              <a:srgbClr val="D7CFF0"/>
            </a:solidFill>
            <a:prstDash val="solid"/>
          </a:ln>
        </p:spPr>
        <p:txBody>
          <a:bodyPr/>
          <a:lstStyle/>
          <a:p>
            <a:endParaRPr lang="nb-NO" sz="1488"/>
          </a:p>
        </p:txBody>
      </p:sp>
      <p:sp>
        <p:nvSpPr>
          <p:cNvPr id="24" name="Text 22"/>
          <p:cNvSpPr/>
          <p:nvPr/>
        </p:nvSpPr>
        <p:spPr>
          <a:xfrm>
            <a:off x="6370630" y="1678013"/>
            <a:ext cx="1851861" cy="2116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r>
              <a:rPr lang="en-US" sz="1405" b="1">
                <a:solidFill>
                  <a:srgbClr val="173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REALSENSE PRINCIPLE</a:t>
            </a:r>
            <a:endParaRPr lang="en-US" sz="1405"/>
          </a:p>
        </p:txBody>
      </p:sp>
      <p:sp>
        <p:nvSpPr>
          <p:cNvPr id="25" name="Text 23"/>
          <p:cNvSpPr/>
          <p:nvPr/>
        </p:nvSpPr>
        <p:spPr>
          <a:xfrm>
            <a:off x="6370630" y="1972799"/>
            <a:ext cx="4195032" cy="3325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lang="en-US" sz="1157" b="1">
                <a:solidFill>
                  <a:srgbClr val="173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Aligned color and depth frames use corresponding pixel locations.</a:t>
            </a:r>
            <a:endParaRPr lang="en-US" sz="1157"/>
          </a:p>
        </p:txBody>
      </p:sp>
      <p:sp>
        <p:nvSpPr>
          <p:cNvPr id="26" name="Text 24"/>
          <p:cNvSpPr/>
          <p:nvPr/>
        </p:nvSpPr>
        <p:spPr>
          <a:xfrm>
            <a:off x="6370630" y="2297819"/>
            <a:ext cx="4195032" cy="362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992">
                <a:solidFill>
                  <a:srgbClr val="5B66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makes it valid to use the RGB bounding-box center as the pixel location in the corresponding depth frame.</a:t>
            </a:r>
            <a:endParaRPr lang="en-US" sz="992"/>
          </a:p>
        </p:txBody>
      </p:sp>
      <p:sp>
        <p:nvSpPr>
          <p:cNvPr id="27" name="Shape 25"/>
          <p:cNvSpPr/>
          <p:nvPr/>
        </p:nvSpPr>
        <p:spPr>
          <a:xfrm>
            <a:off x="1397060" y="2993212"/>
            <a:ext cx="3363584" cy="1829185"/>
          </a:xfrm>
          <a:prstGeom prst="roundRect">
            <a:avLst>
              <a:gd name="adj" fmla="val 4959"/>
            </a:avLst>
          </a:prstGeom>
          <a:solidFill>
            <a:srgbClr val="FDEBF2"/>
          </a:solidFill>
          <a:ln w="12700">
            <a:solidFill>
              <a:srgbClr val="F5BDD0"/>
            </a:solidFill>
            <a:prstDash val="solid"/>
          </a:ln>
        </p:spPr>
        <p:txBody>
          <a:bodyPr/>
          <a:lstStyle/>
          <a:p>
            <a:endParaRPr lang="nb-NO" sz="1488"/>
          </a:p>
        </p:txBody>
      </p:sp>
      <p:sp>
        <p:nvSpPr>
          <p:cNvPr id="28" name="Text 26"/>
          <p:cNvSpPr/>
          <p:nvPr/>
        </p:nvSpPr>
        <p:spPr>
          <a:xfrm>
            <a:off x="1608701" y="3114150"/>
            <a:ext cx="1549516" cy="2116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r>
              <a:rPr lang="en-US" sz="1405" b="1">
                <a:solidFill>
                  <a:srgbClr val="173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OBSERVED</a:t>
            </a:r>
            <a:endParaRPr lang="en-US" sz="1405"/>
          </a:p>
        </p:txBody>
      </p:sp>
      <p:sp>
        <p:nvSpPr>
          <p:cNvPr id="29" name="Shape 27"/>
          <p:cNvSpPr/>
          <p:nvPr/>
        </p:nvSpPr>
        <p:spPr>
          <a:xfrm>
            <a:off x="1631377" y="3461846"/>
            <a:ext cx="256993" cy="256993"/>
          </a:xfrm>
          <a:prstGeom prst="ellipse">
            <a:avLst/>
          </a:prstGeom>
          <a:solidFill>
            <a:srgbClr val="F05A8A"/>
          </a:solidFill>
          <a:ln w="12700">
            <a:solidFill>
              <a:srgbClr val="F05A8A"/>
            </a:solidFill>
            <a:prstDash val="solid"/>
          </a:ln>
        </p:spPr>
        <p:txBody>
          <a:bodyPr/>
          <a:lstStyle/>
          <a:p>
            <a:endParaRPr lang="nb-NO" sz="1488"/>
          </a:p>
        </p:txBody>
      </p:sp>
      <p:sp>
        <p:nvSpPr>
          <p:cNvPr id="30" name="Text 28"/>
          <p:cNvSpPr/>
          <p:nvPr/>
        </p:nvSpPr>
        <p:spPr>
          <a:xfrm>
            <a:off x="1631377" y="3446729"/>
            <a:ext cx="256993" cy="25699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653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!</a:t>
            </a:r>
            <a:endParaRPr lang="en-US" sz="1653"/>
          </a:p>
        </p:txBody>
      </p:sp>
      <p:sp>
        <p:nvSpPr>
          <p:cNvPr id="31" name="Text 29"/>
          <p:cNvSpPr/>
          <p:nvPr/>
        </p:nvSpPr>
        <p:spPr>
          <a:xfrm>
            <a:off x="1963956" y="3401377"/>
            <a:ext cx="2494344" cy="3779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57" b="1">
                <a:solidFill>
                  <a:srgbClr val="173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Some center pixels returned a raw depth value of 0.</a:t>
            </a:r>
            <a:endParaRPr lang="en-US" sz="1157"/>
          </a:p>
        </p:txBody>
      </p:sp>
      <p:sp>
        <p:nvSpPr>
          <p:cNvPr id="32" name="Text 30"/>
          <p:cNvSpPr/>
          <p:nvPr/>
        </p:nvSpPr>
        <p:spPr>
          <a:xfrm>
            <a:off x="1631377" y="3854894"/>
            <a:ext cx="2842040" cy="544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992" dirty="0">
                <a:solidFill>
                  <a:srgbClr val="5B66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Depth reads 0, does not mean 0 </a:t>
            </a:r>
            <a:r>
              <a:rPr lang="en-US" sz="992" dirty="0" err="1">
                <a:solidFill>
                  <a:srgbClr val="5B66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metres</a:t>
            </a:r>
            <a:r>
              <a:rPr lang="en-US" sz="992" dirty="0">
                <a:solidFill>
                  <a:srgbClr val="5B66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; it means the camera could not measure that point </a:t>
            </a:r>
            <a:r>
              <a:rPr lang="en-US" sz="992" dirty="0" err="1">
                <a:solidFill>
                  <a:srgbClr val="5B66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E.g</a:t>
            </a:r>
            <a:r>
              <a:rPr lang="en-US" sz="992" dirty="0">
                <a:solidFill>
                  <a:srgbClr val="5B66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reflections.</a:t>
            </a:r>
            <a:endParaRPr lang="en-US" sz="992" dirty="0"/>
          </a:p>
        </p:txBody>
      </p:sp>
      <p:sp>
        <p:nvSpPr>
          <p:cNvPr id="33" name="Text 31"/>
          <p:cNvSpPr/>
          <p:nvPr/>
        </p:nvSpPr>
        <p:spPr>
          <a:xfrm>
            <a:off x="1631377" y="4429349"/>
            <a:ext cx="2842040" cy="2267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909" b="1">
                <a:solidFill>
                  <a:srgbClr val="F05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output: frame 0000 → depth = 0.0 m</a:t>
            </a:r>
            <a:endParaRPr lang="en-US" sz="909"/>
          </a:p>
        </p:txBody>
      </p:sp>
      <p:sp>
        <p:nvSpPr>
          <p:cNvPr id="34" name="Shape 32"/>
          <p:cNvSpPr/>
          <p:nvPr/>
        </p:nvSpPr>
        <p:spPr>
          <a:xfrm>
            <a:off x="1397060" y="4950894"/>
            <a:ext cx="3363584" cy="453517"/>
          </a:xfrm>
          <a:prstGeom prst="roundRect">
            <a:avLst>
              <a:gd name="adj" fmla="val 20000"/>
            </a:avLst>
          </a:prstGeom>
          <a:solidFill>
            <a:srgbClr val="DFF6EF"/>
          </a:solidFill>
          <a:ln w="12700">
            <a:solidFill>
              <a:srgbClr val="BDE8DB"/>
            </a:solidFill>
            <a:prstDash val="solid"/>
          </a:ln>
        </p:spPr>
        <p:txBody>
          <a:bodyPr/>
          <a:lstStyle/>
          <a:p>
            <a:endParaRPr lang="nb-NO" sz="1488"/>
          </a:p>
        </p:txBody>
      </p:sp>
      <p:sp>
        <p:nvSpPr>
          <p:cNvPr id="35" name="Text 33"/>
          <p:cNvSpPr/>
          <p:nvPr/>
        </p:nvSpPr>
        <p:spPr>
          <a:xfrm>
            <a:off x="1601142" y="5026480"/>
            <a:ext cx="2985654" cy="2872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r>
              <a:rPr lang="en-US" sz="992" b="1">
                <a:solidFill>
                  <a:srgbClr val="173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SOLUTION: treat raw depth = 0 as missing (NaN), not as 0 m. The plot then shows a gap instead of a false distance.</a:t>
            </a:r>
            <a:endParaRPr lang="en-US" sz="992"/>
          </a:p>
        </p:txBody>
      </p:sp>
      <p:sp>
        <p:nvSpPr>
          <p:cNvPr id="36" name="Shape 34"/>
          <p:cNvSpPr/>
          <p:nvPr/>
        </p:nvSpPr>
        <p:spPr>
          <a:xfrm>
            <a:off x="4911817" y="2993212"/>
            <a:ext cx="5895721" cy="2403640"/>
          </a:xfrm>
          <a:prstGeom prst="roundRect">
            <a:avLst>
              <a:gd name="adj" fmla="val 3774"/>
            </a:avLst>
          </a:prstGeom>
          <a:solidFill>
            <a:srgbClr val="DE7AB9"/>
          </a:solidFill>
          <a:ln w="12700">
            <a:solidFill>
              <a:srgbClr val="CBD8E7"/>
            </a:solidFill>
            <a:prstDash val="solid"/>
          </a:ln>
        </p:spPr>
        <p:txBody>
          <a:bodyPr/>
          <a:lstStyle/>
          <a:p>
            <a:endParaRPr lang="nb-NO" sz="1488"/>
          </a:p>
        </p:txBody>
      </p:sp>
      <p:sp>
        <p:nvSpPr>
          <p:cNvPr id="37" name="Text 35"/>
          <p:cNvSpPr/>
          <p:nvPr/>
        </p:nvSpPr>
        <p:spPr>
          <a:xfrm>
            <a:off x="5082198" y="2997183"/>
            <a:ext cx="5479997" cy="2267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50" b="1">
                <a:solidFill>
                  <a:schemeClr val="bg1"/>
                </a:solidFill>
                <a:latin typeface="Aptos"/>
                <a:ea typeface="Aptos" pitchFamily="34" charset="-122"/>
                <a:cs typeface="Aptos" pitchFamily="34" charset="-120"/>
              </a:rPr>
              <a:t>Before correction: zero readings appear as false drops to 0 m</a:t>
            </a:r>
            <a:endParaRPr lang="en-US" sz="1150">
              <a:solidFill>
                <a:schemeClr val="bg1"/>
              </a:solidFill>
              <a:latin typeface="Aptos"/>
              <a:ea typeface="Calibri"/>
              <a:cs typeface="Calibri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5123458" y="5124742"/>
            <a:ext cx="5442204" cy="1814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850">
                <a:solidFill>
                  <a:schemeClr val="bg1"/>
                </a:solidFill>
                <a:latin typeface="Aptos"/>
                <a:ea typeface="Aptos" pitchFamily="34" charset="-122"/>
                <a:cs typeface="Aptos" pitchFamily="34" charset="-120"/>
              </a:rPr>
              <a:t>Current run: 300 frames processed; YOLO detected the load in 299/300 frames. Valid-depth count should be reported separately after zero-value handling.</a:t>
            </a:r>
            <a:endParaRPr lang="en-US" sz="850">
              <a:solidFill>
                <a:schemeClr val="bg1"/>
              </a:solidFill>
              <a:latin typeface="Aptos"/>
              <a:ea typeface="Calibri"/>
              <a:cs typeface="Calibri"/>
            </a:endParaRPr>
          </a:p>
        </p:txBody>
      </p:sp>
      <p:pic>
        <p:nvPicPr>
          <p:cNvPr id="42" name="Bilde 41">
            <a:extLst>
              <a:ext uri="{FF2B5EF4-FFF2-40B4-BE49-F238E27FC236}">
                <a16:creationId xmlns:a16="http://schemas.microsoft.com/office/drawing/2014/main" id="{70CB6E37-0B3B-280F-4934-93438DA986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9890" y="3272027"/>
            <a:ext cx="3721779" cy="17326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 txBox="1"/>
          <p:nvPr/>
        </p:nvSpPr>
        <p:spPr>
          <a:xfrm>
            <a:off x="3938814" y="121917"/>
            <a:ext cx="5513013" cy="470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0F2A4A"/>
                </a:solidFill>
                <a:latin typeface="Calibri"/>
                <a:ea typeface="Calibri"/>
                <a:cs typeface="Calibri"/>
              </a:rPr>
              <a:t>Q2 Object Tracking</a:t>
            </a:r>
            <a:endParaRPr lang="en-US" sz="3600" dirty="0">
              <a:latin typeface="Calibri"/>
              <a:ea typeface="Calibri"/>
              <a:cs typeface="Calibri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93613" y="795301"/>
            <a:ext cx="4873732" cy="632937"/>
          </a:xfrm>
          <a:prstGeom prst="roundRect">
            <a:avLst>
              <a:gd name="adj" fmla="val 24079"/>
            </a:avLst>
          </a:prstGeom>
          <a:solidFill>
            <a:srgbClr val="EAF3FD"/>
          </a:solidFill>
          <a:ln w="12700">
            <a:solidFill>
              <a:srgbClr val="9CC3F0"/>
            </a:solidFill>
            <a:prstDash val="solid"/>
          </a:ln>
        </p:spPr>
        <p:txBody>
          <a:bodyPr/>
          <a:lstStyle/>
          <a:p>
            <a:endParaRPr lang="nb-NO" sz="1476"/>
          </a:p>
        </p:txBody>
      </p:sp>
      <p:sp>
        <p:nvSpPr>
          <p:cNvPr id="14" name="Text 11"/>
          <p:cNvSpPr txBox="1"/>
          <p:nvPr/>
        </p:nvSpPr>
        <p:spPr>
          <a:xfrm>
            <a:off x="395760" y="947607"/>
            <a:ext cx="1191446" cy="308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4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640" dirty="0"/>
          </a:p>
        </p:txBody>
      </p:sp>
      <p:sp>
        <p:nvSpPr>
          <p:cNvPr id="16" name="Text 13"/>
          <p:cNvSpPr txBox="1"/>
          <p:nvPr/>
        </p:nvSpPr>
        <p:spPr>
          <a:xfrm>
            <a:off x="1492101" y="873128"/>
            <a:ext cx="3766267" cy="463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333F50"/>
                </a:solidFill>
                <a:latin typeface="Calibri"/>
                <a:ea typeface="Calibri"/>
                <a:cs typeface="Calibri"/>
              </a:rPr>
              <a:t>Track the swinging load in each frame of test_swingingload.avi and visualize motion trajectory in image coordinates (X, Y).</a:t>
            </a:r>
            <a:endParaRPr lang="en-US" sz="1200" dirty="0">
              <a:latin typeface="Calibri"/>
              <a:ea typeface="Calibri"/>
              <a:cs typeface="Calibri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392744" y="1606452"/>
            <a:ext cx="4866713" cy="3831580"/>
          </a:xfrm>
          <a:prstGeom prst="roundRect">
            <a:avLst>
              <a:gd name="adj" fmla="val 1057"/>
            </a:avLst>
          </a:prstGeom>
          <a:solidFill>
            <a:schemeClr val="accent6"/>
          </a:solidFill>
          <a:ln w="12700"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nb-NO" sz="1476"/>
          </a:p>
        </p:txBody>
      </p:sp>
      <p:sp>
        <p:nvSpPr>
          <p:cNvPr id="18" name="Shape 15"/>
          <p:cNvSpPr/>
          <p:nvPr/>
        </p:nvSpPr>
        <p:spPr>
          <a:xfrm>
            <a:off x="623066" y="1703133"/>
            <a:ext cx="422405" cy="422405"/>
          </a:xfrm>
          <a:prstGeom prst="ellipse">
            <a:avLst/>
          </a:prstGeom>
          <a:solidFill>
            <a:srgbClr val="DDF1E2"/>
          </a:solidFill>
          <a:ln w="6350">
            <a:solidFill>
              <a:srgbClr val="DDF1E2"/>
            </a:solidFill>
            <a:prstDash val="solid"/>
          </a:ln>
        </p:spPr>
        <p:txBody>
          <a:bodyPr/>
          <a:lstStyle/>
          <a:p>
            <a:endParaRPr lang="nb-NO" sz="1476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376" y="1811443"/>
            <a:ext cx="205787" cy="205787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985796" y="1767448"/>
            <a:ext cx="1028934" cy="2978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4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640" dirty="0"/>
          </a:p>
        </p:txBody>
      </p:sp>
      <p:sp>
        <p:nvSpPr>
          <p:cNvPr id="22" name="Shape 18"/>
          <p:cNvSpPr/>
          <p:nvPr/>
        </p:nvSpPr>
        <p:spPr>
          <a:xfrm>
            <a:off x="608936" y="2126034"/>
            <a:ext cx="4514661" cy="725756"/>
          </a:xfrm>
          <a:prstGeom prst="roundRect">
            <a:avLst>
              <a:gd name="adj" fmla="val 13313"/>
            </a:avLst>
          </a:prstGeom>
          <a:solidFill>
            <a:srgbClr val="FFFFFF"/>
          </a:solidFill>
          <a:ln w="9525">
            <a:solidFill>
              <a:srgbClr val="E4EEF0"/>
            </a:solidFill>
            <a:prstDash val="solid"/>
          </a:ln>
        </p:spPr>
        <p:txBody>
          <a:bodyPr/>
          <a:lstStyle/>
          <a:p>
            <a:endParaRPr lang="nb-NO" sz="1476"/>
          </a:p>
        </p:txBody>
      </p:sp>
      <p:sp>
        <p:nvSpPr>
          <p:cNvPr id="25" name="Shape 21"/>
          <p:cNvSpPr/>
          <p:nvPr/>
        </p:nvSpPr>
        <p:spPr>
          <a:xfrm>
            <a:off x="579743" y="2895916"/>
            <a:ext cx="4524821" cy="798218"/>
          </a:xfrm>
          <a:prstGeom prst="roundRect">
            <a:avLst>
              <a:gd name="adj" fmla="val 12820"/>
            </a:avLst>
          </a:prstGeom>
          <a:solidFill>
            <a:srgbClr val="FFFFFF"/>
          </a:solidFill>
          <a:ln w="9525">
            <a:solidFill>
              <a:srgbClr val="E4EEF0"/>
            </a:solidFill>
            <a:prstDash val="solid"/>
          </a:ln>
        </p:spPr>
        <p:txBody>
          <a:bodyPr/>
          <a:lstStyle/>
          <a:p>
            <a:endParaRPr lang="nb-NO" sz="1476"/>
          </a:p>
        </p:txBody>
      </p:sp>
      <p:sp>
        <p:nvSpPr>
          <p:cNvPr id="28" name="Shape 24"/>
          <p:cNvSpPr/>
          <p:nvPr/>
        </p:nvSpPr>
        <p:spPr>
          <a:xfrm>
            <a:off x="620383" y="3795499"/>
            <a:ext cx="4514661" cy="708795"/>
          </a:xfrm>
          <a:prstGeom prst="roundRect">
            <a:avLst>
              <a:gd name="adj" fmla="val 12145"/>
            </a:avLst>
          </a:prstGeom>
          <a:solidFill>
            <a:srgbClr val="FFFFFF"/>
          </a:solidFill>
          <a:ln w="9525">
            <a:solidFill>
              <a:srgbClr val="E4EEF0"/>
            </a:solidFill>
            <a:prstDash val="solid"/>
          </a:ln>
        </p:spPr>
        <p:txBody>
          <a:bodyPr/>
          <a:lstStyle/>
          <a:p>
            <a:endParaRPr lang="nb-NO" sz="1476"/>
          </a:p>
        </p:txBody>
      </p:sp>
      <p:sp>
        <p:nvSpPr>
          <p:cNvPr id="31" name="Shape 27"/>
          <p:cNvSpPr/>
          <p:nvPr/>
        </p:nvSpPr>
        <p:spPr>
          <a:xfrm>
            <a:off x="630546" y="4595021"/>
            <a:ext cx="4504501" cy="676302"/>
          </a:xfrm>
          <a:prstGeom prst="roundRect">
            <a:avLst>
              <a:gd name="adj" fmla="val 12820"/>
            </a:avLst>
          </a:prstGeom>
          <a:solidFill>
            <a:srgbClr val="FFFFFF"/>
          </a:solidFill>
          <a:ln w="9525">
            <a:solidFill>
              <a:srgbClr val="E4EEF0"/>
            </a:solidFill>
            <a:prstDash val="solid"/>
          </a:ln>
        </p:spPr>
        <p:txBody>
          <a:bodyPr/>
          <a:lstStyle/>
          <a:p>
            <a:endParaRPr lang="nb-NO" sz="1476"/>
          </a:p>
        </p:txBody>
      </p:sp>
      <p:pic>
        <p:nvPicPr>
          <p:cNvPr id="3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979" y="2288672"/>
            <a:ext cx="303265" cy="303265"/>
          </a:xfrm>
          <a:prstGeom prst="rect">
            <a:avLst/>
          </a:prstGeom>
        </p:spPr>
      </p:pic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645" y="3117331"/>
            <a:ext cx="335758" cy="335758"/>
          </a:xfrm>
          <a:prstGeom prst="rect">
            <a:avLst/>
          </a:prstGeom>
        </p:spPr>
      </p:pic>
      <p:sp>
        <p:nvSpPr>
          <p:cNvPr id="39" name="Shape 33"/>
          <p:cNvSpPr/>
          <p:nvPr/>
        </p:nvSpPr>
        <p:spPr>
          <a:xfrm>
            <a:off x="732451" y="3945119"/>
            <a:ext cx="314095" cy="314095"/>
          </a:xfrm>
          <a:prstGeom prst="rect">
            <a:avLst/>
          </a:prstGeom>
          <a:ln w="28575">
            <a:solidFill>
              <a:srgbClr val="1F3F6A"/>
            </a:solidFill>
            <a:prstDash val="dash"/>
          </a:ln>
        </p:spPr>
        <p:txBody>
          <a:bodyPr/>
          <a:lstStyle/>
          <a:p>
            <a:endParaRPr lang="nb-NO" sz="1476"/>
          </a:p>
        </p:txBody>
      </p:sp>
      <p:sp>
        <p:nvSpPr>
          <p:cNvPr id="40" name="Shape 34"/>
          <p:cNvSpPr/>
          <p:nvPr/>
        </p:nvSpPr>
        <p:spPr>
          <a:xfrm>
            <a:off x="830600" y="4058844"/>
            <a:ext cx="86647" cy="86647"/>
          </a:xfrm>
          <a:prstGeom prst="ellipse">
            <a:avLst/>
          </a:prstGeom>
          <a:solidFill>
            <a:srgbClr val="D6284F"/>
          </a:solidFill>
          <a:ln w="6350">
            <a:solidFill>
              <a:srgbClr val="D6284F"/>
            </a:solidFill>
            <a:prstDash val="solid"/>
          </a:ln>
        </p:spPr>
        <p:txBody>
          <a:bodyPr/>
          <a:lstStyle/>
          <a:p>
            <a:endParaRPr lang="nb-NO" sz="1476"/>
          </a:p>
        </p:txBody>
      </p:sp>
      <p:sp>
        <p:nvSpPr>
          <p:cNvPr id="41" name="Shape 35"/>
          <p:cNvSpPr/>
          <p:nvPr/>
        </p:nvSpPr>
        <p:spPr>
          <a:xfrm>
            <a:off x="790064" y="4913814"/>
            <a:ext cx="80561" cy="80560"/>
          </a:xfrm>
          <a:prstGeom prst="ellipse">
            <a:avLst/>
          </a:prstGeom>
          <a:solidFill>
            <a:srgbClr val="9B5FC9"/>
          </a:solidFill>
          <a:ln w="6350">
            <a:solidFill>
              <a:srgbClr val="9B5FC9"/>
            </a:solidFill>
            <a:prstDash val="solid"/>
          </a:ln>
        </p:spPr>
        <p:txBody>
          <a:bodyPr/>
          <a:lstStyle/>
          <a:p>
            <a:endParaRPr lang="nb-NO" sz="1476"/>
          </a:p>
        </p:txBody>
      </p:sp>
      <p:sp>
        <p:nvSpPr>
          <p:cNvPr id="42" name="Shape 36"/>
          <p:cNvSpPr/>
          <p:nvPr/>
        </p:nvSpPr>
        <p:spPr>
          <a:xfrm>
            <a:off x="897702" y="4690342"/>
            <a:ext cx="80561" cy="80560"/>
          </a:xfrm>
          <a:prstGeom prst="ellipse">
            <a:avLst/>
          </a:prstGeom>
          <a:solidFill>
            <a:srgbClr val="9B5FC9"/>
          </a:solidFill>
          <a:ln w="6350">
            <a:solidFill>
              <a:srgbClr val="9B5FC9"/>
            </a:solidFill>
            <a:prstDash val="solid"/>
          </a:ln>
        </p:spPr>
        <p:txBody>
          <a:bodyPr/>
          <a:lstStyle/>
          <a:p>
            <a:endParaRPr lang="nb-NO" sz="1476"/>
          </a:p>
        </p:txBody>
      </p:sp>
      <p:sp>
        <p:nvSpPr>
          <p:cNvPr id="43" name="Shape 37"/>
          <p:cNvSpPr/>
          <p:nvPr/>
        </p:nvSpPr>
        <p:spPr>
          <a:xfrm>
            <a:off x="740496" y="4827885"/>
            <a:ext cx="80561" cy="80560"/>
          </a:xfrm>
          <a:prstGeom prst="ellipse">
            <a:avLst/>
          </a:prstGeom>
          <a:solidFill>
            <a:srgbClr val="9B5FC9"/>
          </a:solidFill>
          <a:ln w="6350">
            <a:solidFill>
              <a:srgbClr val="9B5FC9"/>
            </a:solidFill>
            <a:prstDash val="solid"/>
          </a:ln>
        </p:spPr>
        <p:txBody>
          <a:bodyPr/>
          <a:lstStyle/>
          <a:p>
            <a:endParaRPr lang="nb-NO" sz="1476"/>
          </a:p>
        </p:txBody>
      </p:sp>
      <p:sp>
        <p:nvSpPr>
          <p:cNvPr id="44" name="Shape 38"/>
          <p:cNvSpPr/>
          <p:nvPr/>
        </p:nvSpPr>
        <p:spPr>
          <a:xfrm>
            <a:off x="892234" y="4921960"/>
            <a:ext cx="80561" cy="80560"/>
          </a:xfrm>
          <a:prstGeom prst="ellipse">
            <a:avLst/>
          </a:prstGeom>
          <a:solidFill>
            <a:srgbClr val="9B5FC9"/>
          </a:solidFill>
          <a:ln w="6350">
            <a:solidFill>
              <a:srgbClr val="9B5FC9"/>
            </a:solidFill>
            <a:prstDash val="solid"/>
          </a:ln>
        </p:spPr>
        <p:txBody>
          <a:bodyPr/>
          <a:lstStyle/>
          <a:p>
            <a:endParaRPr lang="nb-NO" sz="1476"/>
          </a:p>
        </p:txBody>
      </p:sp>
      <p:sp>
        <p:nvSpPr>
          <p:cNvPr id="45" name="Shape 39"/>
          <p:cNvSpPr/>
          <p:nvPr/>
        </p:nvSpPr>
        <p:spPr>
          <a:xfrm>
            <a:off x="824408" y="4779769"/>
            <a:ext cx="80561" cy="80560"/>
          </a:xfrm>
          <a:prstGeom prst="ellipse">
            <a:avLst/>
          </a:prstGeom>
          <a:solidFill>
            <a:srgbClr val="9B5FC9"/>
          </a:solidFill>
          <a:ln w="6350">
            <a:solidFill>
              <a:srgbClr val="9B5FC9"/>
            </a:solidFill>
            <a:prstDash val="solid"/>
          </a:ln>
        </p:spPr>
        <p:txBody>
          <a:bodyPr/>
          <a:lstStyle/>
          <a:p>
            <a:endParaRPr lang="nb-NO" sz="1476"/>
          </a:p>
        </p:txBody>
      </p:sp>
      <p:sp>
        <p:nvSpPr>
          <p:cNvPr id="46" name="Shape 40"/>
          <p:cNvSpPr/>
          <p:nvPr/>
        </p:nvSpPr>
        <p:spPr>
          <a:xfrm>
            <a:off x="917918" y="4852328"/>
            <a:ext cx="80561" cy="80560"/>
          </a:xfrm>
          <a:prstGeom prst="ellipse">
            <a:avLst/>
          </a:prstGeom>
          <a:solidFill>
            <a:srgbClr val="9B5FC9"/>
          </a:solidFill>
          <a:ln w="6350">
            <a:solidFill>
              <a:srgbClr val="9B5FC9"/>
            </a:solidFill>
            <a:prstDash val="solid"/>
          </a:ln>
        </p:spPr>
        <p:txBody>
          <a:bodyPr/>
          <a:lstStyle/>
          <a:p>
            <a:endParaRPr lang="nb-NO" sz="1476"/>
          </a:p>
        </p:txBody>
      </p:sp>
      <p:sp>
        <p:nvSpPr>
          <p:cNvPr id="47" name="Text 41"/>
          <p:cNvSpPr txBox="1"/>
          <p:nvPr/>
        </p:nvSpPr>
        <p:spPr>
          <a:xfrm>
            <a:off x="1122257" y="2285988"/>
            <a:ext cx="2924340" cy="140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0F2A4A"/>
                </a:solidFill>
                <a:latin typeface="Calibri"/>
                <a:ea typeface="Calibri"/>
                <a:cs typeface="Calibri"/>
              </a:rPr>
              <a:t>Went through test frames</a:t>
            </a:r>
            <a:endParaRPr lang="en-US" sz="1200" dirty="0">
              <a:latin typeface="Calibri"/>
              <a:ea typeface="Calibri"/>
              <a:cs typeface="Calibri"/>
            </a:endParaRPr>
          </a:p>
        </p:txBody>
      </p:sp>
      <p:sp>
        <p:nvSpPr>
          <p:cNvPr id="48" name="Text 42"/>
          <p:cNvSpPr txBox="1"/>
          <p:nvPr/>
        </p:nvSpPr>
        <p:spPr>
          <a:xfrm>
            <a:off x="1142613" y="2489764"/>
            <a:ext cx="3835579" cy="321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3F50"/>
                </a:solidFill>
                <a:latin typeface="Calibri"/>
                <a:ea typeface="Calibri"/>
                <a:cs typeface="Calibri"/>
              </a:rPr>
              <a:t>Read all frames from test_swingingload.avi </a:t>
            </a:r>
          </a:p>
        </p:txBody>
      </p:sp>
      <p:sp>
        <p:nvSpPr>
          <p:cNvPr id="49" name="Text 43"/>
          <p:cNvSpPr txBox="1"/>
          <p:nvPr/>
        </p:nvSpPr>
        <p:spPr>
          <a:xfrm>
            <a:off x="1122257" y="2981223"/>
            <a:ext cx="3229140" cy="110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A4A"/>
                </a:solidFill>
                <a:latin typeface="Calibri"/>
                <a:ea typeface="Calibri"/>
                <a:cs typeface="Calibri"/>
              </a:rPr>
              <a:t>Ran YOLO tracking</a:t>
            </a:r>
            <a:endParaRPr lang="en-US" sz="1200" dirty="0">
              <a:ea typeface="Calibri"/>
              <a:cs typeface="Calibri"/>
            </a:endParaRPr>
          </a:p>
        </p:txBody>
      </p:sp>
      <p:sp>
        <p:nvSpPr>
          <p:cNvPr id="50" name="Text 44"/>
          <p:cNvSpPr txBox="1"/>
          <p:nvPr/>
        </p:nvSpPr>
        <p:spPr>
          <a:xfrm>
            <a:off x="1142617" y="3139617"/>
            <a:ext cx="3835289" cy="557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latin typeface="Calibri"/>
                <a:ea typeface="Calibri"/>
                <a:cs typeface="Calibri"/>
              </a:rPr>
              <a:t>Used [</a:t>
            </a:r>
            <a:r>
              <a:rPr lang="en-US" sz="1400" dirty="0" err="1">
                <a:latin typeface="Consolas"/>
                <a:ea typeface="Calibri"/>
                <a:cs typeface="Calibri"/>
              </a:rPr>
              <a:t>trained_model.track</a:t>
            </a:r>
            <a:r>
              <a:rPr lang="en-US" sz="1400" dirty="0">
                <a:latin typeface="Consolas"/>
                <a:ea typeface="Calibri"/>
                <a:cs typeface="Calibri"/>
              </a:rPr>
              <a:t>(..., persist=True)]</a:t>
            </a:r>
            <a:r>
              <a:rPr lang="en-US" sz="1400" dirty="0">
                <a:latin typeface="Calibri"/>
                <a:ea typeface="Calibri"/>
                <a:cs typeface="Calibri"/>
              </a:rPr>
              <a:t>frame by frame on every image.</a:t>
            </a:r>
            <a:endParaRPr lang="en-US" sz="1400">
              <a:ea typeface="Calibri"/>
              <a:cs typeface="Calibri"/>
            </a:endParaRPr>
          </a:p>
        </p:txBody>
      </p:sp>
      <p:sp>
        <p:nvSpPr>
          <p:cNvPr id="51" name="Text 45"/>
          <p:cNvSpPr txBox="1"/>
          <p:nvPr/>
        </p:nvSpPr>
        <p:spPr>
          <a:xfrm>
            <a:off x="1152740" y="3794978"/>
            <a:ext cx="3818420" cy="35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0F2A4A"/>
                </a:solidFill>
                <a:ea typeface="+mn-lt"/>
                <a:cs typeface="+mn-lt"/>
              </a:rPr>
              <a:t>Identified the load and then calculated the center point</a:t>
            </a:r>
            <a:endParaRPr lang="en-US" b="1" dirty="0">
              <a:ea typeface="Calibri"/>
              <a:cs typeface="Calibri"/>
            </a:endParaRPr>
          </a:p>
        </p:txBody>
      </p:sp>
      <p:sp>
        <p:nvSpPr>
          <p:cNvPr id="52" name="Text 46"/>
          <p:cNvSpPr txBox="1"/>
          <p:nvPr/>
        </p:nvSpPr>
        <p:spPr>
          <a:xfrm>
            <a:off x="1152768" y="4146211"/>
            <a:ext cx="3811711" cy="230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dirty="0">
                <a:solidFill>
                  <a:srgbClr val="333F50"/>
                </a:solidFill>
                <a:latin typeface="Calibri"/>
                <a:ea typeface="Calibri"/>
                <a:cs typeface="Calibri"/>
              </a:rPr>
              <a:t>Selected the highest confidence detection and calculated the </a:t>
            </a:r>
            <a:r>
              <a:rPr lang="en-US" sz="1000" dirty="0" err="1">
                <a:solidFill>
                  <a:srgbClr val="333F50"/>
                </a:solidFill>
                <a:latin typeface="Calibri"/>
                <a:ea typeface="Calibri"/>
                <a:cs typeface="Calibri"/>
              </a:rPr>
              <a:t>bouningbox</a:t>
            </a:r>
            <a:r>
              <a:rPr lang="en-US" sz="1000" dirty="0">
                <a:solidFill>
                  <a:srgbClr val="333F50"/>
                </a:solidFill>
                <a:latin typeface="Calibri"/>
                <a:ea typeface="Calibri"/>
                <a:cs typeface="Calibri"/>
              </a:rPr>
              <a:t> center (X, Y).</a:t>
            </a:r>
            <a:endParaRPr lang="en-US" sz="1000" dirty="0">
              <a:latin typeface="Calibri"/>
              <a:ea typeface="Calibri"/>
              <a:cs typeface="Calibri"/>
            </a:endParaRPr>
          </a:p>
        </p:txBody>
      </p:sp>
      <p:sp>
        <p:nvSpPr>
          <p:cNvPr id="54" name="Text 48"/>
          <p:cNvSpPr txBox="1"/>
          <p:nvPr/>
        </p:nvSpPr>
        <p:spPr>
          <a:xfrm>
            <a:off x="1142610" y="4727627"/>
            <a:ext cx="3774619" cy="220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b="1" dirty="0">
                <a:solidFill>
                  <a:srgbClr val="333F50"/>
                </a:solidFill>
                <a:latin typeface="Calibri"/>
                <a:ea typeface="Calibri"/>
                <a:cs typeface="Calibri"/>
              </a:rPr>
              <a:t>Stored the center coordinates and plot trajectory</a:t>
            </a:r>
            <a:endParaRPr lang="en-US" sz="1400" b="1">
              <a:latin typeface="Calibri"/>
              <a:ea typeface="Calibri"/>
              <a:cs typeface="Calibri"/>
            </a:endParaRPr>
          </a:p>
        </p:txBody>
      </p:sp>
      <p:sp>
        <p:nvSpPr>
          <p:cNvPr id="59" name="Shape 53"/>
          <p:cNvSpPr/>
          <p:nvPr/>
        </p:nvSpPr>
        <p:spPr>
          <a:xfrm>
            <a:off x="5455929" y="712969"/>
            <a:ext cx="6623958" cy="4817044"/>
          </a:xfrm>
          <a:prstGeom prst="roundRect">
            <a:avLst>
              <a:gd name="adj" fmla="val 1057"/>
            </a:avLst>
          </a:prstGeom>
          <a:solidFill>
            <a:srgbClr val="CCA5D6"/>
          </a:solidFill>
          <a:ln w="12700">
            <a:solidFill>
              <a:srgbClr val="F5C6D0"/>
            </a:solidFill>
            <a:prstDash val="solid"/>
          </a:ln>
        </p:spPr>
        <p:txBody>
          <a:bodyPr/>
          <a:lstStyle/>
          <a:p>
            <a:endParaRPr lang="nb-NO" sz="1476"/>
          </a:p>
        </p:txBody>
      </p:sp>
      <p:pic>
        <p:nvPicPr>
          <p:cNvPr id="6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56695" y="811018"/>
            <a:ext cx="297227" cy="297221"/>
          </a:xfrm>
          <a:prstGeom prst="rect">
            <a:avLst/>
          </a:prstGeom>
        </p:spPr>
      </p:pic>
      <p:sp>
        <p:nvSpPr>
          <p:cNvPr id="63" name="Text 56"/>
          <p:cNvSpPr txBox="1"/>
          <p:nvPr/>
        </p:nvSpPr>
        <p:spPr>
          <a:xfrm>
            <a:off x="5964864" y="805649"/>
            <a:ext cx="1028934" cy="297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2A4A"/>
                </a:solidFill>
                <a:latin typeface="Calibri"/>
                <a:ea typeface="Calibri"/>
                <a:cs typeface="Calibri"/>
              </a:rPr>
              <a:t>Results</a:t>
            </a:r>
            <a:endParaRPr lang="en-US" sz="2000">
              <a:latin typeface="Calibri"/>
              <a:ea typeface="Calibri"/>
              <a:cs typeface="Calibri"/>
            </a:endParaRPr>
          </a:p>
        </p:txBody>
      </p:sp>
      <p:pic>
        <p:nvPicPr>
          <p:cNvPr id="65" name="Image 5" descr="crops/traj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65172" y="1278160"/>
            <a:ext cx="5601406" cy="4160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8200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72646" y="55441"/>
            <a:ext cx="9221512" cy="448456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algn="ctr"/>
            <a:r>
              <a:rPr sz="2300" b="1" dirty="0">
                <a:solidFill>
                  <a:srgbClr val="123053"/>
                </a:solidFill>
                <a:latin typeface="Aptos"/>
              </a:rPr>
              <a:t>Q3 Instance Segmentation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97060" y="551779"/>
            <a:ext cx="9395361" cy="453517"/>
          </a:xfrm>
          <a:prstGeom prst="roundRect">
            <a:avLst/>
          </a:prstGeom>
          <a:solidFill>
            <a:srgbClr val="E2EFFC"/>
          </a:solidFill>
          <a:ln w="15240">
            <a:solidFill>
              <a:srgbClr val="9BC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4" name="Rounded Rectangle 3"/>
          <p:cNvSpPr/>
          <p:nvPr/>
        </p:nvSpPr>
        <p:spPr>
          <a:xfrm>
            <a:off x="1525556" y="627365"/>
            <a:ext cx="846565" cy="302345"/>
          </a:xfrm>
          <a:prstGeom prst="roundRect">
            <a:avLst/>
          </a:prstGeom>
          <a:solidFill>
            <a:srgbClr val="D2E7FB"/>
          </a:solidFill>
          <a:ln w="15240">
            <a:solidFill>
              <a:srgbClr val="D2E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5" name="TextBox 4"/>
          <p:cNvSpPr txBox="1"/>
          <p:nvPr/>
        </p:nvSpPr>
        <p:spPr>
          <a:xfrm>
            <a:off x="1573509" y="646514"/>
            <a:ext cx="872579" cy="26404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16" b="1">
                <a:solidFill>
                  <a:srgbClr val="123053"/>
                </a:solidFill>
                <a:latin typeface="Aptos"/>
              </a:rPr>
              <a:t>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40149" y="645335"/>
            <a:ext cx="8065044" cy="2512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33" b="0">
                <a:solidFill>
                  <a:srgbClr val="324358"/>
                </a:solidFill>
                <a:latin typeface="Aptos"/>
              </a:rPr>
              <a:t>Perform instance segmentation of multiple vehicles in selected frames from biler.mp4 and visualize each detected vehicle separately.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97060" y="1118675"/>
            <a:ext cx="9395361" cy="1798951"/>
          </a:xfrm>
          <a:prstGeom prst="roundRect">
            <a:avLst/>
          </a:prstGeom>
          <a:solidFill>
            <a:srgbClr val="E6F5E2"/>
          </a:solidFill>
          <a:ln w="15240">
            <a:solidFill>
              <a:srgbClr val="BED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8" name="Rounded Rectangle 7"/>
          <p:cNvSpPr/>
          <p:nvPr/>
        </p:nvSpPr>
        <p:spPr>
          <a:xfrm>
            <a:off x="1563350" y="1209378"/>
            <a:ext cx="1095999" cy="317462"/>
          </a:xfrm>
          <a:prstGeom prst="roundRect">
            <a:avLst/>
          </a:prstGeom>
          <a:solidFill>
            <a:srgbClr val="CEECD3"/>
          </a:solidFill>
          <a:ln w="15240">
            <a:solidFill>
              <a:srgbClr val="CEE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9" name="TextBox 8"/>
          <p:cNvSpPr txBox="1"/>
          <p:nvPr/>
        </p:nvSpPr>
        <p:spPr>
          <a:xfrm>
            <a:off x="1638936" y="1229673"/>
            <a:ext cx="937268" cy="276871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algn="ctr"/>
            <a:r>
              <a:rPr sz="1150" b="1" dirty="0">
                <a:solidFill>
                  <a:srgbClr val="123053"/>
                </a:solidFill>
                <a:latin typeface="Aptos"/>
              </a:rPr>
              <a:t>  Method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0286" y="1194261"/>
            <a:ext cx="7800492" cy="347696"/>
          </a:xfrm>
          <a:prstGeom prst="roundRect">
            <a:avLst/>
          </a:prstGeom>
          <a:solidFill>
            <a:srgbClr val="FFF7DF"/>
          </a:solidFill>
          <a:ln w="15240">
            <a:solidFill>
              <a:srgbClr val="EBC9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11" name="TextBox 10"/>
          <p:cNvSpPr txBox="1"/>
          <p:nvPr/>
        </p:nvSpPr>
        <p:spPr>
          <a:xfrm>
            <a:off x="2878301" y="1149852"/>
            <a:ext cx="793655" cy="35150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42" b="1">
                <a:solidFill>
                  <a:srgbClr val="123053"/>
                </a:solidFill>
                <a:latin typeface="Aptos"/>
              </a:rPr>
              <a:t>Model choice: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2203" y="1252059"/>
            <a:ext cx="6772521" cy="21698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10" b="0">
                <a:solidFill>
                  <a:srgbClr val="324358"/>
                </a:solidFill>
                <a:latin typeface="Aptos"/>
              </a:rPr>
              <a:t>KITTI has bounding boxes, not segmentation masks, so pretrained YOLO26s-seg was used.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86026" y="1647778"/>
            <a:ext cx="4096770" cy="46863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14" name="Oval 13"/>
          <p:cNvSpPr/>
          <p:nvPr/>
        </p:nvSpPr>
        <p:spPr>
          <a:xfrm>
            <a:off x="1706963" y="1746040"/>
            <a:ext cx="256993" cy="256993"/>
          </a:xfrm>
          <a:prstGeom prst="ellipse">
            <a:avLst/>
          </a:prstGeom>
          <a:solidFill>
            <a:srgbClr val="4A8ED8"/>
          </a:solidFill>
          <a:ln>
            <a:solidFill>
              <a:srgbClr val="4A8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15" name="TextBox 14"/>
          <p:cNvSpPr txBox="1"/>
          <p:nvPr/>
        </p:nvSpPr>
        <p:spPr>
          <a:xfrm>
            <a:off x="1706963" y="1761588"/>
            <a:ext cx="256993" cy="225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68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4659" y="1667038"/>
            <a:ext cx="3439171" cy="23359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r>
              <a:rPr lang="en-US" sz="900" b="1" dirty="0">
                <a:solidFill>
                  <a:srgbClr val="123053"/>
                </a:solidFill>
                <a:latin typeface="Aptos"/>
              </a:rPr>
              <a:t>Loaded</a:t>
            </a:r>
            <a:r>
              <a:rPr sz="900" b="1" dirty="0">
                <a:solidFill>
                  <a:srgbClr val="123053"/>
                </a:solidFill>
                <a:latin typeface="Aptos"/>
              </a:rPr>
              <a:t> </a:t>
            </a:r>
            <a:r>
              <a:rPr lang="en-US" sz="900" b="1" dirty="0">
                <a:solidFill>
                  <a:srgbClr val="123053"/>
                </a:solidFill>
                <a:latin typeface="Aptos"/>
              </a:rPr>
              <a:t>the </a:t>
            </a:r>
            <a:r>
              <a:rPr sz="900" b="1" dirty="0">
                <a:solidFill>
                  <a:srgbClr val="123053"/>
                </a:solidFill>
                <a:latin typeface="Aptos"/>
              </a:rPr>
              <a:t>segmentation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4659" y="1845479"/>
            <a:ext cx="3439171" cy="2092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60" b="0">
                <a:solidFill>
                  <a:srgbClr val="324358"/>
                </a:solidFill>
                <a:latin typeface="Aptos"/>
              </a:rPr>
              <a:t>Used pretrained YOLO26s-seg.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586026" y="2229792"/>
            <a:ext cx="4096770" cy="46863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19" name="Oval 18"/>
          <p:cNvSpPr/>
          <p:nvPr/>
        </p:nvSpPr>
        <p:spPr>
          <a:xfrm>
            <a:off x="1706963" y="2328054"/>
            <a:ext cx="256993" cy="256993"/>
          </a:xfrm>
          <a:prstGeom prst="ellipse">
            <a:avLst/>
          </a:prstGeom>
          <a:solidFill>
            <a:srgbClr val="53AE62"/>
          </a:solidFill>
          <a:ln>
            <a:solidFill>
              <a:srgbClr val="53A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20" name="TextBox 19"/>
          <p:cNvSpPr txBox="1"/>
          <p:nvPr/>
        </p:nvSpPr>
        <p:spPr>
          <a:xfrm>
            <a:off x="1706963" y="2343602"/>
            <a:ext cx="256993" cy="225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68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54659" y="2249052"/>
            <a:ext cx="3439171" cy="23359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algn="l"/>
            <a:r>
              <a:rPr lang="en-US" sz="900" b="1" dirty="0">
                <a:solidFill>
                  <a:srgbClr val="123053"/>
                </a:solidFill>
                <a:latin typeface="Aptos"/>
              </a:rPr>
              <a:t>Selected</a:t>
            </a:r>
            <a:r>
              <a:rPr sz="900" b="1" dirty="0">
                <a:solidFill>
                  <a:srgbClr val="123053"/>
                </a:solidFill>
                <a:latin typeface="Aptos"/>
              </a:rPr>
              <a:t> vehicle classes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4659" y="2427493"/>
            <a:ext cx="3439171" cy="209288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r>
              <a:rPr sz="750" b="0">
                <a:solidFill>
                  <a:srgbClr val="324358"/>
                </a:solidFill>
                <a:latin typeface="Aptos"/>
              </a:rPr>
              <a:t>Car, </a:t>
            </a:r>
            <a:r>
              <a:rPr lang="en-US" sz="750">
                <a:solidFill>
                  <a:srgbClr val="324358"/>
                </a:solidFill>
                <a:latin typeface="Aptos"/>
              </a:rPr>
              <a:t>bus, truck</a:t>
            </a:r>
            <a:r>
              <a:rPr sz="750" b="0">
                <a:solidFill>
                  <a:srgbClr val="324358"/>
                </a:solidFill>
                <a:latin typeface="Aptos"/>
              </a:rPr>
              <a:t>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8989" y="1647778"/>
            <a:ext cx="4096770" cy="46863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24" name="Oval 23"/>
          <p:cNvSpPr/>
          <p:nvPr/>
        </p:nvSpPr>
        <p:spPr>
          <a:xfrm>
            <a:off x="6279926" y="1746040"/>
            <a:ext cx="256993" cy="256993"/>
          </a:xfrm>
          <a:prstGeom prst="ellipse">
            <a:avLst/>
          </a:prstGeom>
          <a:solidFill>
            <a:srgbClr val="EE4B79"/>
          </a:solidFill>
          <a:ln>
            <a:solidFill>
              <a:srgbClr val="EE4B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25" name="TextBox 24"/>
          <p:cNvSpPr txBox="1"/>
          <p:nvPr/>
        </p:nvSpPr>
        <p:spPr>
          <a:xfrm>
            <a:off x="6279926" y="1761588"/>
            <a:ext cx="256993" cy="225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68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7622" y="1667038"/>
            <a:ext cx="3439171" cy="23359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algn="l"/>
            <a:r>
              <a:rPr lang="en-US" sz="900" b="1" dirty="0">
                <a:solidFill>
                  <a:srgbClr val="123053"/>
                </a:solidFill>
                <a:latin typeface="Aptos"/>
              </a:rPr>
              <a:t>Ran</a:t>
            </a:r>
            <a:r>
              <a:rPr sz="900" b="1" dirty="0">
                <a:solidFill>
                  <a:srgbClr val="123053"/>
                </a:solidFill>
                <a:latin typeface="Aptos"/>
              </a:rPr>
              <a:t> segmentation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7622" y="1845479"/>
            <a:ext cx="3439171" cy="2092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60" b="0">
                <a:solidFill>
                  <a:srgbClr val="324358"/>
                </a:solidFill>
                <a:latin typeface="Aptos"/>
              </a:rPr>
              <a:t>Five frames; conf = 0.15, imgsz = 1280.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8989" y="2229792"/>
            <a:ext cx="4096770" cy="46863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29" name="Oval 28"/>
          <p:cNvSpPr/>
          <p:nvPr/>
        </p:nvSpPr>
        <p:spPr>
          <a:xfrm>
            <a:off x="6279926" y="2328054"/>
            <a:ext cx="256993" cy="256993"/>
          </a:xfrm>
          <a:prstGeom prst="ellipse">
            <a:avLst/>
          </a:prstGeom>
          <a:solidFill>
            <a:srgbClr val="9766CD"/>
          </a:solidFill>
          <a:ln>
            <a:solidFill>
              <a:srgbClr val="976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30" name="TextBox 29"/>
          <p:cNvSpPr txBox="1"/>
          <p:nvPr/>
        </p:nvSpPr>
        <p:spPr>
          <a:xfrm>
            <a:off x="6279926" y="2343602"/>
            <a:ext cx="256993" cy="225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68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7622" y="2249052"/>
            <a:ext cx="3439171" cy="23359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algn="l"/>
            <a:r>
              <a:rPr lang="en-US" sz="900" b="1" dirty="0">
                <a:solidFill>
                  <a:srgbClr val="123053"/>
                </a:solidFill>
                <a:latin typeface="Aptos"/>
              </a:rPr>
              <a:t>Visualized</a:t>
            </a:r>
            <a:r>
              <a:rPr sz="900" b="1" dirty="0">
                <a:solidFill>
                  <a:srgbClr val="123053"/>
                </a:solidFill>
                <a:latin typeface="Aptos"/>
              </a:rPr>
              <a:t> results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7622" y="2427493"/>
            <a:ext cx="3439171" cy="209288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algn="l"/>
            <a:r>
              <a:rPr sz="750" b="0" dirty="0">
                <a:solidFill>
                  <a:srgbClr val="324358"/>
                </a:solidFill>
                <a:latin typeface="Aptos"/>
              </a:rPr>
              <a:t>Masks </a:t>
            </a:r>
            <a:r>
              <a:rPr lang="en-US" sz="750" dirty="0">
                <a:solidFill>
                  <a:srgbClr val="324358"/>
                </a:solidFill>
                <a:latin typeface="Aptos"/>
              </a:rPr>
              <a:t>and</a:t>
            </a:r>
            <a:r>
              <a:rPr sz="750" b="0" dirty="0">
                <a:solidFill>
                  <a:srgbClr val="324358"/>
                </a:solidFill>
                <a:latin typeface="Aptos"/>
              </a:rPr>
              <a:t> vehicle count per frame.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397060" y="3038563"/>
            <a:ext cx="9395361" cy="2358288"/>
          </a:xfrm>
          <a:prstGeom prst="roundRect">
            <a:avLst/>
          </a:prstGeom>
          <a:solidFill>
            <a:srgbClr val="DDC5E5"/>
          </a:solidFill>
          <a:ln w="15240">
            <a:solidFill>
              <a:srgbClr val="D3B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34" name="TextBox 33"/>
          <p:cNvSpPr txBox="1"/>
          <p:nvPr/>
        </p:nvSpPr>
        <p:spPr>
          <a:xfrm>
            <a:off x="1570908" y="3064065"/>
            <a:ext cx="287227" cy="37228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19" b="1">
                <a:solidFill>
                  <a:srgbClr val="752F60"/>
                </a:solidFill>
                <a:latin typeface="Aptos"/>
              </a:rPr>
              <a:t>▥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903487" y="3099032"/>
            <a:ext cx="891917" cy="302345"/>
          </a:xfrm>
          <a:prstGeom prst="roundRect">
            <a:avLst/>
          </a:prstGeom>
          <a:solidFill>
            <a:srgbClr val="FAE4EE"/>
          </a:solidFill>
          <a:ln w="15240">
            <a:solidFill>
              <a:srgbClr val="F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36" name="TextBox 35"/>
          <p:cNvSpPr txBox="1"/>
          <p:nvPr/>
        </p:nvSpPr>
        <p:spPr>
          <a:xfrm>
            <a:off x="1948839" y="3111769"/>
            <a:ext cx="793655" cy="2768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99" b="1">
                <a:solidFill>
                  <a:srgbClr val="123053"/>
                </a:solidFill>
                <a:latin typeface="Aptos"/>
              </a:rPr>
              <a:t>Results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601143" y="3461846"/>
            <a:ext cx="7331858" cy="173848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pic>
        <p:nvPicPr>
          <p:cNvPr id="38" name="Picture 37" descr="q3_segmentation_result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612" y="3529874"/>
            <a:ext cx="7210920" cy="1164263"/>
          </a:xfrm>
          <a:prstGeom prst="rect">
            <a:avLst/>
          </a:prstGeom>
        </p:spPr>
      </p:pic>
      <p:sp>
        <p:nvSpPr>
          <p:cNvPr id="39" name="Rounded Rectangle 38"/>
          <p:cNvSpPr/>
          <p:nvPr/>
        </p:nvSpPr>
        <p:spPr>
          <a:xfrm>
            <a:off x="9053939" y="3461846"/>
            <a:ext cx="1511723" cy="1738482"/>
          </a:xfrm>
          <a:prstGeom prst="roundRect">
            <a:avLst/>
          </a:prstGeom>
          <a:solidFill>
            <a:srgbClr val="F8E6F0"/>
          </a:solidFill>
          <a:ln w="15240">
            <a:solidFill>
              <a:srgbClr val="F8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40" name="TextBox 39"/>
          <p:cNvSpPr txBox="1"/>
          <p:nvPr/>
        </p:nvSpPr>
        <p:spPr>
          <a:xfrm>
            <a:off x="9189994" y="3588850"/>
            <a:ext cx="1239613" cy="2297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93" b="1">
                <a:solidFill>
                  <a:srgbClr val="123053"/>
                </a:solidFill>
                <a:latin typeface="Aptos"/>
              </a:rPr>
              <a:t>Vehicle counts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89994" y="3868408"/>
            <a:ext cx="1239613" cy="2601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91" b="1">
                <a:solidFill>
                  <a:srgbClr val="752F60"/>
                </a:solidFill>
                <a:latin typeface="Aptos"/>
              </a:rPr>
              <a:t>8 • 8 • 6 • 6 • 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74876" y="4280070"/>
            <a:ext cx="1269848" cy="57066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77" b="0">
                <a:solidFill>
                  <a:srgbClr val="324358"/>
                </a:solidFill>
                <a:latin typeface="Aptos"/>
              </a:rPr>
              <a:t>Separate masks were produced for multiple vehicle instances in the same scene.</a:t>
            </a:r>
          </a:p>
        </p:txBody>
      </p:sp>
    </p:spTree>
    <p:extLst>
      <p:ext uri="{BB962C8B-B14F-4D97-AF65-F5344CB8AC3E}">
        <p14:creationId xmlns:p14="http://schemas.microsoft.com/office/powerpoint/2010/main" val="5947534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97060" y="150591"/>
            <a:ext cx="9372685" cy="386652"/>
          </a:xfrm>
          <a:prstGeom prst="rect">
            <a:avLst/>
          </a:prstGeom>
          <a:noFill/>
        </p:spPr>
        <p:txBody>
          <a:bodyPr wrap="square" lIns="45351" tIns="15117" rIns="45351" bIns="15117" anchor="ctr">
            <a:spAutoFit/>
          </a:bodyPr>
          <a:lstStyle/>
          <a:p>
            <a:pPr algn="ctr"/>
            <a:r>
              <a:rPr sz="2300" b="1" dirty="0">
                <a:solidFill>
                  <a:srgbClr val="163054"/>
                </a:solidFill>
                <a:latin typeface="Aptos"/>
              </a:rPr>
              <a:t>Q3 Vehicle Counting &amp; Individual Tracking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86025" y="591849"/>
            <a:ext cx="8994754" cy="176851"/>
          </a:xfrm>
          <a:prstGeom prst="rect">
            <a:avLst/>
          </a:prstGeom>
          <a:noFill/>
        </p:spPr>
        <p:txBody>
          <a:bodyPr wrap="square" lIns="45351" tIns="15117" rIns="45351" bIns="15117" anchor="ctr">
            <a:spAutoFit/>
          </a:bodyPr>
          <a:lstStyle/>
          <a:p>
            <a:pPr algn="ctr"/>
            <a:r>
              <a:rPr sz="950" b="0">
                <a:solidFill>
                  <a:srgbClr val="576578"/>
                </a:solidFill>
                <a:latin typeface="Aptos"/>
              </a:rPr>
              <a:t>Counting vehicles in each scene and following individual vehicles through the traffic sequence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7714" y="816087"/>
            <a:ext cx="10325640" cy="389391"/>
          </a:xfrm>
          <a:prstGeom prst="roundRect">
            <a:avLst/>
          </a:prstGeom>
          <a:solidFill>
            <a:srgbClr val="DBEAFC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6" name="TextBox 5"/>
          <p:cNvSpPr txBox="1"/>
          <p:nvPr/>
        </p:nvSpPr>
        <p:spPr>
          <a:xfrm>
            <a:off x="456095" y="826609"/>
            <a:ext cx="2668192" cy="259503"/>
          </a:xfrm>
          <a:prstGeom prst="rect">
            <a:avLst/>
          </a:prstGeom>
          <a:noFill/>
        </p:spPr>
        <p:txBody>
          <a:bodyPr wrap="square" lIns="45351" tIns="15117" rIns="45351" bIns="15117" anchor="ctr">
            <a:spAutoFit/>
          </a:bodyPr>
          <a:lstStyle/>
          <a:p>
            <a:pPr algn="l"/>
            <a:r>
              <a:rPr sz="1450" b="1">
                <a:solidFill>
                  <a:srgbClr val="163054"/>
                </a:solidFill>
                <a:latin typeface="Aptos"/>
              </a:rPr>
              <a:t>Objective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7221" y="904701"/>
            <a:ext cx="9679083" cy="184418"/>
          </a:xfrm>
          <a:prstGeom prst="rect">
            <a:avLst/>
          </a:prstGeom>
          <a:noFill/>
        </p:spPr>
        <p:txBody>
          <a:bodyPr wrap="square" lIns="45351" tIns="15117" rIns="45351" bIns="15117" anchor="ctr">
            <a:spAutoFit/>
          </a:bodyPr>
          <a:lstStyle/>
          <a:p>
            <a:pPr algn="l"/>
            <a:r>
              <a:rPr sz="1000" b="0" dirty="0">
                <a:solidFill>
                  <a:srgbClr val="27374D"/>
                </a:solidFill>
                <a:latin typeface="Aptos"/>
              </a:rPr>
              <a:t>Count the vehicles in each processed frame and track each vehicle using persistent I</a:t>
            </a:r>
            <a:r>
              <a:rPr lang="nb-NO" sz="1000" b="0" dirty="0">
                <a:solidFill>
                  <a:srgbClr val="27374D"/>
                </a:solidFill>
                <a:latin typeface="Aptos"/>
              </a:rPr>
              <a:t>d</a:t>
            </a:r>
            <a:r>
              <a:rPr sz="1000" b="0" dirty="0">
                <a:solidFill>
                  <a:srgbClr val="27374D"/>
                </a:solidFill>
                <a:latin typeface="Aptos"/>
              </a:rPr>
              <a:t>s</a:t>
            </a:r>
            <a:r>
              <a:rPr lang="nb-NO" sz="1000" dirty="0">
                <a:solidFill>
                  <a:srgbClr val="27374D"/>
                </a:solidFill>
                <a:latin typeface="Aptos"/>
              </a:rPr>
              <a:t>.</a:t>
            </a:r>
            <a:endParaRPr sz="1000" b="0" dirty="0">
              <a:solidFill>
                <a:srgbClr val="27374D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68035" y="1341505"/>
            <a:ext cx="10410133" cy="355174"/>
          </a:xfrm>
          <a:prstGeom prst="roundRect">
            <a:avLst/>
          </a:prstGeom>
          <a:solidFill>
            <a:srgbClr val="DEF4EB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15" name="TextBox 14"/>
          <p:cNvSpPr txBox="1"/>
          <p:nvPr/>
        </p:nvSpPr>
        <p:spPr>
          <a:xfrm>
            <a:off x="1482807" y="1429388"/>
            <a:ext cx="642482" cy="187047"/>
          </a:xfrm>
          <a:prstGeom prst="rect">
            <a:avLst/>
          </a:prstGeom>
          <a:noFill/>
        </p:spPr>
        <p:txBody>
          <a:bodyPr wrap="square" lIns="45351" tIns="15117" rIns="45351" bIns="15117" anchor="ctr">
            <a:spAutoFit/>
          </a:bodyPr>
          <a:lstStyle/>
          <a:p>
            <a:pPr algn="l"/>
            <a:r>
              <a:rPr sz="1000" b="1">
                <a:solidFill>
                  <a:srgbClr val="163054"/>
                </a:solidFill>
                <a:latin typeface="Aptos"/>
              </a:rPr>
              <a:t>METHOD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38669" y="1397119"/>
            <a:ext cx="226759" cy="221351"/>
          </a:xfrm>
          <a:prstGeom prst="rect">
            <a:avLst/>
          </a:prstGeom>
          <a:noFill/>
        </p:spPr>
        <p:txBody>
          <a:bodyPr wrap="square" lIns="45351" tIns="15117" rIns="45351" bIns="15117" anchor="ctr">
            <a:spAutoFit/>
          </a:bodyPr>
          <a:lstStyle/>
          <a:p>
            <a:pPr algn="ctr"/>
            <a:r>
              <a:rPr sz="1200" b="1">
                <a:solidFill>
                  <a:srgbClr val="28977E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5427" y="1346209"/>
            <a:ext cx="1776275" cy="323173"/>
          </a:xfrm>
          <a:prstGeom prst="rect">
            <a:avLst/>
          </a:prstGeom>
          <a:noFill/>
        </p:spPr>
        <p:txBody>
          <a:bodyPr wrap="square" lIns="45351" tIns="15117" rIns="45351" bIns="15117" anchor="ctr">
            <a:spAutoFit/>
          </a:bodyPr>
          <a:lstStyle/>
          <a:p>
            <a:pPr algn="l"/>
            <a:r>
              <a:rPr lang="en-US" sz="950" b="1" dirty="0">
                <a:solidFill>
                  <a:srgbClr val="27374D"/>
                </a:solidFill>
                <a:latin typeface="Aptos"/>
              </a:rPr>
              <a:t>Removed</a:t>
            </a:r>
            <a:r>
              <a:rPr sz="950" b="1" dirty="0">
                <a:solidFill>
                  <a:srgbClr val="27374D"/>
                </a:solidFill>
                <a:latin typeface="Aptos"/>
              </a:rPr>
              <a:t> duplicate camera frames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53343" y="1397119"/>
            <a:ext cx="226759" cy="221351"/>
          </a:xfrm>
          <a:prstGeom prst="rect">
            <a:avLst/>
          </a:prstGeom>
          <a:noFill/>
        </p:spPr>
        <p:txBody>
          <a:bodyPr wrap="square" lIns="45351" tIns="15117" rIns="45351" bIns="15117" anchor="ctr">
            <a:spAutoFit/>
          </a:bodyPr>
          <a:lstStyle/>
          <a:p>
            <a:pPr algn="ctr"/>
            <a:r>
              <a:rPr sz="1200" b="1">
                <a:solidFill>
                  <a:srgbClr val="EB4D7E"/>
                </a:solidFill>
                <a:latin typeface="Apto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10336" y="1430839"/>
            <a:ext cx="2683309" cy="169029"/>
          </a:xfrm>
          <a:prstGeom prst="rect">
            <a:avLst/>
          </a:prstGeom>
          <a:noFill/>
        </p:spPr>
        <p:txBody>
          <a:bodyPr wrap="square" lIns="45351" tIns="15117" rIns="45351" bIns="15117" anchor="ctr">
            <a:spAutoFit/>
          </a:bodyPr>
          <a:lstStyle/>
          <a:p>
            <a:r>
              <a:rPr lang="en-US" sz="900" b="1" dirty="0">
                <a:solidFill>
                  <a:srgbClr val="27374D"/>
                </a:solidFill>
                <a:latin typeface="Aptos"/>
              </a:rPr>
              <a:t>Tracked car / bus / truck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52376" y="1397119"/>
            <a:ext cx="226759" cy="221351"/>
          </a:xfrm>
          <a:prstGeom prst="rect">
            <a:avLst/>
          </a:prstGeom>
          <a:noFill/>
        </p:spPr>
        <p:txBody>
          <a:bodyPr wrap="square" lIns="45351" tIns="15117" rIns="45351" bIns="15117" anchor="ctr">
            <a:spAutoFit/>
          </a:bodyPr>
          <a:lstStyle/>
          <a:p>
            <a:pPr algn="ctr"/>
            <a:r>
              <a:rPr sz="1200" b="1">
                <a:solidFill>
                  <a:srgbClr val="8958C2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28" y="1358833"/>
            <a:ext cx="2819364" cy="313042"/>
          </a:xfrm>
          <a:prstGeom prst="rect">
            <a:avLst/>
          </a:prstGeom>
          <a:noFill/>
        </p:spPr>
        <p:txBody>
          <a:bodyPr wrap="square" lIns="45351" tIns="15117" rIns="45351" bIns="15117" anchor="ctr">
            <a:spAutoFit/>
          </a:bodyPr>
          <a:lstStyle/>
          <a:p>
            <a:pPr algn="l"/>
            <a:r>
              <a:rPr sz="900" b="1" dirty="0">
                <a:solidFill>
                  <a:srgbClr val="27374D"/>
                </a:solidFill>
                <a:latin typeface="Aptos"/>
              </a:rPr>
              <a:t>Store ID trajectories; </a:t>
            </a:r>
            <a:r>
              <a:rPr lang="en-US" sz="900" b="1" dirty="0">
                <a:solidFill>
                  <a:srgbClr val="27374D"/>
                </a:solidFill>
                <a:latin typeface="Aptos"/>
              </a:rPr>
              <a:t>kept</a:t>
            </a:r>
            <a:r>
              <a:rPr sz="900" b="1" dirty="0">
                <a:solidFill>
                  <a:srgbClr val="27374D"/>
                </a:solidFill>
                <a:latin typeface="Aptos"/>
              </a:rPr>
              <a:t> tracks seen in ≥3 processed frames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7986" y="1878312"/>
            <a:ext cx="2178992" cy="345747"/>
          </a:xfrm>
          <a:prstGeom prst="roundRect">
            <a:avLst/>
          </a:prstGeom>
          <a:solidFill>
            <a:srgbClr val="DBEAFC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23" name="TextBox 22"/>
          <p:cNvSpPr txBox="1"/>
          <p:nvPr/>
        </p:nvSpPr>
        <p:spPr>
          <a:xfrm>
            <a:off x="548529" y="1921063"/>
            <a:ext cx="1345434" cy="166290"/>
          </a:xfrm>
          <a:prstGeom prst="rect">
            <a:avLst/>
          </a:prstGeom>
          <a:noFill/>
        </p:spPr>
        <p:txBody>
          <a:bodyPr wrap="square" lIns="45351" tIns="15117" rIns="45351" bIns="15117" anchor="ctr">
            <a:spAutoFit/>
          </a:bodyPr>
          <a:lstStyle/>
          <a:p>
            <a:pPr algn="l"/>
            <a:r>
              <a:rPr sz="850" b="0">
                <a:solidFill>
                  <a:srgbClr val="27374D"/>
                </a:solidFill>
                <a:latin typeface="Aptos"/>
              </a:rPr>
              <a:t>Processed camera images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79231" y="1933132"/>
            <a:ext cx="1061153" cy="253667"/>
          </a:xfrm>
          <a:prstGeom prst="rect">
            <a:avLst/>
          </a:prstGeom>
          <a:noFill/>
        </p:spPr>
        <p:txBody>
          <a:bodyPr wrap="square" lIns="45351" tIns="15117" rIns="45351" bIns="15117" anchor="ctr">
            <a:spAutoFit/>
          </a:bodyPr>
          <a:lstStyle/>
          <a:p>
            <a:pPr algn="r"/>
            <a:r>
              <a:rPr sz="1450" b="1">
                <a:solidFill>
                  <a:srgbClr val="163054"/>
                </a:solidFill>
                <a:latin typeface="Aptos"/>
              </a:rPr>
              <a:t>52 / 637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56509" y="1847834"/>
            <a:ext cx="2219632" cy="355905"/>
          </a:xfrm>
          <a:prstGeom prst="roundRect">
            <a:avLst/>
          </a:prstGeom>
          <a:solidFill>
            <a:srgbClr val="DEF4EB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26" name="TextBox 25"/>
          <p:cNvSpPr txBox="1"/>
          <p:nvPr/>
        </p:nvSpPr>
        <p:spPr>
          <a:xfrm>
            <a:off x="2937052" y="1910903"/>
            <a:ext cx="1345434" cy="166290"/>
          </a:xfrm>
          <a:prstGeom prst="rect">
            <a:avLst/>
          </a:prstGeom>
          <a:noFill/>
        </p:spPr>
        <p:txBody>
          <a:bodyPr wrap="square" lIns="45351" tIns="15117" rIns="45351" bIns="15117" anchor="ctr">
            <a:spAutoFit/>
          </a:bodyPr>
          <a:lstStyle/>
          <a:p>
            <a:pPr algn="l"/>
            <a:r>
              <a:rPr sz="850" b="0">
                <a:solidFill>
                  <a:srgbClr val="27374D"/>
                </a:solidFill>
                <a:latin typeface="Aptos"/>
              </a:rPr>
              <a:t>Unique vehicles tracked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2251" y="1879414"/>
            <a:ext cx="695393" cy="259503"/>
          </a:xfrm>
          <a:prstGeom prst="rect">
            <a:avLst/>
          </a:prstGeom>
          <a:noFill/>
        </p:spPr>
        <p:txBody>
          <a:bodyPr wrap="square" lIns="45351" tIns="15117" rIns="45351" bIns="15117" anchor="ctr">
            <a:spAutoFit/>
          </a:bodyPr>
          <a:lstStyle/>
          <a:p>
            <a:pPr algn="r"/>
            <a:r>
              <a:rPr sz="1450" b="1">
                <a:solidFill>
                  <a:srgbClr val="163054"/>
                </a:solidFill>
                <a:latin typeface="Aptos"/>
              </a:rPr>
              <a:t>14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46637" y="1847831"/>
            <a:ext cx="2250112" cy="345747"/>
          </a:xfrm>
          <a:prstGeom prst="roundRect">
            <a:avLst/>
          </a:prstGeom>
          <a:solidFill>
            <a:srgbClr val="FCE2EB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29" name="TextBox 28"/>
          <p:cNvSpPr txBox="1"/>
          <p:nvPr/>
        </p:nvSpPr>
        <p:spPr>
          <a:xfrm>
            <a:off x="5437341" y="1880423"/>
            <a:ext cx="1345434" cy="166290"/>
          </a:xfrm>
          <a:prstGeom prst="rect">
            <a:avLst/>
          </a:prstGeom>
          <a:noFill/>
        </p:spPr>
        <p:txBody>
          <a:bodyPr wrap="square" lIns="45351" tIns="15117" rIns="45351" bIns="15117" anchor="ctr">
            <a:spAutoFit/>
          </a:bodyPr>
          <a:lstStyle/>
          <a:p>
            <a:pPr algn="l"/>
            <a:r>
              <a:rPr sz="850" b="0">
                <a:solidFill>
                  <a:srgbClr val="27374D"/>
                </a:solidFill>
                <a:latin typeface="Aptos"/>
              </a:rPr>
              <a:t>Max in one frame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52539" y="1848934"/>
            <a:ext cx="695393" cy="259503"/>
          </a:xfrm>
          <a:prstGeom prst="rect">
            <a:avLst/>
          </a:prstGeom>
          <a:noFill/>
        </p:spPr>
        <p:txBody>
          <a:bodyPr wrap="square" lIns="45351" tIns="15117" rIns="45351" bIns="15117" anchor="ctr">
            <a:spAutoFit/>
          </a:bodyPr>
          <a:lstStyle/>
          <a:p>
            <a:pPr algn="r"/>
            <a:r>
              <a:rPr sz="1450" b="1">
                <a:solidFill>
                  <a:srgbClr val="163054"/>
                </a:solidFill>
                <a:latin typeface="Aptos"/>
              </a:rPr>
              <a:t>8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36769" y="1868154"/>
            <a:ext cx="2290752" cy="355905"/>
          </a:xfrm>
          <a:prstGeom prst="roundRect">
            <a:avLst/>
          </a:prstGeom>
          <a:solidFill>
            <a:srgbClr val="EBE4FA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32" name="TextBox 31"/>
          <p:cNvSpPr txBox="1"/>
          <p:nvPr/>
        </p:nvSpPr>
        <p:spPr>
          <a:xfrm>
            <a:off x="7988433" y="1931223"/>
            <a:ext cx="1345434" cy="166290"/>
          </a:xfrm>
          <a:prstGeom prst="rect">
            <a:avLst/>
          </a:prstGeom>
          <a:noFill/>
        </p:spPr>
        <p:txBody>
          <a:bodyPr wrap="square" lIns="45351" tIns="15117" rIns="45351" bIns="15117" anchor="ctr">
            <a:spAutoFit/>
          </a:bodyPr>
          <a:lstStyle/>
          <a:p>
            <a:pPr algn="l"/>
            <a:r>
              <a:rPr sz="850" b="0">
                <a:solidFill>
                  <a:srgbClr val="27374D"/>
                </a:solidFill>
                <a:latin typeface="Aptos"/>
              </a:rPr>
              <a:t>Mean per frame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03632" y="1899734"/>
            <a:ext cx="695393" cy="259503"/>
          </a:xfrm>
          <a:prstGeom prst="rect">
            <a:avLst/>
          </a:prstGeom>
          <a:noFill/>
        </p:spPr>
        <p:txBody>
          <a:bodyPr wrap="square" lIns="45351" tIns="15117" rIns="45351" bIns="15117" anchor="ctr">
            <a:spAutoFit/>
          </a:bodyPr>
          <a:lstStyle/>
          <a:p>
            <a:pPr algn="r"/>
            <a:r>
              <a:rPr sz="1450" b="1">
                <a:solidFill>
                  <a:srgbClr val="163054"/>
                </a:solidFill>
                <a:latin typeface="Aptos"/>
              </a:rPr>
              <a:t>3.9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D3A1F708-B80B-0A44-D8C7-CBEDC03200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37" y="2468724"/>
            <a:ext cx="5618605" cy="2599229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28E2F83A-04CC-2046-2BDD-723C16D072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7801" y="2468880"/>
            <a:ext cx="4998058" cy="296496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2F52C79-98BB-9B45-6F18-58AF1BA4E4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19" y="1012374"/>
            <a:ext cx="11247803" cy="3378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8322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97060" y="139252"/>
            <a:ext cx="9372685" cy="386652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ctr"/>
            <a:r>
              <a:rPr sz="2314" b="1">
                <a:solidFill>
                  <a:srgbClr val="163054"/>
                </a:solidFill>
                <a:latin typeface="Aptos"/>
              </a:rPr>
              <a:t>Q4(a)  Motor Health Classification – Model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86025" y="599408"/>
            <a:ext cx="8994754" cy="176851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ctr"/>
            <a:r>
              <a:rPr sz="951" b="0">
                <a:solidFill>
                  <a:srgbClr val="576578"/>
                </a:solidFill>
                <a:latin typeface="Aptos"/>
              </a:rPr>
              <a:t>Binary CNN classification of Healthy vs Faulty motor condition from RGB scalogram images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21474" y="846565"/>
            <a:ext cx="9546533" cy="498869"/>
          </a:xfrm>
          <a:prstGeom prst="roundRect">
            <a:avLst/>
          </a:prstGeom>
          <a:solidFill>
            <a:srgbClr val="DBEAFC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5" name="TextBox 4"/>
          <p:cNvSpPr txBox="1"/>
          <p:nvPr/>
        </p:nvSpPr>
        <p:spPr>
          <a:xfrm>
            <a:off x="1472646" y="933771"/>
            <a:ext cx="944827" cy="195959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l"/>
            <a:r>
              <a:rPr sz="1075" b="1">
                <a:solidFill>
                  <a:srgbClr val="163054"/>
                </a:solidFill>
                <a:latin typeface="Aptos"/>
              </a:rPr>
              <a:t>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32590" y="956447"/>
            <a:ext cx="8125513" cy="195959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l"/>
            <a:r>
              <a:rPr sz="1075" b="0">
                <a:solidFill>
                  <a:srgbClr val="27374D"/>
                </a:solidFill>
                <a:latin typeface="Aptos"/>
              </a:rPr>
              <a:t>Develop an ML model that determines the state of health of the motor from the provided fault-classification dataset.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21474" y="1473930"/>
            <a:ext cx="3099032" cy="3439171"/>
          </a:xfrm>
          <a:prstGeom prst="roundRect">
            <a:avLst/>
          </a:prstGeom>
          <a:solidFill>
            <a:srgbClr val="DEF4EB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8" name="Rounded Rectangle 7"/>
          <p:cNvSpPr/>
          <p:nvPr/>
        </p:nvSpPr>
        <p:spPr>
          <a:xfrm>
            <a:off x="1419736" y="1572192"/>
            <a:ext cx="2902509" cy="317462"/>
          </a:xfrm>
          <a:prstGeom prst="roundRect">
            <a:avLst/>
          </a:prstGeom>
          <a:solidFill>
            <a:srgbClr val="DEF4EB"/>
          </a:solidFill>
          <a:ln w="12700">
            <a:solidFill>
              <a:srgbClr val="DEF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9" name="Oval 8"/>
          <p:cNvSpPr/>
          <p:nvPr/>
        </p:nvSpPr>
        <p:spPr>
          <a:xfrm>
            <a:off x="1480204" y="1628882"/>
            <a:ext cx="181407" cy="181407"/>
          </a:xfrm>
          <a:prstGeom prst="ellipse">
            <a:avLst/>
          </a:prstGeom>
          <a:solidFill>
            <a:srgbClr val="289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10" name="TextBox 9"/>
          <p:cNvSpPr txBox="1"/>
          <p:nvPr/>
        </p:nvSpPr>
        <p:spPr>
          <a:xfrm>
            <a:off x="1706963" y="1596754"/>
            <a:ext cx="2539695" cy="253219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l"/>
            <a:r>
              <a:rPr sz="1447" b="1">
                <a:solidFill>
                  <a:srgbClr val="163054"/>
                </a:solidFill>
                <a:latin typeface="Aptos"/>
              </a:rPr>
              <a:t>Dataset &amp; preparation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95322" y="1965240"/>
            <a:ext cx="2736219" cy="1339277"/>
          </a:xfrm>
          <a:prstGeom prst="rect">
            <a:avLst/>
          </a:prstGeom>
          <a:noFill/>
        </p:spPr>
        <p:txBody>
          <a:bodyPr wrap="square" lIns="22676" rIns="22676">
            <a:spAutoFit/>
          </a:bodyPr>
          <a:lstStyle/>
          <a:p>
            <a:pPr>
              <a:spcAft>
                <a:spcPts val="413"/>
              </a:spcAft>
              <a:defRPr sz="1170">
                <a:solidFill>
                  <a:srgbClr val="27374D"/>
                </a:solidFill>
                <a:latin typeface="Aptos"/>
              </a:defRPr>
            </a:pPr>
            <a:r>
              <a:rPr sz="967"/>
              <a:t>• Two classes: 00_15 = Healthy and 10_15 = Faulty.</a:t>
            </a:r>
          </a:p>
          <a:p>
            <a:pPr>
              <a:spcAft>
                <a:spcPts val="413"/>
              </a:spcAft>
              <a:defRPr sz="1170">
                <a:solidFill>
                  <a:srgbClr val="27374D"/>
                </a:solidFill>
                <a:latin typeface="Aptos"/>
              </a:defRPr>
            </a:pPr>
            <a:r>
              <a:rPr sz="967"/>
              <a:t>• Input images: 60 × 175 RGB scalograms.</a:t>
            </a:r>
          </a:p>
          <a:p>
            <a:pPr>
              <a:spcAft>
                <a:spcPts val="413"/>
              </a:spcAft>
              <a:defRPr sz="1170">
                <a:solidFill>
                  <a:srgbClr val="27374D"/>
                </a:solidFill>
                <a:latin typeface="Aptos"/>
              </a:defRPr>
            </a:pPr>
            <a:r>
              <a:rPr sz="967"/>
              <a:t>• Total: 2000 images.</a:t>
            </a:r>
          </a:p>
          <a:p>
            <a:pPr>
              <a:spcAft>
                <a:spcPts val="413"/>
              </a:spcAft>
              <a:defRPr sz="1170">
                <a:solidFill>
                  <a:srgbClr val="27374D"/>
                </a:solidFill>
                <a:latin typeface="Aptos"/>
              </a:defRPr>
            </a:pPr>
            <a:r>
              <a:rPr sz="967"/>
              <a:t>• Training: 1440 images; validation: 360 images; test: 200 images.</a:t>
            </a:r>
          </a:p>
          <a:p>
            <a:pPr>
              <a:spcAft>
                <a:spcPts val="413"/>
              </a:spcAft>
              <a:defRPr sz="1170">
                <a:solidFill>
                  <a:srgbClr val="27374D"/>
                </a:solidFill>
                <a:latin typeface="Aptos"/>
              </a:defRPr>
            </a:pPr>
            <a:r>
              <a:rPr sz="967"/>
              <a:t>• Training directory was split 80/20 using the same seed so train and validation do not overlap.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95322" y="3990949"/>
            <a:ext cx="2736219" cy="72562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13" name="TextBox 12"/>
          <p:cNvSpPr txBox="1"/>
          <p:nvPr/>
        </p:nvSpPr>
        <p:spPr>
          <a:xfrm>
            <a:off x="1601142" y="4050594"/>
            <a:ext cx="755862" cy="167939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l"/>
            <a:r>
              <a:rPr sz="893" b="1">
                <a:solidFill>
                  <a:srgbClr val="163054"/>
                </a:solidFill>
                <a:latin typeface="Aptos"/>
              </a:rPr>
              <a:t>Data split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1142" y="4267759"/>
            <a:ext cx="718069" cy="202243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l"/>
            <a:r>
              <a:rPr sz="1116" b="1">
                <a:solidFill>
                  <a:srgbClr val="437EDC"/>
                </a:solidFill>
                <a:latin typeface="Aptos"/>
              </a:rPr>
              <a:t>1440 train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57004" y="4267759"/>
            <a:ext cx="604689" cy="202243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l"/>
            <a:r>
              <a:rPr sz="1116" b="1">
                <a:solidFill>
                  <a:srgbClr val="28977E"/>
                </a:solidFill>
                <a:latin typeface="Aptos"/>
              </a:rPr>
              <a:t>360 val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7280" y="4267759"/>
            <a:ext cx="642482" cy="202243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l"/>
            <a:r>
              <a:rPr sz="1116" b="1">
                <a:solidFill>
                  <a:srgbClr val="EB4D7E"/>
                </a:solidFill>
                <a:latin typeface="Aptos"/>
              </a:rPr>
              <a:t>200 test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49003" y="1473930"/>
            <a:ext cx="3204853" cy="3439171"/>
          </a:xfrm>
          <a:prstGeom prst="roundRect">
            <a:avLst/>
          </a:prstGeom>
          <a:solidFill>
            <a:srgbClr val="FCE2EB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18" name="Rounded Rectangle 17"/>
          <p:cNvSpPr/>
          <p:nvPr/>
        </p:nvSpPr>
        <p:spPr>
          <a:xfrm>
            <a:off x="4647265" y="1572192"/>
            <a:ext cx="3008329" cy="317462"/>
          </a:xfrm>
          <a:prstGeom prst="roundRect">
            <a:avLst/>
          </a:prstGeom>
          <a:solidFill>
            <a:srgbClr val="FCE2EB"/>
          </a:solidFill>
          <a:ln w="12700">
            <a:solidFill>
              <a:srgbClr val="F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19" name="Oval 18"/>
          <p:cNvSpPr/>
          <p:nvPr/>
        </p:nvSpPr>
        <p:spPr>
          <a:xfrm>
            <a:off x="4707734" y="1628882"/>
            <a:ext cx="181407" cy="181407"/>
          </a:xfrm>
          <a:prstGeom prst="ellipse">
            <a:avLst/>
          </a:prstGeom>
          <a:solidFill>
            <a:srgbClr val="EB4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20" name="TextBox 19"/>
          <p:cNvSpPr txBox="1"/>
          <p:nvPr/>
        </p:nvSpPr>
        <p:spPr>
          <a:xfrm>
            <a:off x="4934492" y="1596754"/>
            <a:ext cx="2645516" cy="253219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l"/>
            <a:r>
              <a:rPr sz="1447" b="1">
                <a:solidFill>
                  <a:srgbClr val="163054"/>
                </a:solidFill>
                <a:latin typeface="Aptos"/>
              </a:rPr>
              <a:t>Our CNN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30410" y="1965240"/>
            <a:ext cx="2857157" cy="1591333"/>
          </a:xfrm>
          <a:prstGeom prst="rect">
            <a:avLst/>
          </a:prstGeom>
          <a:noFill/>
        </p:spPr>
        <p:txBody>
          <a:bodyPr wrap="square" lIns="22676" rIns="22676">
            <a:spAutoFit/>
          </a:bodyPr>
          <a:lstStyle/>
          <a:p>
            <a:pPr>
              <a:spcAft>
                <a:spcPts val="413"/>
              </a:spcAft>
              <a:defRPr sz="1130">
                <a:solidFill>
                  <a:srgbClr val="27374D"/>
                </a:solidFill>
                <a:latin typeface="Aptos"/>
              </a:defRPr>
            </a:pPr>
            <a:r>
              <a:rPr sz="934"/>
              <a:t>• Based on "model 2" from the CNN lecture / lab work 2.</a:t>
            </a:r>
          </a:p>
          <a:p>
            <a:pPr>
              <a:spcAft>
                <a:spcPts val="413"/>
              </a:spcAft>
              <a:defRPr sz="1130">
                <a:solidFill>
                  <a:srgbClr val="27374D"/>
                </a:solidFill>
                <a:latin typeface="Aptos"/>
              </a:defRPr>
            </a:pPr>
            <a:r>
              <a:rPr sz="934"/>
              <a:t>• Normalization layer followed by Conv2D blocks with filters 8 → 16 → 32 → 64 → 64 → 64.</a:t>
            </a:r>
          </a:p>
          <a:p>
            <a:pPr>
              <a:spcAft>
                <a:spcPts val="413"/>
              </a:spcAft>
              <a:defRPr sz="1130">
                <a:solidFill>
                  <a:srgbClr val="27374D"/>
                </a:solidFill>
                <a:latin typeface="Aptos"/>
              </a:defRPr>
            </a:pPr>
            <a:r>
              <a:rPr sz="934"/>
              <a:t>• Max pooling reduces spatial dimensions between convolution stages.</a:t>
            </a:r>
          </a:p>
          <a:p>
            <a:pPr>
              <a:spcAft>
                <a:spcPts val="413"/>
              </a:spcAft>
              <a:defRPr sz="1130">
                <a:solidFill>
                  <a:srgbClr val="27374D"/>
                </a:solidFill>
                <a:latin typeface="Aptos"/>
              </a:defRPr>
            </a:pPr>
            <a:r>
              <a:rPr sz="934"/>
              <a:t>• Flatten → Dense 64 → Dense 64 with L2 regularization → Softmax(2).</a:t>
            </a:r>
          </a:p>
          <a:p>
            <a:pPr>
              <a:spcAft>
                <a:spcPts val="413"/>
              </a:spcAft>
              <a:defRPr sz="1130">
                <a:solidFill>
                  <a:srgbClr val="27374D"/>
                </a:solidFill>
                <a:latin typeface="Aptos"/>
              </a:defRPr>
            </a:pPr>
            <a:r>
              <a:rPr sz="934"/>
              <a:t>• Training: Adam, 15 epochs, batch size 8.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30410" y="4104329"/>
            <a:ext cx="2857157" cy="60468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23" name="TextBox 22"/>
          <p:cNvSpPr txBox="1"/>
          <p:nvPr/>
        </p:nvSpPr>
        <p:spPr>
          <a:xfrm>
            <a:off x="4851348" y="4157239"/>
            <a:ext cx="907034" cy="166290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l"/>
            <a:r>
              <a:rPr sz="884" b="1">
                <a:solidFill>
                  <a:srgbClr val="163054"/>
                </a:solidFill>
                <a:latin typeface="Aptos"/>
              </a:rPr>
              <a:t>Model size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05471" y="4123328"/>
            <a:ext cx="1700689" cy="234111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r"/>
            <a:r>
              <a:rPr sz="1323" b="1">
                <a:solidFill>
                  <a:srgbClr val="163054"/>
                </a:solidFill>
                <a:latin typeface="Aptos"/>
              </a:rPr>
              <a:t>123,225 parameters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82352" y="1473930"/>
            <a:ext cx="2985654" cy="3439171"/>
          </a:xfrm>
          <a:prstGeom prst="roundRect">
            <a:avLst/>
          </a:prstGeom>
          <a:solidFill>
            <a:srgbClr val="EBE4FA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26" name="Rounded Rectangle 25"/>
          <p:cNvSpPr/>
          <p:nvPr/>
        </p:nvSpPr>
        <p:spPr>
          <a:xfrm>
            <a:off x="7980615" y="1572192"/>
            <a:ext cx="2789130" cy="317462"/>
          </a:xfrm>
          <a:prstGeom prst="roundRect">
            <a:avLst/>
          </a:prstGeom>
          <a:solidFill>
            <a:srgbClr val="EBE4FA"/>
          </a:solidFill>
          <a:ln w="12700">
            <a:solidFill>
              <a:srgbClr val="EBE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27" name="Oval 26"/>
          <p:cNvSpPr/>
          <p:nvPr/>
        </p:nvSpPr>
        <p:spPr>
          <a:xfrm>
            <a:off x="8041084" y="1628882"/>
            <a:ext cx="181407" cy="181407"/>
          </a:xfrm>
          <a:prstGeom prst="ellipse">
            <a:avLst/>
          </a:prstGeom>
          <a:solidFill>
            <a:srgbClr val="895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28" name="TextBox 27"/>
          <p:cNvSpPr txBox="1"/>
          <p:nvPr/>
        </p:nvSpPr>
        <p:spPr>
          <a:xfrm>
            <a:off x="8267842" y="1596754"/>
            <a:ext cx="2426316" cy="253219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l"/>
            <a:r>
              <a:rPr sz="1447" b="1">
                <a:solidFill>
                  <a:srgbClr val="163054"/>
                </a:solidFill>
                <a:latin typeface="Aptos"/>
              </a:rPr>
              <a:t>Example scalograms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8642" y="1965240"/>
            <a:ext cx="2630399" cy="238852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pic>
        <p:nvPicPr>
          <p:cNvPr id="30" name="Picture 29" descr="q4_s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1787" y="2238140"/>
            <a:ext cx="2464109" cy="184272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116670" y="4432913"/>
            <a:ext cx="2494344" cy="295217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ctr"/>
            <a:r>
              <a:rPr sz="860" b="0">
                <a:solidFill>
                  <a:srgbClr val="576578"/>
                </a:solidFill>
                <a:latin typeface="Aptos"/>
              </a:rPr>
              <a:t>Healthy and faulty examples show visibly different time–frequency patterns.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321474" y="5124742"/>
            <a:ext cx="9546533" cy="347696"/>
          </a:xfrm>
          <a:prstGeom prst="roundRect">
            <a:avLst/>
          </a:prstGeom>
          <a:solidFill>
            <a:srgbClr val="DBEAFC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33" name="TextBox 32"/>
          <p:cNvSpPr txBox="1"/>
          <p:nvPr/>
        </p:nvSpPr>
        <p:spPr>
          <a:xfrm>
            <a:off x="1472646" y="5187489"/>
            <a:ext cx="944827" cy="176851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l"/>
            <a:r>
              <a:rPr sz="951" b="1">
                <a:solidFill>
                  <a:srgbClr val="163054"/>
                </a:solidFill>
                <a:latin typeface="Aptos"/>
              </a:rPr>
              <a:t>Key takeaway: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57004" y="5178074"/>
            <a:ext cx="8276685" cy="173004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l"/>
            <a:r>
              <a:rPr sz="926" b="0">
                <a:solidFill>
                  <a:srgbClr val="27374D"/>
                </a:solidFill>
                <a:latin typeface="Aptos"/>
              </a:rPr>
              <a:t>A deeper CNN from the course material was trained on the same two-class motor-health dataset used by the baseline.</a:t>
            </a:r>
          </a:p>
        </p:txBody>
      </p:sp>
    </p:spTree>
    <p:extLst>
      <p:ext uri="{BB962C8B-B14F-4D97-AF65-F5344CB8AC3E}">
        <p14:creationId xmlns:p14="http://schemas.microsoft.com/office/powerpoint/2010/main" val="13608388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97060" y="139252"/>
            <a:ext cx="9372685" cy="386652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ctr"/>
            <a:r>
              <a:rPr sz="2314" b="1">
                <a:solidFill>
                  <a:srgbClr val="163054"/>
                </a:solidFill>
                <a:latin typeface="Aptos"/>
              </a:rPr>
              <a:t>Q4(b)  Training &amp; Test-set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86025" y="599408"/>
            <a:ext cx="8994754" cy="176851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ctr"/>
            <a:r>
              <a:rPr sz="951" b="0">
                <a:solidFill>
                  <a:srgbClr val="576578"/>
                </a:solidFill>
                <a:latin typeface="Aptos"/>
              </a:rPr>
              <a:t>Train/validation behaviour, confusion matrix and classification performance of our CNN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21474" y="907034"/>
            <a:ext cx="2229792" cy="604689"/>
          </a:xfrm>
          <a:prstGeom prst="roundRect">
            <a:avLst/>
          </a:prstGeom>
          <a:solidFill>
            <a:srgbClr val="DBEAFC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5" name="TextBox 4"/>
          <p:cNvSpPr txBox="1"/>
          <p:nvPr/>
        </p:nvSpPr>
        <p:spPr>
          <a:xfrm>
            <a:off x="1412177" y="959944"/>
            <a:ext cx="1095999" cy="166290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l"/>
            <a:r>
              <a:rPr sz="868" b="0">
                <a:solidFill>
                  <a:srgbClr val="27374D"/>
                </a:solidFill>
                <a:latin typeface="Aptos"/>
              </a:rPr>
              <a:t>Training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55266" y="920896"/>
            <a:ext cx="967503" cy="259503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r"/>
            <a:r>
              <a:rPr sz="1488" b="1">
                <a:solidFill>
                  <a:srgbClr val="163054"/>
                </a:solidFill>
                <a:latin typeface="Aptos"/>
              </a:rPr>
              <a:t>106.8 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09997" y="907034"/>
            <a:ext cx="2229792" cy="604689"/>
          </a:xfrm>
          <a:prstGeom prst="roundRect">
            <a:avLst/>
          </a:prstGeom>
          <a:solidFill>
            <a:srgbClr val="DEF4EB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8" name="TextBox 7"/>
          <p:cNvSpPr txBox="1"/>
          <p:nvPr/>
        </p:nvSpPr>
        <p:spPr>
          <a:xfrm>
            <a:off x="3800700" y="959944"/>
            <a:ext cx="1095999" cy="166290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l"/>
            <a:r>
              <a:rPr sz="868" b="0">
                <a:solidFill>
                  <a:srgbClr val="27374D"/>
                </a:solidFill>
                <a:latin typeface="Aptos"/>
              </a:rPr>
              <a:t>Test 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3789" y="920896"/>
            <a:ext cx="967503" cy="259503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r"/>
            <a:r>
              <a:rPr sz="1488" b="1">
                <a:solidFill>
                  <a:srgbClr val="163054"/>
                </a:solidFill>
                <a:latin typeface="Aptos"/>
              </a:rPr>
              <a:t>0.990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8519" y="907034"/>
            <a:ext cx="2229792" cy="604689"/>
          </a:xfrm>
          <a:prstGeom prst="roundRect">
            <a:avLst/>
          </a:prstGeom>
          <a:solidFill>
            <a:srgbClr val="FCE2EB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11" name="TextBox 10"/>
          <p:cNvSpPr txBox="1"/>
          <p:nvPr/>
        </p:nvSpPr>
        <p:spPr>
          <a:xfrm>
            <a:off x="6189223" y="959944"/>
            <a:ext cx="1095999" cy="166290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l"/>
            <a:r>
              <a:rPr sz="868" b="0">
                <a:solidFill>
                  <a:srgbClr val="27374D"/>
                </a:solidFill>
                <a:latin typeface="Aptos"/>
              </a:rPr>
              <a:t>Test loss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32312" y="920896"/>
            <a:ext cx="967503" cy="259503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r"/>
            <a:r>
              <a:rPr sz="1488" b="1">
                <a:solidFill>
                  <a:srgbClr val="163054"/>
                </a:solidFill>
                <a:latin typeface="Aptos"/>
              </a:rPr>
              <a:t>0.062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87042" y="907034"/>
            <a:ext cx="2229792" cy="604689"/>
          </a:xfrm>
          <a:prstGeom prst="roundRect">
            <a:avLst/>
          </a:prstGeom>
          <a:solidFill>
            <a:srgbClr val="EBE4FA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14" name="TextBox 13"/>
          <p:cNvSpPr txBox="1"/>
          <p:nvPr/>
        </p:nvSpPr>
        <p:spPr>
          <a:xfrm>
            <a:off x="8577746" y="959944"/>
            <a:ext cx="1095999" cy="166290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l"/>
            <a:r>
              <a:rPr sz="868" b="0">
                <a:solidFill>
                  <a:srgbClr val="27374D"/>
                </a:solidFill>
                <a:latin typeface="Aptos"/>
              </a:rPr>
              <a:t>Inference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20835" y="806410"/>
            <a:ext cx="967503" cy="488475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r"/>
            <a:r>
              <a:rPr sz="1488" b="1">
                <a:solidFill>
                  <a:srgbClr val="163054"/>
                </a:solidFill>
                <a:latin typeface="Aptos"/>
              </a:rPr>
              <a:t>2.376 ms/img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21474" y="1647778"/>
            <a:ext cx="4686342" cy="256993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17" name="Rounded Rectangle 16"/>
          <p:cNvSpPr/>
          <p:nvPr/>
        </p:nvSpPr>
        <p:spPr>
          <a:xfrm>
            <a:off x="1419736" y="1738482"/>
            <a:ext cx="4489818" cy="317462"/>
          </a:xfrm>
          <a:prstGeom prst="roundRect">
            <a:avLst/>
          </a:prstGeom>
          <a:solidFill>
            <a:srgbClr val="DBEAFC"/>
          </a:solidFill>
          <a:ln w="12700">
            <a:solidFill>
              <a:srgbClr val="DBE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18" name="Oval 17"/>
          <p:cNvSpPr/>
          <p:nvPr/>
        </p:nvSpPr>
        <p:spPr>
          <a:xfrm>
            <a:off x="1480204" y="1795171"/>
            <a:ext cx="181407" cy="181407"/>
          </a:xfrm>
          <a:prstGeom prst="ellipse">
            <a:avLst/>
          </a:prstGeom>
          <a:solidFill>
            <a:srgbClr val="437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19" name="TextBox 18"/>
          <p:cNvSpPr txBox="1"/>
          <p:nvPr/>
        </p:nvSpPr>
        <p:spPr>
          <a:xfrm>
            <a:off x="1706963" y="1763044"/>
            <a:ext cx="4127005" cy="253219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l"/>
            <a:r>
              <a:rPr sz="1447" b="1">
                <a:solidFill>
                  <a:srgbClr val="163054"/>
                </a:solidFill>
                <a:latin typeface="Aptos"/>
              </a:rPr>
              <a:t>Train / validation curves</a:t>
            </a:r>
          </a:p>
        </p:txBody>
      </p:sp>
      <p:pic>
        <p:nvPicPr>
          <p:cNvPr id="20" name="Picture 19" descr="q4_train_val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2646" y="2289001"/>
            <a:ext cx="4383998" cy="146133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548232" y="3883891"/>
            <a:ext cx="4232825" cy="289703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ctr"/>
            <a:r>
              <a:rPr sz="842" b="0">
                <a:solidFill>
                  <a:srgbClr val="576578"/>
                </a:solidFill>
                <a:latin typeface="Aptos"/>
              </a:rPr>
              <a:t>Loss decreases steadily and training/validation accuracy reaches 1.00 after the first epochs.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58989" y="1647778"/>
            <a:ext cx="4709018" cy="256993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23" name="Rounded Rectangle 22"/>
          <p:cNvSpPr/>
          <p:nvPr/>
        </p:nvSpPr>
        <p:spPr>
          <a:xfrm>
            <a:off x="6257251" y="1738482"/>
            <a:ext cx="4512494" cy="317462"/>
          </a:xfrm>
          <a:prstGeom prst="roundRect">
            <a:avLst/>
          </a:prstGeom>
          <a:solidFill>
            <a:srgbClr val="FCE2EB"/>
          </a:solidFill>
          <a:ln w="12700">
            <a:solidFill>
              <a:srgbClr val="F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24" name="Oval 23"/>
          <p:cNvSpPr/>
          <p:nvPr/>
        </p:nvSpPr>
        <p:spPr>
          <a:xfrm>
            <a:off x="6317719" y="1795171"/>
            <a:ext cx="181407" cy="181407"/>
          </a:xfrm>
          <a:prstGeom prst="ellipse">
            <a:avLst/>
          </a:prstGeom>
          <a:solidFill>
            <a:srgbClr val="EB4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25" name="TextBox 24"/>
          <p:cNvSpPr txBox="1"/>
          <p:nvPr/>
        </p:nvSpPr>
        <p:spPr>
          <a:xfrm>
            <a:off x="6544478" y="1763044"/>
            <a:ext cx="4149681" cy="253219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l"/>
            <a:r>
              <a:rPr sz="1447" b="1">
                <a:solidFill>
                  <a:srgbClr val="163054"/>
                </a:solidFill>
                <a:latin typeface="Aptos"/>
              </a:rPr>
              <a:t>Confusion matrix – test set</a:t>
            </a:r>
          </a:p>
        </p:txBody>
      </p:sp>
      <p:pic>
        <p:nvPicPr>
          <p:cNvPr id="26" name="Picture 25" descr="q4_cm_ou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7954" y="2192876"/>
            <a:ext cx="4308412" cy="1653580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1321474" y="4383998"/>
            <a:ext cx="9546533" cy="582013"/>
          </a:xfrm>
          <a:prstGeom prst="roundRect">
            <a:avLst/>
          </a:prstGeom>
          <a:solidFill>
            <a:srgbClr val="EBE4FA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28" name="TextBox 27"/>
          <p:cNvSpPr txBox="1"/>
          <p:nvPr/>
        </p:nvSpPr>
        <p:spPr>
          <a:xfrm>
            <a:off x="1472646" y="4480185"/>
            <a:ext cx="1322758" cy="170439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l"/>
            <a:r>
              <a:rPr sz="909" b="1">
                <a:solidFill>
                  <a:srgbClr val="163054"/>
                </a:solidFill>
                <a:latin typeface="Aptos"/>
              </a:rPr>
              <a:t>Classification report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3197" y="4478261"/>
            <a:ext cx="2985654" cy="174287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l"/>
            <a:r>
              <a:rPr sz="934" b="0">
                <a:solidFill>
                  <a:srgbClr val="27374D"/>
                </a:solidFill>
                <a:latin typeface="Aptos"/>
              </a:rPr>
              <a:t>Healthy: Precision 1.000   Recall 0.980   F1 0.990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39788" y="4478261"/>
            <a:ext cx="3061240" cy="174287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l"/>
            <a:r>
              <a:rPr sz="934" b="0">
                <a:solidFill>
                  <a:srgbClr val="27374D"/>
                </a:solidFill>
                <a:latin typeface="Aptos"/>
              </a:rPr>
              <a:t>Faulty: Precision 0.980   Recall 1.000   F1 0.990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3938" y="4478261"/>
            <a:ext cx="1587310" cy="174287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r"/>
            <a:r>
              <a:rPr sz="934" b="1">
                <a:solidFill>
                  <a:srgbClr val="163054"/>
                </a:solidFill>
                <a:latin typeface="Aptos"/>
              </a:rPr>
              <a:t>Overall accuracy: 0.990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321474" y="5124742"/>
            <a:ext cx="9546533" cy="347696"/>
          </a:xfrm>
          <a:prstGeom prst="roundRect">
            <a:avLst/>
          </a:prstGeom>
          <a:solidFill>
            <a:srgbClr val="FCE2EB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33" name="TextBox 32"/>
          <p:cNvSpPr txBox="1"/>
          <p:nvPr/>
        </p:nvSpPr>
        <p:spPr>
          <a:xfrm>
            <a:off x="1472646" y="5187489"/>
            <a:ext cx="944827" cy="176851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l"/>
            <a:r>
              <a:rPr sz="951" b="1">
                <a:solidFill>
                  <a:srgbClr val="163054"/>
                </a:solidFill>
                <a:latin typeface="Aptos"/>
              </a:rPr>
              <a:t>Key takeaway: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57004" y="5178362"/>
            <a:ext cx="8276685" cy="172428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l"/>
            <a:r>
              <a:rPr sz="922" b="0">
                <a:solidFill>
                  <a:srgbClr val="27374D"/>
                </a:solidFill>
                <a:latin typeface="Aptos"/>
              </a:rPr>
              <a:t>On 200 held-out test images, the model classified all 100 faulty samples correctly and misclassified only 2 healthy samples.</a:t>
            </a:r>
          </a:p>
        </p:txBody>
      </p:sp>
    </p:spTree>
    <p:extLst>
      <p:ext uri="{BB962C8B-B14F-4D97-AF65-F5344CB8AC3E}">
        <p14:creationId xmlns:p14="http://schemas.microsoft.com/office/powerpoint/2010/main" val="40864144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97060" y="139252"/>
            <a:ext cx="9372685" cy="386652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ctr"/>
            <a:r>
              <a:rPr sz="2314" b="1">
                <a:solidFill>
                  <a:srgbClr val="163054"/>
                </a:solidFill>
                <a:latin typeface="Aptos"/>
              </a:rPr>
              <a:t>Q4(c)  Comparison with the Class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86025" y="599408"/>
            <a:ext cx="8994754" cy="176851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ctr"/>
            <a:r>
              <a:rPr sz="951" b="0">
                <a:solidFill>
                  <a:srgbClr val="576578"/>
                </a:solidFill>
                <a:latin typeface="Aptos"/>
              </a:rPr>
              <a:t>Same data split and evaluation procedure; Faulty is treated as the positive class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21474" y="869241"/>
            <a:ext cx="3099032" cy="967503"/>
          </a:xfrm>
          <a:prstGeom prst="roundRect">
            <a:avLst/>
          </a:prstGeom>
          <a:solidFill>
            <a:srgbClr val="FDF3CC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5" name="Rounded Rectangle 4"/>
          <p:cNvSpPr/>
          <p:nvPr/>
        </p:nvSpPr>
        <p:spPr>
          <a:xfrm>
            <a:off x="1419736" y="959944"/>
            <a:ext cx="2902509" cy="317462"/>
          </a:xfrm>
          <a:prstGeom prst="roundRect">
            <a:avLst/>
          </a:prstGeom>
          <a:solidFill>
            <a:srgbClr val="FDF3CC"/>
          </a:solidFill>
          <a:ln w="12700">
            <a:solidFill>
              <a:srgbClr val="FDF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6" name="Oval 5"/>
          <p:cNvSpPr/>
          <p:nvPr/>
        </p:nvSpPr>
        <p:spPr>
          <a:xfrm>
            <a:off x="1480204" y="1016634"/>
            <a:ext cx="181407" cy="181407"/>
          </a:xfrm>
          <a:prstGeom prst="ellipse">
            <a:avLst/>
          </a:prstGeom>
          <a:solidFill>
            <a:srgbClr val="D39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7" name="TextBox 6"/>
          <p:cNvSpPr txBox="1"/>
          <p:nvPr/>
        </p:nvSpPr>
        <p:spPr>
          <a:xfrm>
            <a:off x="1706963" y="984506"/>
            <a:ext cx="2539695" cy="253219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l"/>
            <a:r>
              <a:rPr sz="1447" b="1">
                <a:solidFill>
                  <a:srgbClr val="163054"/>
                </a:solidFill>
                <a:latin typeface="Aptos"/>
              </a:rPr>
              <a:t>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17998" y="1252540"/>
            <a:ext cx="2683309" cy="465457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l"/>
            <a:r>
              <a:rPr sz="942" b="0">
                <a:solidFill>
                  <a:srgbClr val="27374D"/>
                </a:solidFill>
                <a:latin typeface="Aptos"/>
              </a:rPr>
              <a:t>The CNN from the class notebook was copied unchanged and trained with the same settings (Adam lr=1e-4, 15 epochs, batch size 8).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33886" y="869241"/>
            <a:ext cx="6334121" cy="967503"/>
          </a:xfrm>
          <a:prstGeom prst="roundRect">
            <a:avLst/>
          </a:prstGeom>
          <a:solidFill>
            <a:srgbClr val="DEF4EB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10" name="Rounded Rectangle 9"/>
          <p:cNvSpPr/>
          <p:nvPr/>
        </p:nvSpPr>
        <p:spPr>
          <a:xfrm>
            <a:off x="4632148" y="959944"/>
            <a:ext cx="6122480" cy="317462"/>
          </a:xfrm>
          <a:prstGeom prst="roundRect">
            <a:avLst/>
          </a:prstGeom>
          <a:solidFill>
            <a:srgbClr val="DEF4EB"/>
          </a:solidFill>
          <a:ln w="12700">
            <a:solidFill>
              <a:srgbClr val="DEF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11" name="Oval 10"/>
          <p:cNvSpPr/>
          <p:nvPr/>
        </p:nvSpPr>
        <p:spPr>
          <a:xfrm>
            <a:off x="4692617" y="1016634"/>
            <a:ext cx="181407" cy="181407"/>
          </a:xfrm>
          <a:prstGeom prst="ellipse">
            <a:avLst/>
          </a:prstGeom>
          <a:solidFill>
            <a:srgbClr val="289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12" name="TextBox 11"/>
          <p:cNvSpPr txBox="1"/>
          <p:nvPr/>
        </p:nvSpPr>
        <p:spPr>
          <a:xfrm>
            <a:off x="4919376" y="984506"/>
            <a:ext cx="5759665" cy="253219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l"/>
            <a:r>
              <a:rPr sz="1447" b="1">
                <a:solidFill>
                  <a:srgbClr val="163054"/>
                </a:solidFill>
                <a:latin typeface="Aptos"/>
              </a:rPr>
              <a:t>Comparison logic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15293" y="1317469"/>
            <a:ext cx="5895721" cy="320480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l"/>
            <a:r>
              <a:rPr sz="942" b="0">
                <a:solidFill>
                  <a:srgbClr val="27374D"/>
                </a:solidFill>
                <a:latin typeface="Aptos"/>
              </a:rPr>
              <a:t>Both models were evaluated on the same 200-image held-out test set. For fault detection, recall is especially important because a false negative means a fault is missed.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21474" y="2003033"/>
            <a:ext cx="1587310" cy="362814"/>
          </a:xfrm>
          <a:prstGeom prst="roundRect">
            <a:avLst/>
          </a:prstGeom>
          <a:solidFill>
            <a:srgbClr val="DBEAFC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15" name="TextBox 14"/>
          <p:cNvSpPr txBox="1"/>
          <p:nvPr/>
        </p:nvSpPr>
        <p:spPr>
          <a:xfrm>
            <a:off x="1351707" y="2096822"/>
            <a:ext cx="1526841" cy="160117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ctr"/>
            <a:r>
              <a:rPr sz="842" b="1">
                <a:solidFill>
                  <a:srgbClr val="163054"/>
                </a:solidFill>
                <a:latin typeface="Aptos"/>
              </a:rPr>
              <a:t>Model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08783" y="2003033"/>
            <a:ext cx="907034" cy="362814"/>
          </a:xfrm>
          <a:prstGeom prst="roundRect">
            <a:avLst/>
          </a:prstGeom>
          <a:solidFill>
            <a:srgbClr val="DBEAFC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17" name="TextBox 16"/>
          <p:cNvSpPr txBox="1"/>
          <p:nvPr/>
        </p:nvSpPr>
        <p:spPr>
          <a:xfrm>
            <a:off x="2939018" y="2096822"/>
            <a:ext cx="846564" cy="160117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ctr"/>
            <a:r>
              <a:rPr sz="842" b="1">
                <a:solidFill>
                  <a:srgbClr val="163054"/>
                </a:solidFill>
                <a:latin typeface="Aptos"/>
              </a:rPr>
              <a:t>Parameters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15818" y="2003033"/>
            <a:ext cx="1095999" cy="362814"/>
          </a:xfrm>
          <a:prstGeom prst="roundRect">
            <a:avLst/>
          </a:prstGeom>
          <a:solidFill>
            <a:srgbClr val="DBEAFC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19" name="TextBox 18"/>
          <p:cNvSpPr txBox="1"/>
          <p:nvPr/>
        </p:nvSpPr>
        <p:spPr>
          <a:xfrm>
            <a:off x="3846052" y="2096822"/>
            <a:ext cx="1035530" cy="160117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ctr"/>
            <a:r>
              <a:rPr sz="842" b="1">
                <a:solidFill>
                  <a:srgbClr val="163054"/>
                </a:solidFill>
                <a:latin typeface="Aptos"/>
              </a:rPr>
              <a:t>Train time (s)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11817" y="2003033"/>
            <a:ext cx="1171586" cy="362814"/>
          </a:xfrm>
          <a:prstGeom prst="roundRect">
            <a:avLst/>
          </a:prstGeom>
          <a:solidFill>
            <a:srgbClr val="DBEAFC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21" name="TextBox 20"/>
          <p:cNvSpPr txBox="1"/>
          <p:nvPr/>
        </p:nvSpPr>
        <p:spPr>
          <a:xfrm>
            <a:off x="4942051" y="2096822"/>
            <a:ext cx="1111117" cy="160117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ctr"/>
            <a:r>
              <a:rPr sz="842" b="1">
                <a:solidFill>
                  <a:srgbClr val="163054"/>
                </a:solidFill>
                <a:latin typeface="Aptos"/>
              </a:rPr>
              <a:t>Inference (ms/img)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83402" y="2003033"/>
            <a:ext cx="755862" cy="362814"/>
          </a:xfrm>
          <a:prstGeom prst="roundRect">
            <a:avLst/>
          </a:prstGeom>
          <a:solidFill>
            <a:srgbClr val="FCE2EB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23" name="TextBox 22"/>
          <p:cNvSpPr txBox="1"/>
          <p:nvPr/>
        </p:nvSpPr>
        <p:spPr>
          <a:xfrm>
            <a:off x="6113637" y="2096822"/>
            <a:ext cx="695393" cy="160117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ctr"/>
            <a:r>
              <a:rPr sz="842" b="1">
                <a:solidFill>
                  <a:srgbClr val="163054"/>
                </a:solidFill>
                <a:latin typeface="Aptos"/>
              </a:rPr>
              <a:t>Accuracy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39264" y="2003033"/>
            <a:ext cx="755862" cy="362814"/>
          </a:xfrm>
          <a:prstGeom prst="roundRect">
            <a:avLst/>
          </a:prstGeom>
          <a:solidFill>
            <a:srgbClr val="FCE2EB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25" name="TextBox 24"/>
          <p:cNvSpPr txBox="1"/>
          <p:nvPr/>
        </p:nvSpPr>
        <p:spPr>
          <a:xfrm>
            <a:off x="6869498" y="2096822"/>
            <a:ext cx="695393" cy="160117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ctr"/>
            <a:r>
              <a:rPr sz="842" b="1">
                <a:solidFill>
                  <a:srgbClr val="163054"/>
                </a:solidFill>
                <a:latin typeface="Aptos"/>
              </a:rPr>
              <a:t>Precision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95125" y="2003033"/>
            <a:ext cx="755862" cy="362814"/>
          </a:xfrm>
          <a:prstGeom prst="roundRect">
            <a:avLst/>
          </a:prstGeom>
          <a:solidFill>
            <a:srgbClr val="FCE2EB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27" name="TextBox 26"/>
          <p:cNvSpPr txBox="1"/>
          <p:nvPr/>
        </p:nvSpPr>
        <p:spPr>
          <a:xfrm>
            <a:off x="7625360" y="2096822"/>
            <a:ext cx="695393" cy="160117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ctr"/>
            <a:r>
              <a:rPr sz="842" b="1">
                <a:solidFill>
                  <a:srgbClr val="163054"/>
                </a:solidFill>
                <a:latin typeface="Aptos"/>
              </a:rPr>
              <a:t>Recall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50987" y="2003033"/>
            <a:ext cx="755862" cy="362814"/>
          </a:xfrm>
          <a:prstGeom prst="roundRect">
            <a:avLst/>
          </a:prstGeom>
          <a:solidFill>
            <a:srgbClr val="FCE2EB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29" name="TextBox 28"/>
          <p:cNvSpPr txBox="1"/>
          <p:nvPr/>
        </p:nvSpPr>
        <p:spPr>
          <a:xfrm>
            <a:off x="8381222" y="2096822"/>
            <a:ext cx="695393" cy="160117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ctr"/>
            <a:r>
              <a:rPr sz="842" b="1">
                <a:solidFill>
                  <a:srgbClr val="163054"/>
                </a:solidFill>
                <a:latin typeface="Aptos"/>
              </a:rPr>
              <a:t>F1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21474" y="2403639"/>
            <a:ext cx="1587310" cy="347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31" name="TextBox 30"/>
          <p:cNvSpPr txBox="1"/>
          <p:nvPr/>
        </p:nvSpPr>
        <p:spPr>
          <a:xfrm>
            <a:off x="1351707" y="2487273"/>
            <a:ext cx="1526841" cy="165310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ctr"/>
            <a:r>
              <a:rPr sz="876" b="0">
                <a:solidFill>
                  <a:srgbClr val="27374D"/>
                </a:solidFill>
                <a:latin typeface="Aptos"/>
              </a:rPr>
              <a:t>Class baseline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908783" y="2403639"/>
            <a:ext cx="907034" cy="347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33" name="TextBox 32"/>
          <p:cNvSpPr txBox="1"/>
          <p:nvPr/>
        </p:nvSpPr>
        <p:spPr>
          <a:xfrm>
            <a:off x="2939018" y="2487273"/>
            <a:ext cx="846564" cy="165310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ctr"/>
            <a:r>
              <a:rPr sz="876" b="0">
                <a:solidFill>
                  <a:srgbClr val="27374D"/>
                </a:solidFill>
                <a:latin typeface="Aptos"/>
              </a:rPr>
              <a:t>9,339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815818" y="2403639"/>
            <a:ext cx="1095999" cy="347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35" name="TextBox 34"/>
          <p:cNvSpPr txBox="1"/>
          <p:nvPr/>
        </p:nvSpPr>
        <p:spPr>
          <a:xfrm>
            <a:off x="3846052" y="2487273"/>
            <a:ext cx="1035530" cy="165310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ctr"/>
            <a:r>
              <a:rPr sz="876" b="0">
                <a:solidFill>
                  <a:srgbClr val="27374D"/>
                </a:solidFill>
                <a:latin typeface="Aptos"/>
              </a:rPr>
              <a:t>52.829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911817" y="2403639"/>
            <a:ext cx="1171586" cy="347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37" name="TextBox 36"/>
          <p:cNvSpPr txBox="1"/>
          <p:nvPr/>
        </p:nvSpPr>
        <p:spPr>
          <a:xfrm>
            <a:off x="4942051" y="2487273"/>
            <a:ext cx="1111117" cy="165310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ctr"/>
            <a:r>
              <a:rPr sz="876" b="0">
                <a:solidFill>
                  <a:srgbClr val="27374D"/>
                </a:solidFill>
                <a:latin typeface="Aptos"/>
              </a:rPr>
              <a:t>1.818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83402" y="2403639"/>
            <a:ext cx="755862" cy="347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39" name="TextBox 38"/>
          <p:cNvSpPr txBox="1"/>
          <p:nvPr/>
        </p:nvSpPr>
        <p:spPr>
          <a:xfrm>
            <a:off x="6113637" y="2487273"/>
            <a:ext cx="695393" cy="165310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ctr"/>
            <a:r>
              <a:rPr sz="876" b="0">
                <a:solidFill>
                  <a:srgbClr val="27374D"/>
                </a:solidFill>
                <a:latin typeface="Aptos"/>
              </a:rPr>
              <a:t>0.985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39264" y="2403639"/>
            <a:ext cx="755862" cy="347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41" name="TextBox 40"/>
          <p:cNvSpPr txBox="1"/>
          <p:nvPr/>
        </p:nvSpPr>
        <p:spPr>
          <a:xfrm>
            <a:off x="6869498" y="2487273"/>
            <a:ext cx="695393" cy="165310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ctr"/>
            <a:r>
              <a:rPr sz="876" b="0">
                <a:solidFill>
                  <a:srgbClr val="27374D"/>
                </a:solidFill>
                <a:latin typeface="Aptos"/>
              </a:rPr>
              <a:t>0.971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595125" y="2403639"/>
            <a:ext cx="755862" cy="347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43" name="TextBox 42"/>
          <p:cNvSpPr txBox="1"/>
          <p:nvPr/>
        </p:nvSpPr>
        <p:spPr>
          <a:xfrm>
            <a:off x="7625360" y="2487273"/>
            <a:ext cx="695393" cy="165310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ctr"/>
            <a:r>
              <a:rPr sz="876" b="0">
                <a:solidFill>
                  <a:srgbClr val="27374D"/>
                </a:solidFill>
                <a:latin typeface="Aptos"/>
              </a:rPr>
              <a:t>1.000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350987" y="2403639"/>
            <a:ext cx="755862" cy="347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45" name="TextBox 44"/>
          <p:cNvSpPr txBox="1"/>
          <p:nvPr/>
        </p:nvSpPr>
        <p:spPr>
          <a:xfrm>
            <a:off x="8381222" y="2487273"/>
            <a:ext cx="695393" cy="165310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ctr"/>
            <a:r>
              <a:rPr sz="876" b="0">
                <a:solidFill>
                  <a:srgbClr val="27374D"/>
                </a:solidFill>
                <a:latin typeface="Aptos"/>
              </a:rPr>
              <a:t>0.985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321474" y="2796687"/>
            <a:ext cx="1587310" cy="347696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47" name="TextBox 46"/>
          <p:cNvSpPr txBox="1"/>
          <p:nvPr/>
        </p:nvSpPr>
        <p:spPr>
          <a:xfrm>
            <a:off x="1351707" y="2880321"/>
            <a:ext cx="1526841" cy="165310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ctr"/>
            <a:r>
              <a:rPr sz="876" b="0">
                <a:solidFill>
                  <a:srgbClr val="27374D"/>
                </a:solidFill>
                <a:latin typeface="Aptos"/>
              </a:rPr>
              <a:t>Our model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908783" y="2796687"/>
            <a:ext cx="907034" cy="347696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49" name="TextBox 48"/>
          <p:cNvSpPr txBox="1"/>
          <p:nvPr/>
        </p:nvSpPr>
        <p:spPr>
          <a:xfrm>
            <a:off x="2939018" y="2880321"/>
            <a:ext cx="846564" cy="165310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ctr"/>
            <a:r>
              <a:rPr sz="876" b="0">
                <a:solidFill>
                  <a:srgbClr val="27374D"/>
                </a:solidFill>
                <a:latin typeface="Aptos"/>
              </a:rPr>
              <a:t>123,225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815818" y="2796687"/>
            <a:ext cx="1095999" cy="347696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51" name="TextBox 50"/>
          <p:cNvSpPr txBox="1"/>
          <p:nvPr/>
        </p:nvSpPr>
        <p:spPr>
          <a:xfrm>
            <a:off x="3846052" y="2880321"/>
            <a:ext cx="1035530" cy="165310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ctr"/>
            <a:r>
              <a:rPr sz="876" b="0">
                <a:solidFill>
                  <a:srgbClr val="27374D"/>
                </a:solidFill>
                <a:latin typeface="Aptos"/>
              </a:rPr>
              <a:t>106.847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911817" y="2796687"/>
            <a:ext cx="1171586" cy="347696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53" name="TextBox 52"/>
          <p:cNvSpPr txBox="1"/>
          <p:nvPr/>
        </p:nvSpPr>
        <p:spPr>
          <a:xfrm>
            <a:off x="4942051" y="2880321"/>
            <a:ext cx="1111117" cy="165310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ctr"/>
            <a:r>
              <a:rPr sz="876" b="0">
                <a:solidFill>
                  <a:srgbClr val="27374D"/>
                </a:solidFill>
                <a:latin typeface="Aptos"/>
              </a:rPr>
              <a:t>2.376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083402" y="2796687"/>
            <a:ext cx="755862" cy="347696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55" name="TextBox 54"/>
          <p:cNvSpPr txBox="1"/>
          <p:nvPr/>
        </p:nvSpPr>
        <p:spPr>
          <a:xfrm>
            <a:off x="6113637" y="2880321"/>
            <a:ext cx="695393" cy="165310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ctr"/>
            <a:r>
              <a:rPr sz="876" b="1">
                <a:solidFill>
                  <a:srgbClr val="163054"/>
                </a:solidFill>
                <a:latin typeface="Aptos"/>
              </a:rPr>
              <a:t>0.990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839264" y="2796687"/>
            <a:ext cx="755862" cy="347696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57" name="TextBox 56"/>
          <p:cNvSpPr txBox="1"/>
          <p:nvPr/>
        </p:nvSpPr>
        <p:spPr>
          <a:xfrm>
            <a:off x="6869498" y="2880321"/>
            <a:ext cx="695393" cy="165310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ctr"/>
            <a:r>
              <a:rPr sz="876" b="1">
                <a:solidFill>
                  <a:srgbClr val="163054"/>
                </a:solidFill>
                <a:latin typeface="Aptos"/>
              </a:rPr>
              <a:t>0.980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595125" y="2796687"/>
            <a:ext cx="755862" cy="347696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59" name="TextBox 58"/>
          <p:cNvSpPr txBox="1"/>
          <p:nvPr/>
        </p:nvSpPr>
        <p:spPr>
          <a:xfrm>
            <a:off x="7625360" y="2880321"/>
            <a:ext cx="695393" cy="165310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ctr"/>
            <a:r>
              <a:rPr sz="876" b="0">
                <a:solidFill>
                  <a:srgbClr val="27374D"/>
                </a:solidFill>
                <a:latin typeface="Aptos"/>
              </a:rPr>
              <a:t>1.000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350987" y="2796687"/>
            <a:ext cx="755862" cy="347696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61" name="TextBox 60"/>
          <p:cNvSpPr txBox="1"/>
          <p:nvPr/>
        </p:nvSpPr>
        <p:spPr>
          <a:xfrm>
            <a:off x="8381222" y="2880321"/>
            <a:ext cx="695393" cy="165310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ctr"/>
            <a:r>
              <a:rPr sz="876" b="1">
                <a:solidFill>
                  <a:srgbClr val="163054"/>
                </a:solidFill>
                <a:latin typeface="Aptos"/>
              </a:rPr>
              <a:t>0.990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321474" y="3310674"/>
            <a:ext cx="4308412" cy="162510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63" name="Rounded Rectangle 62"/>
          <p:cNvSpPr/>
          <p:nvPr/>
        </p:nvSpPr>
        <p:spPr>
          <a:xfrm>
            <a:off x="1419736" y="3401377"/>
            <a:ext cx="4111887" cy="317462"/>
          </a:xfrm>
          <a:prstGeom prst="roundRect">
            <a:avLst/>
          </a:prstGeom>
          <a:solidFill>
            <a:srgbClr val="EBE4FA"/>
          </a:solidFill>
          <a:ln w="12700">
            <a:solidFill>
              <a:srgbClr val="EBE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64" name="Oval 63"/>
          <p:cNvSpPr/>
          <p:nvPr/>
        </p:nvSpPr>
        <p:spPr>
          <a:xfrm>
            <a:off x="1480204" y="3458067"/>
            <a:ext cx="181407" cy="181407"/>
          </a:xfrm>
          <a:prstGeom prst="ellipse">
            <a:avLst/>
          </a:prstGeom>
          <a:solidFill>
            <a:srgbClr val="895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65" name="TextBox 64"/>
          <p:cNvSpPr txBox="1"/>
          <p:nvPr/>
        </p:nvSpPr>
        <p:spPr>
          <a:xfrm>
            <a:off x="1706963" y="3425939"/>
            <a:ext cx="3749074" cy="253219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l"/>
            <a:r>
              <a:rPr sz="1447" b="1">
                <a:solidFill>
                  <a:srgbClr val="163054"/>
                </a:solidFill>
                <a:latin typeface="Aptos"/>
              </a:rPr>
              <a:t>Baseline confusion matrix</a:t>
            </a:r>
          </a:p>
        </p:txBody>
      </p:sp>
      <p:pic>
        <p:nvPicPr>
          <p:cNvPr id="66" name="Picture 65" descr="q4_cm_bas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8431" y="3779308"/>
            <a:ext cx="2579378" cy="944827"/>
          </a:xfrm>
          <a:prstGeom prst="rect">
            <a:avLst/>
          </a:prstGeom>
        </p:spPr>
      </p:pic>
      <p:sp>
        <p:nvSpPr>
          <p:cNvPr id="67" name="Rounded Rectangle 66"/>
          <p:cNvSpPr/>
          <p:nvPr/>
        </p:nvSpPr>
        <p:spPr>
          <a:xfrm>
            <a:off x="5758382" y="3310674"/>
            <a:ext cx="5109625" cy="162510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68" name="Rounded Rectangle 67"/>
          <p:cNvSpPr/>
          <p:nvPr/>
        </p:nvSpPr>
        <p:spPr>
          <a:xfrm>
            <a:off x="5856644" y="3401377"/>
            <a:ext cx="4913101" cy="317462"/>
          </a:xfrm>
          <a:prstGeom prst="roundRect">
            <a:avLst/>
          </a:prstGeom>
          <a:solidFill>
            <a:srgbClr val="FCE2EB"/>
          </a:solidFill>
          <a:ln w="12700">
            <a:solidFill>
              <a:srgbClr val="F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69" name="Oval 68"/>
          <p:cNvSpPr/>
          <p:nvPr/>
        </p:nvSpPr>
        <p:spPr>
          <a:xfrm>
            <a:off x="5917113" y="3458067"/>
            <a:ext cx="181407" cy="181407"/>
          </a:xfrm>
          <a:prstGeom prst="ellipse">
            <a:avLst/>
          </a:prstGeom>
          <a:solidFill>
            <a:srgbClr val="EB4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70" name="TextBox 69"/>
          <p:cNvSpPr txBox="1"/>
          <p:nvPr/>
        </p:nvSpPr>
        <p:spPr>
          <a:xfrm>
            <a:off x="6143871" y="3425939"/>
            <a:ext cx="4550287" cy="253219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l"/>
            <a:r>
              <a:rPr sz="1447" b="1">
                <a:solidFill>
                  <a:srgbClr val="163054"/>
                </a:solidFill>
                <a:latin typeface="Aptos"/>
              </a:rPr>
              <a:t>Loss curves – baseline vs our model</a:t>
            </a:r>
          </a:p>
        </p:txBody>
      </p:sp>
      <p:pic>
        <p:nvPicPr>
          <p:cNvPr id="71" name="Picture 70" descr="q4_loss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9065" y="3733956"/>
            <a:ext cx="1525580" cy="1111117"/>
          </a:xfrm>
          <a:prstGeom prst="rect">
            <a:avLst/>
          </a:prstGeom>
        </p:spPr>
      </p:pic>
      <p:sp>
        <p:nvSpPr>
          <p:cNvPr id="72" name="Rounded Rectangle 71"/>
          <p:cNvSpPr/>
          <p:nvPr/>
        </p:nvSpPr>
        <p:spPr>
          <a:xfrm>
            <a:off x="1321474" y="5124742"/>
            <a:ext cx="9546533" cy="347696"/>
          </a:xfrm>
          <a:prstGeom prst="roundRect">
            <a:avLst/>
          </a:prstGeom>
          <a:solidFill>
            <a:srgbClr val="DBEAFC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73" name="TextBox 72"/>
          <p:cNvSpPr txBox="1"/>
          <p:nvPr/>
        </p:nvSpPr>
        <p:spPr>
          <a:xfrm>
            <a:off x="1472646" y="5187489"/>
            <a:ext cx="944827" cy="176851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l"/>
            <a:r>
              <a:rPr sz="951" b="1">
                <a:solidFill>
                  <a:srgbClr val="163054"/>
                </a:solidFill>
                <a:latin typeface="Aptos"/>
              </a:rPr>
              <a:t>Key takeaway: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357004" y="5178683"/>
            <a:ext cx="8276685" cy="171786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l"/>
            <a:r>
              <a:rPr sz="918" b="0">
                <a:solidFill>
                  <a:srgbClr val="27374D"/>
                </a:solidFill>
                <a:latin typeface="Aptos"/>
              </a:rPr>
              <a:t>Our model improved accuracy, precision and F1 slightly while keeping perfect fault recall, but it used far more parameters and was slower.</a:t>
            </a:r>
          </a:p>
        </p:txBody>
      </p:sp>
    </p:spTree>
    <p:extLst>
      <p:ext uri="{BB962C8B-B14F-4D97-AF65-F5344CB8AC3E}">
        <p14:creationId xmlns:p14="http://schemas.microsoft.com/office/powerpoint/2010/main" val="35389386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97060" y="139253"/>
            <a:ext cx="9372685" cy="386652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ctr"/>
            <a:r>
              <a:rPr sz="2314" b="1">
                <a:solidFill>
                  <a:srgbClr val="163054"/>
                </a:solidFill>
                <a:latin typeface="Aptos"/>
              </a:rPr>
              <a:t>Q5(a)  CIFAR-10 Classification – Model Fusion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86025" y="599408"/>
            <a:ext cx="8994754" cy="176851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ctr"/>
            <a:r>
              <a:rPr sz="951" b="0">
                <a:solidFill>
                  <a:srgbClr val="576578"/>
                </a:solidFill>
                <a:latin typeface="Aptos"/>
              </a:rPr>
              <a:t>Feature fusion using two frozen ImageNet-pretrained CNNs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21474" y="846565"/>
            <a:ext cx="9546533" cy="483751"/>
          </a:xfrm>
          <a:prstGeom prst="roundRect">
            <a:avLst/>
          </a:prstGeom>
          <a:solidFill>
            <a:srgbClr val="DBEAFC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5" name="TextBox 4"/>
          <p:cNvSpPr txBox="1"/>
          <p:nvPr/>
        </p:nvSpPr>
        <p:spPr>
          <a:xfrm>
            <a:off x="1472646" y="914875"/>
            <a:ext cx="907034" cy="195959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l"/>
            <a:r>
              <a:rPr sz="1075" b="1">
                <a:solidFill>
                  <a:srgbClr val="163054"/>
                </a:solidFill>
                <a:latin typeface="Aptos"/>
              </a:rPr>
              <a:t>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02356" y="937551"/>
            <a:ext cx="8201099" cy="195959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l"/>
            <a:r>
              <a:rPr sz="1075" b="0">
                <a:solidFill>
                  <a:srgbClr val="27374D"/>
                </a:solidFill>
                <a:latin typeface="Aptos"/>
              </a:rPr>
              <a:t>Classify CIFAR-10 images by combining features from two pretrained models, then train a new classification head.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21474" y="1473930"/>
            <a:ext cx="2834481" cy="3439171"/>
          </a:xfrm>
          <a:prstGeom prst="roundRect">
            <a:avLst/>
          </a:prstGeom>
          <a:solidFill>
            <a:srgbClr val="DEF4EB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8" name="Rounded Rectangle 7"/>
          <p:cNvSpPr/>
          <p:nvPr/>
        </p:nvSpPr>
        <p:spPr>
          <a:xfrm>
            <a:off x="1419736" y="1572192"/>
            <a:ext cx="2637957" cy="317462"/>
          </a:xfrm>
          <a:prstGeom prst="roundRect">
            <a:avLst/>
          </a:prstGeom>
          <a:solidFill>
            <a:srgbClr val="DEF4EB"/>
          </a:solidFill>
          <a:ln w="12700">
            <a:solidFill>
              <a:srgbClr val="DEF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9" name="Oval 8"/>
          <p:cNvSpPr/>
          <p:nvPr/>
        </p:nvSpPr>
        <p:spPr>
          <a:xfrm>
            <a:off x="1480204" y="1628882"/>
            <a:ext cx="181407" cy="181407"/>
          </a:xfrm>
          <a:prstGeom prst="ellipse">
            <a:avLst/>
          </a:prstGeom>
          <a:solidFill>
            <a:srgbClr val="289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10" name="TextBox 9"/>
          <p:cNvSpPr txBox="1"/>
          <p:nvPr/>
        </p:nvSpPr>
        <p:spPr>
          <a:xfrm>
            <a:off x="1706963" y="1596754"/>
            <a:ext cx="2275144" cy="253219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l"/>
            <a:r>
              <a:rPr sz="1447" b="1">
                <a:solidFill>
                  <a:srgbClr val="163054"/>
                </a:solidFill>
                <a:latin typeface="Aptos"/>
              </a:rPr>
              <a:t>Dataset &amp; setup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95322" y="1950123"/>
            <a:ext cx="2479226" cy="1468094"/>
          </a:xfrm>
          <a:prstGeom prst="rect">
            <a:avLst/>
          </a:prstGeom>
          <a:noFill/>
        </p:spPr>
        <p:txBody>
          <a:bodyPr wrap="square" lIns="22676" rIns="22676">
            <a:spAutoFit/>
          </a:bodyPr>
          <a:lstStyle/>
          <a:p>
            <a:pPr>
              <a:spcAft>
                <a:spcPts val="413"/>
              </a:spcAft>
              <a:defRPr sz="1150">
                <a:solidFill>
                  <a:srgbClr val="27374D"/>
                </a:solidFill>
                <a:latin typeface="Aptos"/>
              </a:defRPr>
            </a:pPr>
            <a:r>
              <a:rPr sz="951"/>
              <a:t>• CIFAR-10: 10 image classes, 32 × 32 × 3 RGB.</a:t>
            </a:r>
          </a:p>
          <a:p>
            <a:pPr>
              <a:spcAft>
                <a:spcPts val="413"/>
              </a:spcAft>
              <a:defRPr sz="1150">
                <a:solidFill>
                  <a:srgbClr val="27374D"/>
                </a:solidFill>
                <a:latin typeface="Aptos"/>
              </a:defRPr>
            </a:pPr>
            <a:r>
              <a:rPr sz="951"/>
              <a:t>• Random CPU-friendly subset: 10,000 training images and 2,000 test images.</a:t>
            </a:r>
          </a:p>
          <a:p>
            <a:pPr>
              <a:spcAft>
                <a:spcPts val="413"/>
              </a:spcAft>
              <a:defRPr sz="1150">
                <a:solidFill>
                  <a:srgbClr val="27374D"/>
                </a:solidFill>
                <a:latin typeface="Aptos"/>
              </a:defRPr>
            </a:pPr>
            <a:r>
              <a:rPr sz="951"/>
              <a:t>• 20% of the training subset is used for validation.</a:t>
            </a:r>
          </a:p>
          <a:p>
            <a:pPr>
              <a:spcAft>
                <a:spcPts val="413"/>
              </a:spcAft>
              <a:defRPr sz="1150">
                <a:solidFill>
                  <a:srgbClr val="27374D"/>
                </a:solidFill>
                <a:latin typeface="Aptos"/>
              </a:defRPr>
            </a:pPr>
            <a:r>
              <a:rPr sz="951"/>
              <a:t>• Batch size 32 and 5 epochs per model.</a:t>
            </a:r>
          </a:p>
          <a:p>
            <a:pPr>
              <a:spcAft>
                <a:spcPts val="413"/>
              </a:spcAft>
              <a:defRPr sz="1150">
                <a:solidFill>
                  <a:srgbClr val="27374D"/>
                </a:solidFill>
                <a:latin typeface="Aptos"/>
              </a:defRPr>
            </a:pPr>
            <a:r>
              <a:rPr sz="951"/>
              <a:t>• Each pretrained network uses its own preprocess_input function.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95322" y="3930481"/>
            <a:ext cx="2479226" cy="70295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13" name="TextBox 12"/>
          <p:cNvSpPr txBox="1"/>
          <p:nvPr/>
        </p:nvSpPr>
        <p:spPr>
          <a:xfrm>
            <a:off x="1601143" y="3998998"/>
            <a:ext cx="831448" cy="165310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l"/>
            <a:r>
              <a:rPr sz="876" b="1">
                <a:solidFill>
                  <a:srgbClr val="163054"/>
                </a:solidFill>
                <a:latin typeface="Aptos"/>
              </a:rPr>
              <a:t>Train subset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1143" y="4195135"/>
            <a:ext cx="642482" cy="234111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l"/>
            <a:r>
              <a:rPr sz="1323" b="1">
                <a:solidFill>
                  <a:srgbClr val="28977E"/>
                </a:solidFill>
                <a:latin typeface="Aptos"/>
              </a:rPr>
              <a:t>10,000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29114" y="3998998"/>
            <a:ext cx="793655" cy="165310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l"/>
            <a:r>
              <a:rPr sz="876" b="1">
                <a:solidFill>
                  <a:srgbClr val="163054"/>
                </a:solidFill>
                <a:latin typeface="Aptos"/>
              </a:rPr>
              <a:t>Test subset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29115" y="4195135"/>
            <a:ext cx="642482" cy="234111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l"/>
            <a:r>
              <a:rPr sz="1323" b="1">
                <a:solidFill>
                  <a:srgbClr val="EB4D7E"/>
                </a:solidFill>
                <a:latin typeface="Aptos"/>
              </a:rPr>
              <a:t>2,000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2010" y="1473930"/>
            <a:ext cx="3507198" cy="3439171"/>
          </a:xfrm>
          <a:prstGeom prst="roundRect">
            <a:avLst/>
          </a:prstGeom>
          <a:solidFill>
            <a:srgbClr val="FCE2EB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18" name="Rounded Rectangle 17"/>
          <p:cNvSpPr/>
          <p:nvPr/>
        </p:nvSpPr>
        <p:spPr>
          <a:xfrm>
            <a:off x="4390272" y="1572192"/>
            <a:ext cx="3310674" cy="317462"/>
          </a:xfrm>
          <a:prstGeom prst="roundRect">
            <a:avLst/>
          </a:prstGeom>
          <a:solidFill>
            <a:srgbClr val="FCE2EB"/>
          </a:solidFill>
          <a:ln w="12700">
            <a:solidFill>
              <a:srgbClr val="F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19" name="Oval 18"/>
          <p:cNvSpPr/>
          <p:nvPr/>
        </p:nvSpPr>
        <p:spPr>
          <a:xfrm>
            <a:off x="4450741" y="1628882"/>
            <a:ext cx="181407" cy="181407"/>
          </a:xfrm>
          <a:prstGeom prst="ellipse">
            <a:avLst/>
          </a:prstGeom>
          <a:solidFill>
            <a:srgbClr val="EB4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20" name="TextBox 19"/>
          <p:cNvSpPr txBox="1"/>
          <p:nvPr/>
        </p:nvSpPr>
        <p:spPr>
          <a:xfrm>
            <a:off x="4677499" y="1596754"/>
            <a:ext cx="2947861" cy="253219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l"/>
            <a:r>
              <a:rPr sz="1447" b="1">
                <a:solidFill>
                  <a:srgbClr val="163054"/>
                </a:solidFill>
                <a:latin typeface="Aptos"/>
              </a:rPr>
              <a:t>Model fusion method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8535" y="1950123"/>
            <a:ext cx="3099032" cy="1160061"/>
          </a:xfrm>
          <a:prstGeom prst="rect">
            <a:avLst/>
          </a:prstGeom>
          <a:noFill/>
        </p:spPr>
        <p:txBody>
          <a:bodyPr wrap="square" lIns="22676" rIns="22676">
            <a:spAutoFit/>
          </a:bodyPr>
          <a:lstStyle/>
          <a:p>
            <a:pPr>
              <a:spcAft>
                <a:spcPts val="413"/>
              </a:spcAft>
              <a:defRPr sz="1130">
                <a:solidFill>
                  <a:srgbClr val="27374D"/>
                </a:solidFill>
                <a:latin typeface="Aptos"/>
              </a:defRPr>
            </a:pPr>
            <a:r>
              <a:rPr sz="934"/>
              <a:t>• Frozen MobileNetV2 extracts 1,280 pooled features.</a:t>
            </a:r>
          </a:p>
          <a:p>
            <a:pPr>
              <a:spcAft>
                <a:spcPts val="413"/>
              </a:spcAft>
              <a:defRPr sz="1130">
                <a:solidFill>
                  <a:srgbClr val="27374D"/>
                </a:solidFill>
                <a:latin typeface="Aptos"/>
              </a:defRPr>
            </a:pPr>
            <a:r>
              <a:rPr sz="934"/>
              <a:t>• Frozen ResNet50 extracts 2,048 pooled features.</a:t>
            </a:r>
          </a:p>
          <a:p>
            <a:pPr>
              <a:spcAft>
                <a:spcPts val="413"/>
              </a:spcAft>
              <a:defRPr sz="1130">
                <a:solidFill>
                  <a:srgbClr val="27374D"/>
                </a:solidFill>
                <a:latin typeface="Aptos"/>
              </a:defRPr>
            </a:pPr>
            <a:r>
              <a:rPr sz="934"/>
              <a:t>• The two feature vectors are concatenated → 3,328 fused features.</a:t>
            </a:r>
          </a:p>
          <a:p>
            <a:pPr>
              <a:spcAft>
                <a:spcPts val="413"/>
              </a:spcAft>
              <a:defRPr sz="1130">
                <a:solidFill>
                  <a:srgbClr val="27374D"/>
                </a:solidFill>
                <a:latin typeface="Aptos"/>
              </a:defRPr>
            </a:pPr>
            <a:r>
              <a:rPr sz="934"/>
              <a:t>• Dense 64 → Dense 32 with L2 regularization → Softmax(10).</a:t>
            </a:r>
          </a:p>
          <a:p>
            <a:pPr>
              <a:spcAft>
                <a:spcPts val="413"/>
              </a:spcAft>
              <a:defRPr sz="1130">
                <a:solidFill>
                  <a:srgbClr val="27374D"/>
                </a:solidFill>
                <a:latin typeface="Aptos"/>
              </a:defRPr>
            </a:pPr>
            <a:r>
              <a:rPr sz="934"/>
              <a:t>• Only the new classification head is trained.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8535" y="3990949"/>
            <a:ext cx="3099032" cy="66515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23" name="TextBox 22"/>
          <p:cNvSpPr txBox="1"/>
          <p:nvPr/>
        </p:nvSpPr>
        <p:spPr>
          <a:xfrm>
            <a:off x="4624589" y="4060076"/>
            <a:ext cx="1095999" cy="164092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l"/>
            <a:r>
              <a:rPr sz="868" b="1">
                <a:solidFill>
                  <a:srgbClr val="163054"/>
                </a:solidFill>
                <a:latin typeface="Aptos"/>
              </a:rPr>
              <a:t>Total parameters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96175" y="4028305"/>
            <a:ext cx="1587310" cy="227634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r"/>
            <a:r>
              <a:rPr sz="1281" b="1">
                <a:solidFill>
                  <a:srgbClr val="163054"/>
                </a:solidFill>
                <a:latin typeface="Aptos"/>
              </a:rPr>
              <a:t>26,061,162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24589" y="4324018"/>
            <a:ext cx="2758895" cy="165310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r"/>
            <a:r>
              <a:rPr sz="876" b="0">
                <a:solidFill>
                  <a:srgbClr val="576578"/>
                </a:solidFill>
                <a:latin typeface="Aptos"/>
              </a:rPr>
              <a:t>Trainable: 215,466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35264" y="1473930"/>
            <a:ext cx="2932743" cy="3439171"/>
          </a:xfrm>
          <a:prstGeom prst="roundRect">
            <a:avLst/>
          </a:prstGeom>
          <a:solidFill>
            <a:srgbClr val="EBE4FA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27" name="Rounded Rectangle 26"/>
          <p:cNvSpPr/>
          <p:nvPr/>
        </p:nvSpPr>
        <p:spPr>
          <a:xfrm>
            <a:off x="8033526" y="1572192"/>
            <a:ext cx="2736219" cy="317462"/>
          </a:xfrm>
          <a:prstGeom prst="roundRect">
            <a:avLst/>
          </a:prstGeom>
          <a:solidFill>
            <a:srgbClr val="EBE4FA"/>
          </a:solidFill>
          <a:ln w="12700">
            <a:solidFill>
              <a:srgbClr val="EBE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28" name="Oval 27"/>
          <p:cNvSpPr/>
          <p:nvPr/>
        </p:nvSpPr>
        <p:spPr>
          <a:xfrm>
            <a:off x="8093994" y="1628882"/>
            <a:ext cx="181407" cy="181407"/>
          </a:xfrm>
          <a:prstGeom prst="ellipse">
            <a:avLst/>
          </a:prstGeom>
          <a:solidFill>
            <a:srgbClr val="895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29" name="TextBox 28"/>
          <p:cNvSpPr txBox="1"/>
          <p:nvPr/>
        </p:nvSpPr>
        <p:spPr>
          <a:xfrm>
            <a:off x="8320753" y="1596754"/>
            <a:ext cx="2373406" cy="253219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l"/>
            <a:r>
              <a:rPr sz="1447" b="1">
                <a:solidFill>
                  <a:srgbClr val="163054"/>
                </a:solidFill>
                <a:latin typeface="Aptos"/>
              </a:rPr>
              <a:t>Result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01553" y="1950123"/>
            <a:ext cx="2600164" cy="94482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31" name="TextBox 30"/>
          <p:cNvSpPr txBox="1"/>
          <p:nvPr/>
        </p:nvSpPr>
        <p:spPr>
          <a:xfrm>
            <a:off x="8222491" y="2026808"/>
            <a:ext cx="1020413" cy="164092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l"/>
            <a:r>
              <a:rPr sz="868" b="0">
                <a:solidFill>
                  <a:srgbClr val="27374D"/>
                </a:solidFill>
                <a:latin typeface="Aptos"/>
              </a:rPr>
              <a:t>Training time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95814" y="1977925"/>
            <a:ext cx="1171586" cy="246742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r"/>
            <a:r>
              <a:rPr sz="1405" b="1">
                <a:solidFill>
                  <a:srgbClr val="163054"/>
                </a:solidFill>
                <a:latin typeface="Aptos"/>
              </a:rPr>
              <a:t>142.55 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2491" y="2336711"/>
            <a:ext cx="1209379" cy="164092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l"/>
            <a:r>
              <a:rPr sz="868" b="0">
                <a:solidFill>
                  <a:srgbClr val="27374D"/>
                </a:solidFill>
                <a:latin typeface="Aptos"/>
              </a:rPr>
              <a:t>Final val. accuracy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86518" y="2287828"/>
            <a:ext cx="1080882" cy="246742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r"/>
            <a:r>
              <a:rPr sz="1405" b="1">
                <a:solidFill>
                  <a:srgbClr val="163054"/>
                </a:solidFill>
                <a:latin typeface="Aptos"/>
              </a:rPr>
              <a:t>0.5925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01553" y="3038563"/>
            <a:ext cx="2600164" cy="12471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pic>
        <p:nvPicPr>
          <p:cNvPr id="36" name="Picture 35" descr="q5_cifar_s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7139" y="3416416"/>
            <a:ext cx="2448992" cy="325177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222491" y="4041247"/>
            <a:ext cx="2380964" cy="156398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ctr"/>
            <a:r>
              <a:rPr sz="818" b="0">
                <a:solidFill>
                  <a:srgbClr val="576578"/>
                </a:solidFill>
                <a:latin typeface="Aptos"/>
              </a:rPr>
              <a:t>Example CIFAR-10 images used in the experiment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321474" y="5124742"/>
            <a:ext cx="9546533" cy="347696"/>
          </a:xfrm>
          <a:prstGeom prst="roundRect">
            <a:avLst/>
          </a:prstGeom>
          <a:solidFill>
            <a:srgbClr val="DBEAFC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39" name="TextBox 38"/>
          <p:cNvSpPr txBox="1"/>
          <p:nvPr/>
        </p:nvSpPr>
        <p:spPr>
          <a:xfrm>
            <a:off x="1472646" y="5187489"/>
            <a:ext cx="944827" cy="176851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l"/>
            <a:r>
              <a:rPr sz="951" b="1">
                <a:solidFill>
                  <a:srgbClr val="163054"/>
                </a:solidFill>
                <a:latin typeface="Aptos"/>
              </a:rPr>
              <a:t>Key takeaway: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57004" y="5179357"/>
            <a:ext cx="8276685" cy="170439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l"/>
            <a:r>
              <a:rPr sz="909" b="0" dirty="0">
                <a:solidFill>
                  <a:srgbClr val="27374D"/>
                </a:solidFill>
                <a:latin typeface="Aptos"/>
              </a:rPr>
              <a:t>Feature fusion combines complementary representations from MobileNetV2 and ResNet50, but it is the largest and slowest of the three methods.</a:t>
            </a:r>
          </a:p>
        </p:txBody>
      </p:sp>
    </p:spTree>
    <p:extLst>
      <p:ext uri="{BB962C8B-B14F-4D97-AF65-F5344CB8AC3E}">
        <p14:creationId xmlns:p14="http://schemas.microsoft.com/office/powerpoint/2010/main" val="40028141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97060" y="139253"/>
            <a:ext cx="9372685" cy="386652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ctr"/>
            <a:r>
              <a:rPr sz="2314" b="1">
                <a:solidFill>
                  <a:srgbClr val="163054"/>
                </a:solidFill>
                <a:latin typeface="Aptos"/>
              </a:rPr>
              <a:t>Q5(b–c)  Transfer Learning vs Fine-tuning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86025" y="599408"/>
            <a:ext cx="8994754" cy="176851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ctr"/>
            <a:r>
              <a:rPr sz="951" b="0">
                <a:solidFill>
                  <a:srgbClr val="576578"/>
                </a:solidFill>
                <a:latin typeface="Aptos"/>
              </a:rPr>
              <a:t>Same MobileNetV2 backbone, but different numbers of trainable layers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21474" y="831448"/>
            <a:ext cx="9546533" cy="468634"/>
          </a:xfrm>
          <a:prstGeom prst="roundRect">
            <a:avLst/>
          </a:prstGeom>
          <a:solidFill>
            <a:srgbClr val="DBEAFC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5" name="TextBox 4"/>
          <p:cNvSpPr txBox="1"/>
          <p:nvPr/>
        </p:nvSpPr>
        <p:spPr>
          <a:xfrm>
            <a:off x="1472646" y="899758"/>
            <a:ext cx="907034" cy="195959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l"/>
            <a:r>
              <a:rPr sz="1075" b="1">
                <a:solidFill>
                  <a:srgbClr val="163054"/>
                </a:solidFill>
                <a:latin typeface="Aptos"/>
              </a:rPr>
              <a:t>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02356" y="922434"/>
            <a:ext cx="8201099" cy="195959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l"/>
            <a:r>
              <a:rPr sz="1075" b="0">
                <a:solidFill>
                  <a:srgbClr val="27374D"/>
                </a:solidFill>
                <a:latin typeface="Aptos"/>
              </a:rPr>
              <a:t>Compare a fully frozen pretrained backbone with a partially unfrozen backbone trained at a lower learning rate.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21474" y="1473930"/>
            <a:ext cx="4497377" cy="2857157"/>
          </a:xfrm>
          <a:prstGeom prst="roundRect">
            <a:avLst/>
          </a:prstGeom>
          <a:solidFill>
            <a:srgbClr val="FCE2EB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8" name="Rounded Rectangle 7"/>
          <p:cNvSpPr/>
          <p:nvPr/>
        </p:nvSpPr>
        <p:spPr>
          <a:xfrm>
            <a:off x="1419736" y="1572192"/>
            <a:ext cx="4300853" cy="317462"/>
          </a:xfrm>
          <a:prstGeom prst="roundRect">
            <a:avLst/>
          </a:prstGeom>
          <a:solidFill>
            <a:srgbClr val="FCE2EB"/>
          </a:solidFill>
          <a:ln w="12700">
            <a:solidFill>
              <a:srgbClr val="F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9" name="Oval 8"/>
          <p:cNvSpPr/>
          <p:nvPr/>
        </p:nvSpPr>
        <p:spPr>
          <a:xfrm>
            <a:off x="1480204" y="1628882"/>
            <a:ext cx="181407" cy="181407"/>
          </a:xfrm>
          <a:prstGeom prst="ellipse">
            <a:avLst/>
          </a:prstGeom>
          <a:solidFill>
            <a:srgbClr val="EB4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10" name="TextBox 9"/>
          <p:cNvSpPr txBox="1"/>
          <p:nvPr/>
        </p:nvSpPr>
        <p:spPr>
          <a:xfrm>
            <a:off x="1706963" y="1596754"/>
            <a:ext cx="3938039" cy="253219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l"/>
            <a:r>
              <a:rPr sz="1447" b="1">
                <a:solidFill>
                  <a:srgbClr val="163054"/>
                </a:solidFill>
                <a:latin typeface="Aptos"/>
              </a:rPr>
              <a:t>Q5(b) Transfer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5556" y="1965240"/>
            <a:ext cx="4066536" cy="1424364"/>
          </a:xfrm>
          <a:prstGeom prst="rect">
            <a:avLst/>
          </a:prstGeom>
          <a:noFill/>
        </p:spPr>
        <p:txBody>
          <a:bodyPr wrap="square" lIns="22676" rIns="22676">
            <a:spAutoFit/>
          </a:bodyPr>
          <a:lstStyle/>
          <a:p>
            <a:pPr>
              <a:spcAft>
                <a:spcPts val="413"/>
              </a:spcAft>
              <a:defRPr sz="1150">
                <a:solidFill>
                  <a:srgbClr val="27374D"/>
                </a:solidFill>
                <a:latin typeface="Aptos"/>
              </a:defRPr>
            </a:pPr>
            <a:r>
              <a:rPr sz="951" dirty="0"/>
              <a:t>• MobileNetV2 pretrained on ImageNet.</a:t>
            </a:r>
          </a:p>
          <a:p>
            <a:pPr>
              <a:spcAft>
                <a:spcPts val="413"/>
              </a:spcAft>
              <a:defRPr sz="1150">
                <a:solidFill>
                  <a:srgbClr val="27374D"/>
                </a:solidFill>
                <a:latin typeface="Aptos"/>
              </a:defRPr>
            </a:pPr>
            <a:r>
              <a:rPr sz="951" dirty="0"/>
              <a:t>• All backbone layers frozen.</a:t>
            </a:r>
          </a:p>
          <a:p>
            <a:pPr>
              <a:spcAft>
                <a:spcPts val="413"/>
              </a:spcAft>
              <a:defRPr sz="1150">
                <a:solidFill>
                  <a:srgbClr val="27374D"/>
                </a:solidFill>
                <a:latin typeface="Aptos"/>
              </a:defRPr>
            </a:pPr>
            <a:r>
              <a:rPr sz="951" dirty="0"/>
              <a:t>• GlobalAveragePooling2D → Dense 64 → Dense 32 → </a:t>
            </a:r>
            <a:r>
              <a:rPr sz="951" dirty="0" err="1"/>
              <a:t>Softmax</a:t>
            </a:r>
            <a:r>
              <a:rPr sz="951" dirty="0"/>
              <a:t>(10).</a:t>
            </a:r>
          </a:p>
          <a:p>
            <a:pPr>
              <a:spcAft>
                <a:spcPts val="413"/>
              </a:spcAft>
              <a:defRPr sz="1150">
                <a:solidFill>
                  <a:srgbClr val="27374D"/>
                </a:solidFill>
                <a:latin typeface="Aptos"/>
              </a:defRPr>
            </a:pPr>
            <a:r>
              <a:rPr sz="951" dirty="0"/>
              <a:t>• Only the new head is trained.</a:t>
            </a:r>
          </a:p>
          <a:p>
            <a:pPr>
              <a:spcAft>
                <a:spcPts val="413"/>
              </a:spcAft>
              <a:defRPr sz="1150">
                <a:solidFill>
                  <a:srgbClr val="27374D"/>
                </a:solidFill>
                <a:latin typeface="Aptos"/>
              </a:defRPr>
            </a:pPr>
            <a:r>
              <a:rPr sz="951" dirty="0"/>
              <a:t>• 84,394 trainable parameters.</a:t>
            </a:r>
          </a:p>
          <a:p>
            <a:pPr>
              <a:spcAft>
                <a:spcPts val="413"/>
              </a:spcAft>
              <a:defRPr sz="1150">
                <a:solidFill>
                  <a:srgbClr val="27374D"/>
                </a:solidFill>
                <a:latin typeface="Aptos"/>
              </a:defRPr>
            </a:pPr>
            <a:r>
              <a:rPr sz="951" dirty="0"/>
              <a:t>• Training time: 42.84 s.</a:t>
            </a:r>
            <a:endParaRPr lang="nb-NO" sz="951" dirty="0"/>
          </a:p>
          <a:p>
            <a:pPr>
              <a:spcAft>
                <a:spcPts val="413"/>
              </a:spcAft>
              <a:defRPr sz="1150">
                <a:solidFill>
                  <a:srgbClr val="27374D"/>
                </a:solidFill>
                <a:latin typeface="Aptos"/>
              </a:defRPr>
            </a:pPr>
            <a:r>
              <a:rPr lang="nb-NO" sz="951" dirty="0" err="1"/>
              <a:t>We</a:t>
            </a:r>
            <a:r>
              <a:rPr lang="nb-NO" sz="951" dirty="0"/>
              <a:t> </a:t>
            </a:r>
            <a:r>
              <a:rPr lang="nb-NO" sz="951" dirty="0" err="1"/>
              <a:t>kept</a:t>
            </a:r>
            <a:r>
              <a:rPr lang="nb-NO" sz="951" dirty="0"/>
              <a:t> </a:t>
            </a:r>
            <a:r>
              <a:rPr lang="nb-NO" sz="951" dirty="0" err="1"/>
              <a:t>everything</a:t>
            </a:r>
            <a:r>
              <a:rPr lang="nb-NO" sz="951" dirty="0"/>
              <a:t> </a:t>
            </a:r>
            <a:r>
              <a:rPr lang="nb-NO" sz="951" dirty="0" err="1"/>
              <a:t>the</a:t>
            </a:r>
            <a:r>
              <a:rPr lang="nb-NO" sz="951" dirty="0"/>
              <a:t> </a:t>
            </a:r>
            <a:r>
              <a:rPr lang="nb-NO" sz="951" dirty="0" err="1"/>
              <a:t>model</a:t>
            </a:r>
            <a:r>
              <a:rPr lang="nb-NO" sz="951" dirty="0"/>
              <a:t> </a:t>
            </a:r>
            <a:r>
              <a:rPr lang="nb-NO" sz="951" dirty="0" err="1"/>
              <a:t>already</a:t>
            </a:r>
            <a:r>
              <a:rPr lang="nb-NO" sz="951" dirty="0"/>
              <a:t> </a:t>
            </a:r>
            <a:r>
              <a:rPr lang="nb-NO" sz="951" dirty="0" err="1"/>
              <a:t>knew</a:t>
            </a:r>
            <a:r>
              <a:rPr lang="nb-NO" sz="951" dirty="0"/>
              <a:t>, </a:t>
            </a:r>
            <a:r>
              <a:rPr lang="nb-NO" sz="951" dirty="0" err="1"/>
              <a:t>only</a:t>
            </a:r>
            <a:r>
              <a:rPr lang="nb-NO" sz="951" dirty="0"/>
              <a:t> </a:t>
            </a:r>
            <a:r>
              <a:rPr lang="nb-NO" sz="951" dirty="0" err="1"/>
              <a:t>taught</a:t>
            </a:r>
            <a:r>
              <a:rPr lang="nb-NO" sz="951" dirty="0"/>
              <a:t> it </a:t>
            </a:r>
            <a:r>
              <a:rPr lang="nb-NO" sz="951" dirty="0" err="1"/>
              <a:t>the</a:t>
            </a:r>
            <a:r>
              <a:rPr lang="nb-NO" sz="951" dirty="0"/>
              <a:t> </a:t>
            </a:r>
            <a:r>
              <a:rPr lang="nb-NO" sz="951" dirty="0" err="1"/>
              <a:t>new</a:t>
            </a:r>
            <a:r>
              <a:rPr lang="nb-NO" sz="951" dirty="0"/>
              <a:t> </a:t>
            </a:r>
            <a:r>
              <a:rPr lang="nb-NO" sz="951" dirty="0" err="1"/>
              <a:t>classes</a:t>
            </a:r>
            <a:r>
              <a:rPr lang="nb-NO" sz="951" dirty="0"/>
              <a:t>.</a:t>
            </a:r>
            <a:endParaRPr sz="951" dirty="0"/>
          </a:p>
        </p:txBody>
      </p:sp>
      <p:sp>
        <p:nvSpPr>
          <p:cNvPr id="12" name="Rounded Rectangle 11"/>
          <p:cNvSpPr/>
          <p:nvPr/>
        </p:nvSpPr>
        <p:spPr>
          <a:xfrm>
            <a:off x="1525556" y="3779308"/>
            <a:ext cx="4066536" cy="4006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13" name="TextBox 12"/>
          <p:cNvSpPr txBox="1"/>
          <p:nvPr/>
        </p:nvSpPr>
        <p:spPr>
          <a:xfrm>
            <a:off x="1631377" y="3848434"/>
            <a:ext cx="982620" cy="164092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l"/>
            <a:r>
              <a:rPr sz="868" b="0">
                <a:solidFill>
                  <a:srgbClr val="27374D"/>
                </a:solidFill>
                <a:latin typeface="Aptos"/>
              </a:rPr>
              <a:t>Test Accuracy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8646" y="3813425"/>
            <a:ext cx="642482" cy="234111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l"/>
            <a:r>
              <a:rPr sz="1323" b="1">
                <a:solidFill>
                  <a:srgbClr val="EB4D7E"/>
                </a:solidFill>
                <a:latin typeface="Aptos"/>
              </a:rPr>
              <a:t>0.275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62300" y="3848434"/>
            <a:ext cx="264552" cy="164092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l"/>
            <a:r>
              <a:rPr sz="868" b="0">
                <a:solidFill>
                  <a:srgbClr val="27374D"/>
                </a:solidFill>
                <a:latin typeface="Aptos"/>
              </a:rPr>
              <a:t>F1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41969" y="3813425"/>
            <a:ext cx="642482" cy="234111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l"/>
            <a:r>
              <a:rPr sz="1323" b="1">
                <a:solidFill>
                  <a:srgbClr val="EB4D7E"/>
                </a:solidFill>
                <a:latin typeface="Aptos"/>
              </a:rPr>
              <a:t>0.255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183" y="3848434"/>
            <a:ext cx="529103" cy="164092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l"/>
            <a:r>
              <a:rPr sz="868" b="0">
                <a:solidFill>
                  <a:srgbClr val="27374D"/>
                </a:solidFill>
                <a:latin typeface="Aptos"/>
              </a:rPr>
              <a:t>Inference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51348" y="3757481"/>
            <a:ext cx="604689" cy="346000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r"/>
            <a:r>
              <a:rPr sz="1025" b="1">
                <a:solidFill>
                  <a:srgbClr val="163054"/>
                </a:solidFill>
                <a:latin typeface="Aptos"/>
              </a:rPr>
              <a:t>0.962 ms/img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54906" y="1473930"/>
            <a:ext cx="4913101" cy="2857157"/>
          </a:xfrm>
          <a:prstGeom prst="roundRect">
            <a:avLst/>
          </a:prstGeom>
          <a:solidFill>
            <a:srgbClr val="DEF4EB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20" name="Rounded Rectangle 19"/>
          <p:cNvSpPr/>
          <p:nvPr/>
        </p:nvSpPr>
        <p:spPr>
          <a:xfrm>
            <a:off x="6053168" y="1572192"/>
            <a:ext cx="4716577" cy="317462"/>
          </a:xfrm>
          <a:prstGeom prst="roundRect">
            <a:avLst/>
          </a:prstGeom>
          <a:solidFill>
            <a:srgbClr val="DEF4EB"/>
          </a:solidFill>
          <a:ln w="12700">
            <a:solidFill>
              <a:srgbClr val="DEF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21" name="Oval 20"/>
          <p:cNvSpPr/>
          <p:nvPr/>
        </p:nvSpPr>
        <p:spPr>
          <a:xfrm>
            <a:off x="6113637" y="1628882"/>
            <a:ext cx="181407" cy="181407"/>
          </a:xfrm>
          <a:prstGeom prst="ellipse">
            <a:avLst/>
          </a:prstGeom>
          <a:solidFill>
            <a:srgbClr val="289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22" name="TextBox 21"/>
          <p:cNvSpPr txBox="1"/>
          <p:nvPr/>
        </p:nvSpPr>
        <p:spPr>
          <a:xfrm>
            <a:off x="6340395" y="1596754"/>
            <a:ext cx="4353763" cy="253219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l"/>
            <a:r>
              <a:rPr sz="1447" b="1">
                <a:solidFill>
                  <a:srgbClr val="163054"/>
                </a:solidFill>
                <a:latin typeface="Aptos"/>
              </a:rPr>
              <a:t>Q5(c) Fine-tuning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58989" y="1965240"/>
            <a:ext cx="4474701" cy="1424364"/>
          </a:xfrm>
          <a:prstGeom prst="rect">
            <a:avLst/>
          </a:prstGeom>
          <a:noFill/>
        </p:spPr>
        <p:txBody>
          <a:bodyPr wrap="square" lIns="22676" rIns="22676">
            <a:spAutoFit/>
          </a:bodyPr>
          <a:lstStyle/>
          <a:p>
            <a:pPr>
              <a:spcAft>
                <a:spcPts val="413"/>
              </a:spcAft>
              <a:defRPr sz="1150">
                <a:solidFill>
                  <a:srgbClr val="27374D"/>
                </a:solidFill>
                <a:latin typeface="Aptos"/>
              </a:defRPr>
            </a:pPr>
            <a:r>
              <a:rPr sz="951" dirty="0"/>
              <a:t>• Same ImageNet-pretrained MobileNetV2 backbone.</a:t>
            </a:r>
          </a:p>
          <a:p>
            <a:pPr>
              <a:spcAft>
                <a:spcPts val="413"/>
              </a:spcAft>
              <a:defRPr sz="1150">
                <a:solidFill>
                  <a:srgbClr val="27374D"/>
                </a:solidFill>
                <a:latin typeface="Aptos"/>
              </a:defRPr>
            </a:pPr>
            <a:r>
              <a:rPr sz="951" dirty="0"/>
              <a:t>• Earlier layers frozen; last 30 layers unfrozen.</a:t>
            </a:r>
          </a:p>
          <a:p>
            <a:pPr>
              <a:spcAft>
                <a:spcPts val="413"/>
              </a:spcAft>
              <a:defRPr sz="1150">
                <a:solidFill>
                  <a:srgbClr val="27374D"/>
                </a:solidFill>
                <a:latin typeface="Aptos"/>
              </a:defRPr>
            </a:pPr>
            <a:r>
              <a:rPr sz="951" dirty="0"/>
              <a:t>• </a:t>
            </a:r>
            <a:r>
              <a:rPr sz="951" dirty="0" err="1"/>
              <a:t>BatchNorm</a:t>
            </a:r>
            <a:r>
              <a:rPr sz="951" dirty="0"/>
              <a:t> statistics kept fixed during training.</a:t>
            </a:r>
          </a:p>
          <a:p>
            <a:pPr>
              <a:spcAft>
                <a:spcPts val="413"/>
              </a:spcAft>
              <a:defRPr sz="1150">
                <a:solidFill>
                  <a:srgbClr val="27374D"/>
                </a:solidFill>
                <a:latin typeface="Aptos"/>
              </a:defRPr>
            </a:pPr>
            <a:r>
              <a:rPr sz="951" dirty="0"/>
              <a:t>• Lower learning rate: Adam, 0.0001.</a:t>
            </a:r>
          </a:p>
          <a:p>
            <a:pPr>
              <a:spcAft>
                <a:spcPts val="413"/>
              </a:spcAft>
              <a:defRPr sz="1150">
                <a:solidFill>
                  <a:srgbClr val="27374D"/>
                </a:solidFill>
                <a:latin typeface="Aptos"/>
              </a:defRPr>
            </a:pPr>
            <a:r>
              <a:rPr sz="951" dirty="0"/>
              <a:t>• 1,610,794 trainable parameters.</a:t>
            </a:r>
          </a:p>
          <a:p>
            <a:pPr>
              <a:spcAft>
                <a:spcPts val="413"/>
              </a:spcAft>
              <a:defRPr sz="1150">
                <a:solidFill>
                  <a:srgbClr val="27374D"/>
                </a:solidFill>
                <a:latin typeface="Aptos"/>
              </a:defRPr>
            </a:pPr>
            <a:r>
              <a:rPr sz="951" dirty="0"/>
              <a:t>• Training time: 57.24 s</a:t>
            </a:r>
            <a:endParaRPr lang="nb-NO" sz="951" dirty="0"/>
          </a:p>
          <a:p>
            <a:pPr>
              <a:spcAft>
                <a:spcPts val="413"/>
              </a:spcAft>
              <a:defRPr sz="1150">
                <a:solidFill>
                  <a:srgbClr val="27374D"/>
                </a:solidFill>
                <a:latin typeface="Aptos"/>
              </a:defRPr>
            </a:pPr>
            <a:r>
              <a:rPr lang="nb-NO" sz="951" dirty="0" err="1"/>
              <a:t>We</a:t>
            </a:r>
            <a:r>
              <a:rPr lang="nb-NO" sz="951" dirty="0"/>
              <a:t> let </a:t>
            </a:r>
            <a:r>
              <a:rPr lang="nb-NO" sz="951" dirty="0" err="1"/>
              <a:t>the</a:t>
            </a:r>
            <a:r>
              <a:rPr lang="nb-NO" sz="951" dirty="0"/>
              <a:t> </a:t>
            </a:r>
            <a:r>
              <a:rPr lang="nb-NO" sz="951" dirty="0" err="1"/>
              <a:t>model</a:t>
            </a:r>
            <a:r>
              <a:rPr lang="nb-NO" sz="951" dirty="0"/>
              <a:t> </a:t>
            </a:r>
            <a:r>
              <a:rPr lang="nb-NO" sz="951" dirty="0" err="1"/>
              <a:t>adapt</a:t>
            </a:r>
            <a:r>
              <a:rPr lang="nb-NO" sz="951" dirty="0"/>
              <a:t> to </a:t>
            </a:r>
            <a:r>
              <a:rPr lang="nb-NO" sz="951" dirty="0" err="1"/>
              <a:t>our</a:t>
            </a:r>
            <a:r>
              <a:rPr lang="nb-NO" sz="951" dirty="0"/>
              <a:t> </a:t>
            </a:r>
            <a:r>
              <a:rPr lang="nb-NO" sz="951" dirty="0" err="1"/>
              <a:t>pictures</a:t>
            </a:r>
            <a:r>
              <a:rPr lang="nb-NO" sz="951" dirty="0"/>
              <a:t> not just </a:t>
            </a:r>
            <a:r>
              <a:rPr lang="nb-NO" sz="951" dirty="0" err="1"/>
              <a:t>learn</a:t>
            </a:r>
            <a:r>
              <a:rPr lang="nb-NO" sz="951" dirty="0"/>
              <a:t> a </a:t>
            </a:r>
            <a:r>
              <a:rPr lang="nb-NO" sz="951" dirty="0" err="1"/>
              <a:t>new</a:t>
            </a:r>
            <a:r>
              <a:rPr lang="nb-NO" sz="951" dirty="0"/>
              <a:t> </a:t>
            </a:r>
            <a:r>
              <a:rPr lang="nb-NO" sz="951" dirty="0" err="1"/>
              <a:t>decision</a:t>
            </a:r>
            <a:r>
              <a:rPr lang="nb-NO" sz="951" dirty="0"/>
              <a:t> </a:t>
            </a:r>
            <a:r>
              <a:rPr lang="nb-NO" sz="951" dirty="0" err="1"/>
              <a:t>on</a:t>
            </a:r>
            <a:r>
              <a:rPr lang="nb-NO" sz="951" dirty="0"/>
              <a:t> </a:t>
            </a:r>
            <a:r>
              <a:rPr lang="nb-NO" sz="951" dirty="0" err="1"/>
              <a:t>top</a:t>
            </a:r>
            <a:r>
              <a:rPr lang="nb-NO" sz="951" dirty="0"/>
              <a:t>.</a:t>
            </a:r>
            <a:endParaRPr sz="951" dirty="0"/>
          </a:p>
        </p:txBody>
      </p:sp>
      <p:sp>
        <p:nvSpPr>
          <p:cNvPr id="24" name="Rounded Rectangle 23"/>
          <p:cNvSpPr/>
          <p:nvPr/>
        </p:nvSpPr>
        <p:spPr>
          <a:xfrm>
            <a:off x="6158989" y="3779308"/>
            <a:ext cx="4474701" cy="4006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25" name="TextBox 24"/>
          <p:cNvSpPr txBox="1"/>
          <p:nvPr/>
        </p:nvSpPr>
        <p:spPr>
          <a:xfrm>
            <a:off x="6272368" y="3848434"/>
            <a:ext cx="982620" cy="164092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l"/>
            <a:r>
              <a:rPr sz="868" b="0">
                <a:solidFill>
                  <a:srgbClr val="27374D"/>
                </a:solidFill>
                <a:latin typeface="Aptos"/>
              </a:rPr>
              <a:t>Test Accuracy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4754" y="3813425"/>
            <a:ext cx="642482" cy="234111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l"/>
            <a:r>
              <a:rPr sz="1323" b="1">
                <a:solidFill>
                  <a:srgbClr val="28977E"/>
                </a:solidFill>
                <a:latin typeface="Aptos"/>
              </a:rPr>
              <a:t>0.549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80615" y="3848434"/>
            <a:ext cx="264552" cy="164092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l"/>
            <a:r>
              <a:rPr sz="868" b="0">
                <a:solidFill>
                  <a:srgbClr val="27374D"/>
                </a:solidFill>
                <a:latin typeface="Aptos"/>
              </a:rPr>
              <a:t>F1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52725" y="3813425"/>
            <a:ext cx="642482" cy="234111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l"/>
            <a:r>
              <a:rPr sz="1323" b="1">
                <a:solidFill>
                  <a:srgbClr val="28977E"/>
                </a:solidFill>
                <a:latin typeface="Aptos"/>
              </a:rPr>
              <a:t>0.544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61497" y="3848434"/>
            <a:ext cx="529103" cy="164092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l"/>
            <a:r>
              <a:rPr sz="868" b="0">
                <a:solidFill>
                  <a:srgbClr val="27374D"/>
                </a:solidFill>
                <a:latin typeface="Aptos"/>
              </a:rPr>
              <a:t>Inference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84780" y="3836348"/>
            <a:ext cx="944827" cy="188265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r"/>
            <a:r>
              <a:rPr sz="1025" b="1">
                <a:solidFill>
                  <a:srgbClr val="163054"/>
                </a:solidFill>
                <a:latin typeface="Aptos"/>
              </a:rPr>
              <a:t>0.928 ms/img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321474" y="4497377"/>
            <a:ext cx="9546533" cy="513986"/>
          </a:xfrm>
          <a:prstGeom prst="roundRect">
            <a:avLst/>
          </a:prstGeom>
          <a:solidFill>
            <a:srgbClr val="EBE4FA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32" name="TextBox 31"/>
          <p:cNvSpPr txBox="1"/>
          <p:nvPr/>
        </p:nvSpPr>
        <p:spPr>
          <a:xfrm>
            <a:off x="1472646" y="4582800"/>
            <a:ext cx="869241" cy="176851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l"/>
            <a:r>
              <a:rPr sz="951" b="1">
                <a:solidFill>
                  <a:srgbClr val="163054"/>
                </a:solidFill>
                <a:latin typeface="Aptos"/>
              </a:rPr>
              <a:t>Observation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26770" y="4577164"/>
            <a:ext cx="8276685" cy="173004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l"/>
            <a:r>
              <a:rPr sz="926" b="0">
                <a:solidFill>
                  <a:srgbClr val="27374D"/>
                </a:solidFill>
                <a:latin typeface="Aptos"/>
              </a:rPr>
              <a:t>Fine-tuning substantially improved the frozen-backbone result (accuracy 0.549 vs 0.275) while keeping inference time below 1 ms/image.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321474" y="5124742"/>
            <a:ext cx="9546533" cy="347696"/>
          </a:xfrm>
          <a:prstGeom prst="roundRect">
            <a:avLst/>
          </a:prstGeom>
          <a:solidFill>
            <a:srgbClr val="FCE2EB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35" name="TextBox 34"/>
          <p:cNvSpPr txBox="1"/>
          <p:nvPr/>
        </p:nvSpPr>
        <p:spPr>
          <a:xfrm>
            <a:off x="1472646" y="5187489"/>
            <a:ext cx="944827" cy="176851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l"/>
            <a:r>
              <a:rPr sz="951" b="1">
                <a:solidFill>
                  <a:srgbClr val="163054"/>
                </a:solidFill>
                <a:latin typeface="Aptos"/>
              </a:rPr>
              <a:t>Key takeaway: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57004" y="5179357"/>
            <a:ext cx="8276685" cy="170439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l"/>
            <a:r>
              <a:rPr sz="909" b="0">
                <a:solidFill>
                  <a:srgbClr val="27374D"/>
                </a:solidFill>
                <a:latin typeface="Aptos"/>
              </a:rPr>
              <a:t>Allowing part of the pretrained feature extractor to adapt to CIFAR-10 gave much better classification performance than training only a new head.</a:t>
            </a:r>
          </a:p>
        </p:txBody>
      </p:sp>
    </p:spTree>
    <p:extLst>
      <p:ext uri="{BB962C8B-B14F-4D97-AF65-F5344CB8AC3E}">
        <p14:creationId xmlns:p14="http://schemas.microsoft.com/office/powerpoint/2010/main" val="7025945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97060" y="139253"/>
            <a:ext cx="9372685" cy="386652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ctr"/>
            <a:r>
              <a:rPr sz="2314" b="1">
                <a:solidFill>
                  <a:srgbClr val="163054"/>
                </a:solidFill>
                <a:latin typeface="Aptos"/>
              </a:rPr>
              <a:t>Q5(d)  Comparison of the Three Classification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86025" y="599408"/>
            <a:ext cx="8994754" cy="176851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ctr"/>
            <a:r>
              <a:rPr sz="951" b="0" dirty="0">
                <a:solidFill>
                  <a:srgbClr val="576578"/>
                </a:solidFill>
                <a:latin typeface="Aptos"/>
              </a:rPr>
              <a:t>Evaluation on the same 2,000 CIFAR-10 test images using classification KPIs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21474" y="869241"/>
            <a:ext cx="1549516" cy="415724"/>
          </a:xfrm>
          <a:prstGeom prst="roundRect">
            <a:avLst/>
          </a:prstGeom>
          <a:solidFill>
            <a:srgbClr val="DBEAFC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5" name="TextBox 4"/>
          <p:cNvSpPr txBox="1"/>
          <p:nvPr/>
        </p:nvSpPr>
        <p:spPr>
          <a:xfrm>
            <a:off x="1344150" y="989394"/>
            <a:ext cx="1504164" cy="152742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ctr"/>
            <a:r>
              <a:rPr sz="794" b="1">
                <a:solidFill>
                  <a:srgbClr val="163054"/>
                </a:solidFill>
                <a:latin typeface="Aptos"/>
              </a:rPr>
              <a:t>Method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70990" y="869241"/>
            <a:ext cx="1095999" cy="415724"/>
          </a:xfrm>
          <a:prstGeom prst="roundRect">
            <a:avLst/>
          </a:prstGeom>
          <a:solidFill>
            <a:srgbClr val="DBEAFC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7" name="TextBox 6"/>
          <p:cNvSpPr txBox="1"/>
          <p:nvPr/>
        </p:nvSpPr>
        <p:spPr>
          <a:xfrm>
            <a:off x="2893665" y="989394"/>
            <a:ext cx="1050648" cy="152742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ctr"/>
            <a:r>
              <a:rPr sz="794" b="1">
                <a:solidFill>
                  <a:srgbClr val="163054"/>
                </a:solidFill>
                <a:latin typeface="Aptos"/>
              </a:rPr>
              <a:t>Parameters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66989" y="869241"/>
            <a:ext cx="944827" cy="415724"/>
          </a:xfrm>
          <a:prstGeom prst="roundRect">
            <a:avLst/>
          </a:prstGeom>
          <a:solidFill>
            <a:srgbClr val="DBEAFC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9" name="TextBox 8"/>
          <p:cNvSpPr txBox="1"/>
          <p:nvPr/>
        </p:nvSpPr>
        <p:spPr>
          <a:xfrm>
            <a:off x="3989665" y="989394"/>
            <a:ext cx="899475" cy="152742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ctr"/>
            <a:r>
              <a:rPr sz="794" b="1">
                <a:solidFill>
                  <a:srgbClr val="163054"/>
                </a:solidFill>
                <a:latin typeface="Aptos"/>
              </a:rPr>
              <a:t>Trainable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11817" y="869241"/>
            <a:ext cx="1073324" cy="415724"/>
          </a:xfrm>
          <a:prstGeom prst="roundRect">
            <a:avLst/>
          </a:prstGeom>
          <a:solidFill>
            <a:srgbClr val="DBEAFC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11" name="TextBox 10"/>
          <p:cNvSpPr txBox="1"/>
          <p:nvPr/>
        </p:nvSpPr>
        <p:spPr>
          <a:xfrm>
            <a:off x="4934493" y="989394"/>
            <a:ext cx="1027972" cy="152742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ctr"/>
            <a:r>
              <a:rPr sz="794" b="1">
                <a:solidFill>
                  <a:srgbClr val="163054"/>
                </a:solidFill>
                <a:latin typeface="Aptos"/>
              </a:rPr>
              <a:t>Train time (s)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5140" y="869241"/>
            <a:ext cx="982620" cy="415724"/>
          </a:xfrm>
          <a:prstGeom prst="roundRect">
            <a:avLst/>
          </a:prstGeom>
          <a:solidFill>
            <a:srgbClr val="DBEAFC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13" name="TextBox 12"/>
          <p:cNvSpPr txBox="1"/>
          <p:nvPr/>
        </p:nvSpPr>
        <p:spPr>
          <a:xfrm>
            <a:off x="6007816" y="928287"/>
            <a:ext cx="937268" cy="274955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ctr"/>
            <a:r>
              <a:rPr sz="794" b="1">
                <a:solidFill>
                  <a:srgbClr val="163054"/>
                </a:solidFill>
                <a:latin typeface="Aptos"/>
              </a:rPr>
              <a:t>Inference
(ms/img)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67759" y="869241"/>
            <a:ext cx="718069" cy="415724"/>
          </a:xfrm>
          <a:prstGeom prst="roundRect">
            <a:avLst/>
          </a:prstGeom>
          <a:solidFill>
            <a:srgbClr val="FCE2EB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15" name="TextBox 14"/>
          <p:cNvSpPr txBox="1"/>
          <p:nvPr/>
        </p:nvSpPr>
        <p:spPr>
          <a:xfrm>
            <a:off x="6990437" y="928288"/>
            <a:ext cx="672716" cy="274955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ctr"/>
            <a:r>
              <a:rPr sz="794" b="1" dirty="0">
                <a:solidFill>
                  <a:srgbClr val="163054"/>
                </a:solidFill>
                <a:latin typeface="Aptos"/>
              </a:rPr>
              <a:t>Accuracy</a:t>
            </a:r>
            <a:endParaRPr lang="nb-NO" sz="794" b="1" dirty="0">
              <a:solidFill>
                <a:srgbClr val="163054"/>
              </a:solidFill>
              <a:latin typeface="Aptos"/>
            </a:endParaRPr>
          </a:p>
          <a:p>
            <a:pPr algn="ctr"/>
            <a:r>
              <a:rPr lang="nb-NO" sz="794" b="1" dirty="0">
                <a:solidFill>
                  <a:srgbClr val="163054"/>
                </a:solidFill>
                <a:latin typeface="Aptos"/>
              </a:rPr>
              <a:t>(</a:t>
            </a:r>
            <a:r>
              <a:rPr lang="nb-NO" sz="794" b="1" dirty="0" err="1">
                <a:solidFill>
                  <a:srgbClr val="163054"/>
                </a:solidFill>
                <a:latin typeface="Aptos"/>
              </a:rPr>
              <a:t>imgs</a:t>
            </a:r>
            <a:r>
              <a:rPr lang="nb-NO" sz="794" b="1" dirty="0">
                <a:solidFill>
                  <a:srgbClr val="163054"/>
                </a:solidFill>
                <a:latin typeface="Aptos"/>
              </a:rPr>
              <a:t> right)</a:t>
            </a:r>
            <a:endParaRPr sz="794" b="1" dirty="0">
              <a:solidFill>
                <a:srgbClr val="163054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685829" y="869241"/>
            <a:ext cx="718069" cy="415724"/>
          </a:xfrm>
          <a:prstGeom prst="roundRect">
            <a:avLst/>
          </a:prstGeom>
          <a:solidFill>
            <a:srgbClr val="FCE2EB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17" name="TextBox 16"/>
          <p:cNvSpPr txBox="1"/>
          <p:nvPr/>
        </p:nvSpPr>
        <p:spPr>
          <a:xfrm>
            <a:off x="7708505" y="928288"/>
            <a:ext cx="672716" cy="274955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ctr"/>
            <a:r>
              <a:rPr sz="794" b="1" dirty="0">
                <a:solidFill>
                  <a:srgbClr val="163054"/>
                </a:solidFill>
                <a:latin typeface="Aptos"/>
              </a:rPr>
              <a:t>Precision</a:t>
            </a:r>
            <a:endParaRPr lang="nb-NO" sz="794" b="1" dirty="0">
              <a:solidFill>
                <a:srgbClr val="163054"/>
              </a:solidFill>
              <a:latin typeface="Aptos"/>
            </a:endParaRPr>
          </a:p>
          <a:p>
            <a:pPr algn="ctr"/>
            <a:r>
              <a:rPr lang="nb-NO" sz="794" b="1" dirty="0">
                <a:solidFill>
                  <a:srgbClr val="163054"/>
                </a:solidFill>
                <a:latin typeface="Aptos"/>
              </a:rPr>
              <a:t>(</a:t>
            </a:r>
            <a:r>
              <a:rPr lang="nb-NO" sz="794" b="1" dirty="0" err="1">
                <a:solidFill>
                  <a:srgbClr val="163054"/>
                </a:solidFill>
                <a:latin typeface="Aptos"/>
              </a:rPr>
              <a:t>cat</a:t>
            </a:r>
            <a:r>
              <a:rPr lang="nb-NO" sz="794" b="1" dirty="0">
                <a:solidFill>
                  <a:srgbClr val="163054"/>
                </a:solidFill>
                <a:latin typeface="Aptos"/>
              </a:rPr>
              <a:t> = </a:t>
            </a:r>
            <a:r>
              <a:rPr lang="nb-NO" sz="794" b="1" dirty="0" err="1">
                <a:solidFill>
                  <a:srgbClr val="163054"/>
                </a:solidFill>
                <a:latin typeface="Aptos"/>
              </a:rPr>
              <a:t>cat</a:t>
            </a:r>
            <a:r>
              <a:rPr lang="nb-NO" sz="794" b="1" dirty="0">
                <a:solidFill>
                  <a:srgbClr val="163054"/>
                </a:solidFill>
                <a:latin typeface="Aptos"/>
              </a:rPr>
              <a:t>?)</a:t>
            </a:r>
            <a:endParaRPr sz="794" b="1" dirty="0">
              <a:solidFill>
                <a:srgbClr val="163054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403897" y="869241"/>
            <a:ext cx="718069" cy="415724"/>
          </a:xfrm>
          <a:prstGeom prst="roundRect">
            <a:avLst/>
          </a:prstGeom>
          <a:solidFill>
            <a:srgbClr val="FCE2EB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19" name="TextBox 18"/>
          <p:cNvSpPr txBox="1"/>
          <p:nvPr/>
        </p:nvSpPr>
        <p:spPr>
          <a:xfrm>
            <a:off x="8426573" y="867182"/>
            <a:ext cx="672716" cy="397168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ctr"/>
            <a:r>
              <a:rPr sz="794" b="1" dirty="0">
                <a:solidFill>
                  <a:srgbClr val="163054"/>
                </a:solidFill>
                <a:latin typeface="Aptos"/>
              </a:rPr>
              <a:t>Recall</a:t>
            </a:r>
            <a:endParaRPr lang="nb-NO" sz="794" b="1" dirty="0">
              <a:solidFill>
                <a:srgbClr val="163054"/>
              </a:solidFill>
              <a:latin typeface="Aptos"/>
            </a:endParaRPr>
          </a:p>
          <a:p>
            <a:pPr algn="ctr"/>
            <a:r>
              <a:rPr lang="nb-NO" sz="794" b="1" dirty="0">
                <a:solidFill>
                  <a:srgbClr val="163054"/>
                </a:solidFill>
                <a:latin typeface="Aptos"/>
              </a:rPr>
              <a:t>(How </a:t>
            </a:r>
            <a:r>
              <a:rPr lang="nb-NO" sz="794" b="1" dirty="0" err="1">
                <a:solidFill>
                  <a:srgbClr val="163054"/>
                </a:solidFill>
                <a:latin typeface="Aptos"/>
              </a:rPr>
              <a:t>many</a:t>
            </a:r>
            <a:r>
              <a:rPr lang="nb-NO" sz="794" b="1" dirty="0">
                <a:solidFill>
                  <a:srgbClr val="163054"/>
                </a:solidFill>
                <a:latin typeface="Aptos"/>
              </a:rPr>
              <a:t> real </a:t>
            </a:r>
            <a:r>
              <a:rPr lang="nb-NO" sz="794" b="1" dirty="0" err="1">
                <a:solidFill>
                  <a:srgbClr val="163054"/>
                </a:solidFill>
                <a:latin typeface="Aptos"/>
              </a:rPr>
              <a:t>cats</a:t>
            </a:r>
            <a:r>
              <a:rPr lang="nb-NO" sz="794" b="1" dirty="0">
                <a:solidFill>
                  <a:srgbClr val="163054"/>
                </a:solidFill>
                <a:latin typeface="Aptos"/>
              </a:rPr>
              <a:t>)</a:t>
            </a:r>
            <a:endParaRPr sz="794" b="1" dirty="0">
              <a:solidFill>
                <a:srgbClr val="163054"/>
              </a:solidFill>
              <a:latin typeface="Apto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9121965" y="869241"/>
            <a:ext cx="718069" cy="415724"/>
          </a:xfrm>
          <a:prstGeom prst="roundRect">
            <a:avLst/>
          </a:prstGeom>
          <a:solidFill>
            <a:srgbClr val="FCE2EB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21" name="TextBox 20"/>
          <p:cNvSpPr txBox="1"/>
          <p:nvPr/>
        </p:nvSpPr>
        <p:spPr>
          <a:xfrm>
            <a:off x="9144642" y="989394"/>
            <a:ext cx="672716" cy="152742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ctr"/>
            <a:r>
              <a:rPr sz="794" b="1" dirty="0">
                <a:solidFill>
                  <a:srgbClr val="163054"/>
                </a:solidFill>
                <a:latin typeface="Aptos"/>
              </a:rPr>
              <a:t>F1</a:t>
            </a:r>
            <a:endParaRPr lang="nb-NO" sz="794" b="1" dirty="0">
              <a:solidFill>
                <a:srgbClr val="163054"/>
              </a:solidFill>
              <a:latin typeface="Apto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1321474" y="1315198"/>
            <a:ext cx="1549516" cy="31746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23" name="TextBox 22"/>
          <p:cNvSpPr txBox="1"/>
          <p:nvPr/>
        </p:nvSpPr>
        <p:spPr>
          <a:xfrm>
            <a:off x="1344150" y="1388781"/>
            <a:ext cx="1504164" cy="155179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ctr"/>
            <a:r>
              <a:rPr sz="810" b="0">
                <a:solidFill>
                  <a:srgbClr val="27374D"/>
                </a:solidFill>
                <a:latin typeface="Aptos"/>
              </a:rPr>
              <a:t>Model fusion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870990" y="1315198"/>
            <a:ext cx="1095999" cy="31746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25" name="TextBox 24"/>
          <p:cNvSpPr txBox="1"/>
          <p:nvPr/>
        </p:nvSpPr>
        <p:spPr>
          <a:xfrm>
            <a:off x="2893665" y="1388781"/>
            <a:ext cx="1050648" cy="155179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ctr"/>
            <a:r>
              <a:rPr sz="810" b="0">
                <a:solidFill>
                  <a:srgbClr val="27374D"/>
                </a:solidFill>
                <a:latin typeface="Aptos"/>
              </a:rPr>
              <a:t>26,061,162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966989" y="1315198"/>
            <a:ext cx="944827" cy="31746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27" name="TextBox 26"/>
          <p:cNvSpPr txBox="1"/>
          <p:nvPr/>
        </p:nvSpPr>
        <p:spPr>
          <a:xfrm>
            <a:off x="3989665" y="1388781"/>
            <a:ext cx="899475" cy="155179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ctr"/>
            <a:r>
              <a:rPr sz="810" b="0">
                <a:solidFill>
                  <a:srgbClr val="27374D"/>
                </a:solidFill>
                <a:latin typeface="Aptos"/>
              </a:rPr>
              <a:t>215,466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11817" y="1315198"/>
            <a:ext cx="1073324" cy="31746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29" name="TextBox 28"/>
          <p:cNvSpPr txBox="1"/>
          <p:nvPr/>
        </p:nvSpPr>
        <p:spPr>
          <a:xfrm>
            <a:off x="4934493" y="1388781"/>
            <a:ext cx="1027972" cy="155179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ctr"/>
            <a:r>
              <a:rPr sz="810" b="0">
                <a:solidFill>
                  <a:srgbClr val="27374D"/>
                </a:solidFill>
                <a:latin typeface="Aptos"/>
              </a:rPr>
              <a:t>142.553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85140" y="1315198"/>
            <a:ext cx="982620" cy="31746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31" name="TextBox 30"/>
          <p:cNvSpPr txBox="1"/>
          <p:nvPr/>
        </p:nvSpPr>
        <p:spPr>
          <a:xfrm>
            <a:off x="6007816" y="1388781"/>
            <a:ext cx="937268" cy="155179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ctr"/>
            <a:r>
              <a:rPr sz="810" b="0">
                <a:solidFill>
                  <a:srgbClr val="27374D"/>
                </a:solidFill>
                <a:latin typeface="Aptos"/>
              </a:rPr>
              <a:t>3.306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67759" y="1315198"/>
            <a:ext cx="718069" cy="31746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33" name="TextBox 32"/>
          <p:cNvSpPr txBox="1"/>
          <p:nvPr/>
        </p:nvSpPr>
        <p:spPr>
          <a:xfrm>
            <a:off x="6990437" y="1388781"/>
            <a:ext cx="672716" cy="155179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ctr"/>
            <a:r>
              <a:rPr sz="810" b="1">
                <a:solidFill>
                  <a:srgbClr val="163054"/>
                </a:solidFill>
                <a:latin typeface="Aptos"/>
              </a:rPr>
              <a:t>0.582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85829" y="1315198"/>
            <a:ext cx="718069" cy="31746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35" name="TextBox 34"/>
          <p:cNvSpPr txBox="1"/>
          <p:nvPr/>
        </p:nvSpPr>
        <p:spPr>
          <a:xfrm>
            <a:off x="7708505" y="1388781"/>
            <a:ext cx="672716" cy="155179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ctr"/>
            <a:r>
              <a:rPr sz="810" b="1">
                <a:solidFill>
                  <a:srgbClr val="163054"/>
                </a:solidFill>
                <a:latin typeface="Aptos"/>
              </a:rPr>
              <a:t>0.593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403897" y="1315198"/>
            <a:ext cx="718069" cy="31746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37" name="TextBox 36"/>
          <p:cNvSpPr txBox="1"/>
          <p:nvPr/>
        </p:nvSpPr>
        <p:spPr>
          <a:xfrm>
            <a:off x="8426573" y="1388781"/>
            <a:ext cx="672716" cy="155179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ctr"/>
            <a:r>
              <a:rPr sz="810" b="1">
                <a:solidFill>
                  <a:srgbClr val="163054"/>
                </a:solidFill>
                <a:latin typeface="Aptos"/>
              </a:rPr>
              <a:t>0.585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21965" y="1315198"/>
            <a:ext cx="718069" cy="31746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39" name="TextBox 38"/>
          <p:cNvSpPr txBox="1"/>
          <p:nvPr/>
        </p:nvSpPr>
        <p:spPr>
          <a:xfrm>
            <a:off x="9144642" y="1388781"/>
            <a:ext cx="672716" cy="155179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ctr"/>
            <a:r>
              <a:rPr sz="810" b="1">
                <a:solidFill>
                  <a:srgbClr val="163054"/>
                </a:solidFill>
                <a:latin typeface="Aptos"/>
              </a:rPr>
              <a:t>0.584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321474" y="1678012"/>
            <a:ext cx="1549516" cy="317462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41" name="TextBox 40"/>
          <p:cNvSpPr txBox="1"/>
          <p:nvPr/>
        </p:nvSpPr>
        <p:spPr>
          <a:xfrm>
            <a:off x="1344150" y="1751594"/>
            <a:ext cx="1504164" cy="155179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ctr"/>
            <a:r>
              <a:rPr sz="810" b="0">
                <a:solidFill>
                  <a:srgbClr val="27374D"/>
                </a:solidFill>
                <a:latin typeface="Aptos"/>
              </a:rPr>
              <a:t>Transfer learning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870990" y="1678012"/>
            <a:ext cx="1095999" cy="317462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43" name="TextBox 42"/>
          <p:cNvSpPr txBox="1"/>
          <p:nvPr/>
        </p:nvSpPr>
        <p:spPr>
          <a:xfrm>
            <a:off x="2893665" y="1751594"/>
            <a:ext cx="1050648" cy="155179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ctr"/>
            <a:r>
              <a:rPr sz="810" b="0">
                <a:solidFill>
                  <a:srgbClr val="27374D"/>
                </a:solidFill>
                <a:latin typeface="Aptos"/>
              </a:rPr>
              <a:t>2,342,378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966989" y="1678012"/>
            <a:ext cx="944827" cy="317462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45" name="TextBox 44"/>
          <p:cNvSpPr txBox="1"/>
          <p:nvPr/>
        </p:nvSpPr>
        <p:spPr>
          <a:xfrm>
            <a:off x="3989665" y="1751594"/>
            <a:ext cx="899475" cy="155179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ctr"/>
            <a:r>
              <a:rPr sz="810" b="0">
                <a:solidFill>
                  <a:srgbClr val="27374D"/>
                </a:solidFill>
                <a:latin typeface="Aptos"/>
              </a:rPr>
              <a:t>84,394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911817" y="1678012"/>
            <a:ext cx="1073324" cy="317462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47" name="TextBox 46"/>
          <p:cNvSpPr txBox="1"/>
          <p:nvPr/>
        </p:nvSpPr>
        <p:spPr>
          <a:xfrm>
            <a:off x="4934493" y="1751594"/>
            <a:ext cx="1027972" cy="155179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ctr"/>
            <a:r>
              <a:rPr sz="810" b="0">
                <a:solidFill>
                  <a:srgbClr val="27374D"/>
                </a:solidFill>
                <a:latin typeface="Aptos"/>
              </a:rPr>
              <a:t>42.837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985140" y="1678012"/>
            <a:ext cx="982620" cy="317462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49" name="TextBox 48"/>
          <p:cNvSpPr txBox="1"/>
          <p:nvPr/>
        </p:nvSpPr>
        <p:spPr>
          <a:xfrm>
            <a:off x="6007816" y="1751594"/>
            <a:ext cx="937268" cy="155179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ctr"/>
            <a:r>
              <a:rPr sz="810" b="0">
                <a:solidFill>
                  <a:srgbClr val="27374D"/>
                </a:solidFill>
                <a:latin typeface="Aptos"/>
              </a:rPr>
              <a:t>0.962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967759" y="1678012"/>
            <a:ext cx="718069" cy="317462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51" name="TextBox 50"/>
          <p:cNvSpPr txBox="1"/>
          <p:nvPr/>
        </p:nvSpPr>
        <p:spPr>
          <a:xfrm>
            <a:off x="6990437" y="1751594"/>
            <a:ext cx="672716" cy="155179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ctr"/>
            <a:r>
              <a:rPr sz="810" b="0">
                <a:solidFill>
                  <a:srgbClr val="27374D"/>
                </a:solidFill>
                <a:latin typeface="Aptos"/>
              </a:rPr>
              <a:t>0.275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685829" y="1678012"/>
            <a:ext cx="718069" cy="317462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53" name="TextBox 52"/>
          <p:cNvSpPr txBox="1"/>
          <p:nvPr/>
        </p:nvSpPr>
        <p:spPr>
          <a:xfrm>
            <a:off x="7708505" y="1751594"/>
            <a:ext cx="672716" cy="155179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ctr"/>
            <a:r>
              <a:rPr sz="810" b="0">
                <a:solidFill>
                  <a:srgbClr val="27374D"/>
                </a:solidFill>
                <a:latin typeface="Aptos"/>
              </a:rPr>
              <a:t>0.295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403897" y="1678012"/>
            <a:ext cx="718069" cy="317462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55" name="TextBox 54"/>
          <p:cNvSpPr txBox="1"/>
          <p:nvPr/>
        </p:nvSpPr>
        <p:spPr>
          <a:xfrm>
            <a:off x="8426573" y="1751594"/>
            <a:ext cx="672716" cy="155179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ctr"/>
            <a:r>
              <a:rPr sz="810" b="0">
                <a:solidFill>
                  <a:srgbClr val="27374D"/>
                </a:solidFill>
                <a:latin typeface="Aptos"/>
              </a:rPr>
              <a:t>0.275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121965" y="1678012"/>
            <a:ext cx="718069" cy="317462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57" name="TextBox 56"/>
          <p:cNvSpPr txBox="1"/>
          <p:nvPr/>
        </p:nvSpPr>
        <p:spPr>
          <a:xfrm>
            <a:off x="9144642" y="1751594"/>
            <a:ext cx="672716" cy="155179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ctr"/>
            <a:r>
              <a:rPr sz="810" b="0">
                <a:solidFill>
                  <a:srgbClr val="27374D"/>
                </a:solidFill>
                <a:latin typeface="Aptos"/>
              </a:rPr>
              <a:t>0.255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321474" y="2040825"/>
            <a:ext cx="1549516" cy="31746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59" name="TextBox 58"/>
          <p:cNvSpPr txBox="1"/>
          <p:nvPr/>
        </p:nvSpPr>
        <p:spPr>
          <a:xfrm>
            <a:off x="1344150" y="2114409"/>
            <a:ext cx="1504164" cy="155179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ctr"/>
            <a:r>
              <a:rPr sz="810" b="0">
                <a:solidFill>
                  <a:srgbClr val="27374D"/>
                </a:solidFill>
                <a:latin typeface="Aptos"/>
              </a:rPr>
              <a:t>Fine-tuning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870990" y="2040825"/>
            <a:ext cx="1095999" cy="31746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61" name="TextBox 60"/>
          <p:cNvSpPr txBox="1"/>
          <p:nvPr/>
        </p:nvSpPr>
        <p:spPr>
          <a:xfrm>
            <a:off x="2893665" y="2114409"/>
            <a:ext cx="1050648" cy="155179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ctr"/>
            <a:r>
              <a:rPr sz="810" b="0">
                <a:solidFill>
                  <a:srgbClr val="27374D"/>
                </a:solidFill>
                <a:latin typeface="Aptos"/>
              </a:rPr>
              <a:t>2,342,378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966989" y="2040825"/>
            <a:ext cx="944827" cy="31746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63" name="TextBox 62"/>
          <p:cNvSpPr txBox="1"/>
          <p:nvPr/>
        </p:nvSpPr>
        <p:spPr>
          <a:xfrm>
            <a:off x="3989665" y="2114409"/>
            <a:ext cx="899475" cy="155179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ctr"/>
            <a:r>
              <a:rPr sz="810" b="0">
                <a:solidFill>
                  <a:srgbClr val="27374D"/>
                </a:solidFill>
                <a:latin typeface="Aptos"/>
              </a:rPr>
              <a:t>1,610,794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911817" y="2040825"/>
            <a:ext cx="1073324" cy="31746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65" name="TextBox 64"/>
          <p:cNvSpPr txBox="1"/>
          <p:nvPr/>
        </p:nvSpPr>
        <p:spPr>
          <a:xfrm>
            <a:off x="4934493" y="2114409"/>
            <a:ext cx="1027972" cy="155179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ctr"/>
            <a:r>
              <a:rPr sz="810" b="0">
                <a:solidFill>
                  <a:srgbClr val="27374D"/>
                </a:solidFill>
                <a:latin typeface="Aptos"/>
              </a:rPr>
              <a:t>57.242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985140" y="2040825"/>
            <a:ext cx="982620" cy="31746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67" name="TextBox 66"/>
          <p:cNvSpPr txBox="1"/>
          <p:nvPr/>
        </p:nvSpPr>
        <p:spPr>
          <a:xfrm>
            <a:off x="6007816" y="2114409"/>
            <a:ext cx="937268" cy="155179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ctr"/>
            <a:r>
              <a:rPr sz="810" b="0">
                <a:solidFill>
                  <a:srgbClr val="27374D"/>
                </a:solidFill>
                <a:latin typeface="Aptos"/>
              </a:rPr>
              <a:t>0.928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967759" y="2040825"/>
            <a:ext cx="718069" cy="31746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69" name="TextBox 68"/>
          <p:cNvSpPr txBox="1"/>
          <p:nvPr/>
        </p:nvSpPr>
        <p:spPr>
          <a:xfrm>
            <a:off x="6990437" y="2114409"/>
            <a:ext cx="672716" cy="155179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ctr"/>
            <a:r>
              <a:rPr sz="810" b="0">
                <a:solidFill>
                  <a:srgbClr val="27374D"/>
                </a:solidFill>
                <a:latin typeface="Aptos"/>
              </a:rPr>
              <a:t>0.549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685829" y="2040825"/>
            <a:ext cx="718069" cy="31746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71" name="TextBox 70"/>
          <p:cNvSpPr txBox="1"/>
          <p:nvPr/>
        </p:nvSpPr>
        <p:spPr>
          <a:xfrm>
            <a:off x="7708505" y="2114409"/>
            <a:ext cx="672716" cy="155179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ctr"/>
            <a:r>
              <a:rPr sz="810" b="0">
                <a:solidFill>
                  <a:srgbClr val="27374D"/>
                </a:solidFill>
                <a:latin typeface="Aptos"/>
              </a:rPr>
              <a:t>0.551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403897" y="2040825"/>
            <a:ext cx="718069" cy="31746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73" name="TextBox 72"/>
          <p:cNvSpPr txBox="1"/>
          <p:nvPr/>
        </p:nvSpPr>
        <p:spPr>
          <a:xfrm>
            <a:off x="8426573" y="2114409"/>
            <a:ext cx="672716" cy="155179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ctr"/>
            <a:r>
              <a:rPr sz="810" b="0">
                <a:solidFill>
                  <a:srgbClr val="27374D"/>
                </a:solidFill>
                <a:latin typeface="Aptos"/>
              </a:rPr>
              <a:t>0.554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121965" y="2040825"/>
            <a:ext cx="718069" cy="31746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75" name="TextBox 74"/>
          <p:cNvSpPr txBox="1"/>
          <p:nvPr/>
        </p:nvSpPr>
        <p:spPr>
          <a:xfrm>
            <a:off x="9144642" y="2114409"/>
            <a:ext cx="672716" cy="155179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ctr"/>
            <a:r>
              <a:rPr sz="810" b="0">
                <a:solidFill>
                  <a:srgbClr val="27374D"/>
                </a:solidFill>
                <a:latin typeface="Aptos"/>
              </a:rPr>
              <a:t>0.544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1321474" y="2494343"/>
            <a:ext cx="4671225" cy="232805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77" name="Rounded Rectangle 76"/>
          <p:cNvSpPr/>
          <p:nvPr/>
        </p:nvSpPr>
        <p:spPr>
          <a:xfrm>
            <a:off x="1419736" y="2585047"/>
            <a:ext cx="4474701" cy="317462"/>
          </a:xfrm>
          <a:prstGeom prst="roundRect">
            <a:avLst/>
          </a:prstGeom>
          <a:solidFill>
            <a:srgbClr val="DBEAFC"/>
          </a:solidFill>
          <a:ln w="12700">
            <a:solidFill>
              <a:srgbClr val="DBE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78" name="Oval 77"/>
          <p:cNvSpPr/>
          <p:nvPr/>
        </p:nvSpPr>
        <p:spPr>
          <a:xfrm>
            <a:off x="1480204" y="2641736"/>
            <a:ext cx="181407" cy="181407"/>
          </a:xfrm>
          <a:prstGeom prst="ellipse">
            <a:avLst/>
          </a:prstGeom>
          <a:solidFill>
            <a:srgbClr val="437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79" name="TextBox 78"/>
          <p:cNvSpPr txBox="1"/>
          <p:nvPr/>
        </p:nvSpPr>
        <p:spPr>
          <a:xfrm>
            <a:off x="1706963" y="2609609"/>
            <a:ext cx="4111887" cy="253219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l"/>
            <a:r>
              <a:rPr sz="1447" b="1">
                <a:solidFill>
                  <a:srgbClr val="163054"/>
                </a:solidFill>
                <a:latin typeface="Aptos"/>
              </a:rPr>
              <a:t>KPI comparison</a:t>
            </a:r>
          </a:p>
        </p:txBody>
      </p:sp>
      <p:pic>
        <p:nvPicPr>
          <p:cNvPr id="80" name="Picture 79" descr="q5_kpi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1809" y="2947860"/>
            <a:ext cx="3050553" cy="1662896"/>
          </a:xfrm>
          <a:prstGeom prst="rect">
            <a:avLst/>
          </a:prstGeom>
        </p:spPr>
      </p:pic>
      <p:sp>
        <p:nvSpPr>
          <p:cNvPr id="81" name="Rounded Rectangle 80"/>
          <p:cNvSpPr/>
          <p:nvPr/>
        </p:nvSpPr>
        <p:spPr>
          <a:xfrm>
            <a:off x="6136313" y="2494343"/>
            <a:ext cx="4731694" cy="232805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82" name="Rounded Rectangle 81"/>
          <p:cNvSpPr/>
          <p:nvPr/>
        </p:nvSpPr>
        <p:spPr>
          <a:xfrm>
            <a:off x="6234575" y="2585047"/>
            <a:ext cx="4535170" cy="317462"/>
          </a:xfrm>
          <a:prstGeom prst="roundRect">
            <a:avLst/>
          </a:prstGeom>
          <a:solidFill>
            <a:srgbClr val="EBE4FA"/>
          </a:solidFill>
          <a:ln w="12700">
            <a:solidFill>
              <a:srgbClr val="EBE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83" name="Oval 82"/>
          <p:cNvSpPr/>
          <p:nvPr/>
        </p:nvSpPr>
        <p:spPr>
          <a:xfrm>
            <a:off x="6295043" y="2641736"/>
            <a:ext cx="181407" cy="181407"/>
          </a:xfrm>
          <a:prstGeom prst="ellipse">
            <a:avLst/>
          </a:prstGeom>
          <a:solidFill>
            <a:srgbClr val="895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84" name="TextBox 83"/>
          <p:cNvSpPr txBox="1"/>
          <p:nvPr/>
        </p:nvSpPr>
        <p:spPr>
          <a:xfrm>
            <a:off x="6521802" y="2609609"/>
            <a:ext cx="4172356" cy="253219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l"/>
            <a:r>
              <a:rPr sz="1447" b="1">
                <a:solidFill>
                  <a:srgbClr val="163054"/>
                </a:solidFill>
                <a:latin typeface="Aptos"/>
              </a:rPr>
              <a:t>Best method: model fusion</a:t>
            </a:r>
          </a:p>
        </p:txBody>
      </p:sp>
      <p:pic>
        <p:nvPicPr>
          <p:cNvPr id="85" name="Picture 84" descr="q5_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5638" y="2925184"/>
            <a:ext cx="2095248" cy="1662896"/>
          </a:xfrm>
          <a:prstGeom prst="rect">
            <a:avLst/>
          </a:prstGeom>
        </p:spPr>
      </p:pic>
      <p:sp>
        <p:nvSpPr>
          <p:cNvPr id="86" name="Rounded Rectangle 85"/>
          <p:cNvSpPr/>
          <p:nvPr/>
        </p:nvSpPr>
        <p:spPr>
          <a:xfrm>
            <a:off x="1321474" y="4928218"/>
            <a:ext cx="9546533" cy="408165"/>
          </a:xfrm>
          <a:prstGeom prst="roundRect">
            <a:avLst/>
          </a:prstGeom>
          <a:solidFill>
            <a:srgbClr val="DEF4EB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87" name="TextBox 86"/>
          <p:cNvSpPr txBox="1"/>
          <p:nvPr/>
        </p:nvSpPr>
        <p:spPr>
          <a:xfrm>
            <a:off x="1472646" y="5013641"/>
            <a:ext cx="529103" cy="176851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l"/>
            <a:r>
              <a:rPr sz="951" b="1">
                <a:solidFill>
                  <a:srgbClr val="163054"/>
                </a:solidFill>
                <a:latin typeface="Aptos"/>
              </a:rPr>
              <a:t>Result: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979073" y="5009288"/>
            <a:ext cx="8654616" cy="170439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l"/>
            <a:r>
              <a:rPr sz="909" b="0">
                <a:solidFill>
                  <a:srgbClr val="27374D"/>
                </a:solidFill>
                <a:latin typeface="Aptos"/>
              </a:rPr>
              <a:t>Model fusion achieved the best overall test performance (F1 = 0.584), while fine-tuning was close (F1 = 0.544) with far fewer parameters and faster inference.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1321474" y="5351500"/>
            <a:ext cx="9546533" cy="226759"/>
          </a:xfrm>
          <a:prstGeom prst="roundRect">
            <a:avLst/>
          </a:prstGeom>
          <a:solidFill>
            <a:srgbClr val="FCE2EB"/>
          </a:solidFill>
          <a:ln w="12700">
            <a:solidFill>
              <a:srgbClr val="CD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90" name="TextBox 89"/>
          <p:cNvSpPr txBox="1"/>
          <p:nvPr/>
        </p:nvSpPr>
        <p:spPr>
          <a:xfrm>
            <a:off x="1472646" y="5365792"/>
            <a:ext cx="9070340" cy="167939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ctr"/>
            <a:r>
              <a:rPr sz="893" b="1">
                <a:solidFill>
                  <a:srgbClr val="163054"/>
                </a:solidFill>
                <a:latin typeface="Aptos"/>
              </a:rPr>
              <a:t>Trade-off: highest accuracy → Model fusion | best efficiency/performance balance → Fine-tuning</a:t>
            </a:r>
          </a:p>
        </p:txBody>
      </p:sp>
    </p:spTree>
    <p:extLst>
      <p:ext uri="{BB962C8B-B14F-4D97-AF65-F5344CB8AC3E}">
        <p14:creationId xmlns:p14="http://schemas.microsoft.com/office/powerpoint/2010/main" val="27603387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59267" y="134867"/>
            <a:ext cx="9486064" cy="380305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ctr"/>
            <a:r>
              <a:rPr sz="2273" b="1">
                <a:solidFill>
                  <a:srgbClr val="142D4E"/>
                </a:solidFill>
                <a:latin typeface="Aptos"/>
              </a:rPr>
              <a:t>Q6  Autoencoder – Compression and Reconstruction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48232" y="595629"/>
            <a:ext cx="9070340" cy="176851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ctr"/>
            <a:r>
              <a:rPr sz="951" b="0">
                <a:solidFill>
                  <a:srgbClr val="525D6D"/>
                </a:solidFill>
                <a:latin typeface="Aptos"/>
              </a:rPr>
              <a:t>Autoencoder on the fault-classification dataset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21474" y="831448"/>
            <a:ext cx="9546533" cy="468634"/>
          </a:xfrm>
          <a:prstGeom prst="roundRect">
            <a:avLst/>
          </a:prstGeom>
          <a:solidFill>
            <a:srgbClr val="C6D8ED"/>
          </a:solidFill>
          <a:ln w="12700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5" name="TextBox 4"/>
          <p:cNvSpPr txBox="1"/>
          <p:nvPr/>
        </p:nvSpPr>
        <p:spPr>
          <a:xfrm>
            <a:off x="1472646" y="899758"/>
            <a:ext cx="907034" cy="195959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l"/>
            <a:r>
              <a:rPr sz="1075" b="1">
                <a:solidFill>
                  <a:srgbClr val="142D4E"/>
                </a:solidFill>
                <a:latin typeface="Aptos"/>
              </a:rPr>
              <a:t>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02356" y="925671"/>
            <a:ext cx="8201099" cy="189484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l"/>
            <a:r>
              <a:rPr sz="1033" b="0">
                <a:solidFill>
                  <a:srgbClr val="2B3848"/>
                </a:solidFill>
                <a:latin typeface="Aptos"/>
              </a:rPr>
              <a:t>Compress each motor image to a latent representation and reconstruct it, then compare reconstruction quality for Healthy and Faulty classes.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21474" y="1451254"/>
            <a:ext cx="2834481" cy="3439171"/>
          </a:xfrm>
          <a:prstGeom prst="roundRect">
            <a:avLst/>
          </a:prstGeom>
          <a:solidFill>
            <a:srgbClr val="C2DED1"/>
          </a:solidFill>
          <a:ln w="12700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8" name="Rounded Rectangle 7"/>
          <p:cNvSpPr/>
          <p:nvPr/>
        </p:nvSpPr>
        <p:spPr>
          <a:xfrm>
            <a:off x="1419736" y="1549515"/>
            <a:ext cx="2637957" cy="317462"/>
          </a:xfrm>
          <a:prstGeom prst="roundRect">
            <a:avLst/>
          </a:prstGeom>
          <a:solidFill>
            <a:srgbClr val="C2DED1"/>
          </a:solidFill>
          <a:ln w="12700">
            <a:solidFill>
              <a:srgbClr val="C2D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9" name="Oval 8"/>
          <p:cNvSpPr/>
          <p:nvPr/>
        </p:nvSpPr>
        <p:spPr>
          <a:xfrm>
            <a:off x="1480204" y="1606206"/>
            <a:ext cx="181407" cy="181407"/>
          </a:xfrm>
          <a:prstGeom prst="ellipse">
            <a:avLst/>
          </a:prstGeom>
          <a:solidFill>
            <a:srgbClr val="2B8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10" name="TextBox 9"/>
          <p:cNvSpPr txBox="1"/>
          <p:nvPr/>
        </p:nvSpPr>
        <p:spPr>
          <a:xfrm>
            <a:off x="1714522" y="1573537"/>
            <a:ext cx="2297819" cy="246742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l"/>
            <a:r>
              <a:rPr sz="1405" b="1">
                <a:solidFill>
                  <a:srgbClr val="142D4E"/>
                </a:solidFill>
                <a:latin typeface="Aptos"/>
              </a:rPr>
              <a:t>Data preparation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0439" y="1927447"/>
            <a:ext cx="2456550" cy="1160061"/>
          </a:xfrm>
          <a:prstGeom prst="rect">
            <a:avLst/>
          </a:prstGeom>
          <a:noFill/>
        </p:spPr>
        <p:txBody>
          <a:bodyPr wrap="square" lIns="15117" rIns="15117">
            <a:spAutoFit/>
          </a:bodyPr>
          <a:lstStyle/>
          <a:p>
            <a:pPr>
              <a:spcAft>
                <a:spcPts val="413"/>
              </a:spcAft>
              <a:defRPr sz="1130">
                <a:solidFill>
                  <a:srgbClr val="2B3848"/>
                </a:solidFill>
                <a:latin typeface="Aptos"/>
              </a:defRPr>
            </a:pPr>
            <a:r>
              <a:rPr sz="934"/>
              <a:t>• Dataset: fault-classification-class.</a:t>
            </a:r>
          </a:p>
          <a:p>
            <a:pPr>
              <a:spcAft>
                <a:spcPts val="413"/>
              </a:spcAft>
              <a:defRPr sz="1130">
                <a:solidFill>
                  <a:srgbClr val="2B3848"/>
                </a:solidFill>
                <a:latin typeface="Aptos"/>
              </a:defRPr>
            </a:pPr>
            <a:r>
              <a:rPr sz="934"/>
              <a:t>• Classes: Healthy (00_15) and Faulty (10_15).</a:t>
            </a:r>
          </a:p>
          <a:p>
            <a:pPr>
              <a:spcAft>
                <a:spcPts val="413"/>
              </a:spcAft>
              <a:defRPr sz="1130">
                <a:solidFill>
                  <a:srgbClr val="2B3848"/>
                </a:solidFill>
                <a:latin typeface="Aptos"/>
              </a:defRPr>
            </a:pPr>
            <a:r>
              <a:rPr sz="934"/>
              <a:t>• 1,800 training images and 200 test images.</a:t>
            </a:r>
          </a:p>
          <a:p>
            <a:pPr>
              <a:spcAft>
                <a:spcPts val="413"/>
              </a:spcAft>
              <a:defRPr sz="1130">
                <a:solidFill>
                  <a:srgbClr val="2B3848"/>
                </a:solidFill>
                <a:latin typeface="Aptos"/>
              </a:defRPr>
            </a:pPr>
            <a:r>
              <a:rPr sz="934"/>
              <a:t>• RGB image size: 60 × 175 × 3.</a:t>
            </a:r>
          </a:p>
          <a:p>
            <a:pPr>
              <a:spcAft>
                <a:spcPts val="413"/>
              </a:spcAft>
              <a:defRPr sz="1130">
                <a:solidFill>
                  <a:srgbClr val="2B3848"/>
                </a:solidFill>
                <a:latin typeface="Aptos"/>
              </a:defRPr>
            </a:pPr>
            <a:r>
              <a:rPr sz="934"/>
              <a:t>• Each image is scaled to [0, 1] and flattened to 31,500 values.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10439" y="3930480"/>
            <a:ext cx="2456550" cy="71806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13" name="TextBox 12"/>
          <p:cNvSpPr txBox="1"/>
          <p:nvPr/>
        </p:nvSpPr>
        <p:spPr>
          <a:xfrm>
            <a:off x="1646494" y="3999607"/>
            <a:ext cx="1020413" cy="164092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l"/>
            <a:r>
              <a:rPr sz="868" b="1">
                <a:solidFill>
                  <a:srgbClr val="142D4E"/>
                </a:solidFill>
                <a:latin typeface="Aptos"/>
              </a:rPr>
              <a:t>Input dimension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97749" y="3950724"/>
            <a:ext cx="665158" cy="246742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r"/>
            <a:r>
              <a:rPr sz="1405" b="1">
                <a:solidFill>
                  <a:srgbClr val="2B8B75"/>
                </a:solidFill>
                <a:latin typeface="Aptos"/>
              </a:rPr>
              <a:t>31,500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6494" y="4271717"/>
            <a:ext cx="831448" cy="164092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l"/>
            <a:r>
              <a:rPr sz="868" b="1">
                <a:solidFill>
                  <a:srgbClr val="142D4E"/>
                </a:solidFill>
                <a:latin typeface="Aptos"/>
              </a:rPr>
              <a:t>Test 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70990" y="4238671"/>
            <a:ext cx="891917" cy="215067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r"/>
            <a:r>
              <a:rPr sz="1199" b="1">
                <a:solidFill>
                  <a:srgbClr val="142D4E"/>
                </a:solidFill>
                <a:latin typeface="Aptos"/>
              </a:rPr>
              <a:t>200 images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2010" y="1451254"/>
            <a:ext cx="3537433" cy="3439171"/>
          </a:xfrm>
          <a:prstGeom prst="roundRect">
            <a:avLst/>
          </a:prstGeom>
          <a:solidFill>
            <a:srgbClr val="E8C1D0"/>
          </a:solidFill>
          <a:ln w="12700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18" name="Rounded Rectangle 17"/>
          <p:cNvSpPr/>
          <p:nvPr/>
        </p:nvSpPr>
        <p:spPr>
          <a:xfrm>
            <a:off x="4390272" y="1549515"/>
            <a:ext cx="3340909" cy="317462"/>
          </a:xfrm>
          <a:prstGeom prst="roundRect">
            <a:avLst/>
          </a:prstGeom>
          <a:solidFill>
            <a:srgbClr val="E8C1D0"/>
          </a:solidFill>
          <a:ln w="12700">
            <a:solidFill>
              <a:srgbClr val="E8C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19" name="Oval 18"/>
          <p:cNvSpPr/>
          <p:nvPr/>
        </p:nvSpPr>
        <p:spPr>
          <a:xfrm>
            <a:off x="4450741" y="1606206"/>
            <a:ext cx="181407" cy="181407"/>
          </a:xfrm>
          <a:prstGeom prst="ellipse">
            <a:avLst/>
          </a:prstGeom>
          <a:solidFill>
            <a:srgbClr val="D24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20" name="TextBox 19"/>
          <p:cNvSpPr txBox="1"/>
          <p:nvPr/>
        </p:nvSpPr>
        <p:spPr>
          <a:xfrm>
            <a:off x="4685058" y="1573537"/>
            <a:ext cx="3000771" cy="246742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l"/>
            <a:r>
              <a:rPr sz="1405" b="1">
                <a:solidFill>
                  <a:srgbClr val="142D4E"/>
                </a:solidFill>
                <a:latin typeface="Aptos"/>
              </a:rPr>
              <a:t>Autoencoder method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8534" y="1927447"/>
            <a:ext cx="3136826" cy="1207510"/>
          </a:xfrm>
          <a:prstGeom prst="rect">
            <a:avLst/>
          </a:prstGeom>
          <a:noFill/>
        </p:spPr>
        <p:txBody>
          <a:bodyPr wrap="square" lIns="15117" rIns="15117">
            <a:spAutoFit/>
          </a:bodyPr>
          <a:lstStyle/>
          <a:p>
            <a:pPr>
              <a:spcAft>
                <a:spcPts val="413"/>
              </a:spcAft>
              <a:defRPr sz="1125">
                <a:solidFill>
                  <a:srgbClr val="2B3848"/>
                </a:solidFill>
                <a:latin typeface="Aptos"/>
              </a:defRPr>
            </a:pPr>
            <a:r>
              <a:rPr sz="930"/>
              <a:t>• Dense encoder: 31,500 → 32 latent values with ReLU.</a:t>
            </a:r>
          </a:p>
          <a:p>
            <a:pPr>
              <a:spcAft>
                <a:spcPts val="413"/>
              </a:spcAft>
              <a:defRPr sz="1125">
                <a:solidFill>
                  <a:srgbClr val="2B3848"/>
                </a:solidFill>
                <a:latin typeface="Aptos"/>
              </a:defRPr>
            </a:pPr>
            <a:r>
              <a:rPr sz="930"/>
              <a:t>• Dense decoder: 32 → 31,500 values with sigmoid.</a:t>
            </a:r>
          </a:p>
          <a:p>
            <a:pPr>
              <a:spcAft>
                <a:spcPts val="413"/>
              </a:spcAft>
              <a:defRPr sz="1125">
                <a:solidFill>
                  <a:srgbClr val="2B3848"/>
                </a:solidFill>
                <a:latin typeface="Aptos"/>
              </a:defRPr>
            </a:pPr>
            <a:r>
              <a:rPr sz="930"/>
              <a:t>• Latent compression ≈ 31,500 / 32 = 984×.</a:t>
            </a:r>
          </a:p>
          <a:p>
            <a:pPr>
              <a:spcAft>
                <a:spcPts val="413"/>
              </a:spcAft>
              <a:defRPr sz="1125">
                <a:solidFill>
                  <a:srgbClr val="2B3848"/>
                </a:solidFill>
                <a:latin typeface="Aptos"/>
              </a:defRPr>
            </a:pPr>
            <a:r>
              <a:rPr sz="930"/>
              <a:t>• Optimizer: Adam.</a:t>
            </a:r>
          </a:p>
          <a:p>
            <a:pPr>
              <a:spcAft>
                <a:spcPts val="413"/>
              </a:spcAft>
              <a:defRPr sz="1125">
                <a:solidFill>
                  <a:srgbClr val="2B3848"/>
                </a:solidFill>
                <a:latin typeface="Aptos"/>
              </a:defRPr>
            </a:pPr>
            <a:r>
              <a:rPr sz="930"/>
              <a:t>• Loss: binary cross-entropy; MSE also monitored.</a:t>
            </a:r>
          </a:p>
          <a:p>
            <a:pPr>
              <a:spcAft>
                <a:spcPts val="413"/>
              </a:spcAft>
              <a:defRPr sz="1125">
                <a:solidFill>
                  <a:srgbClr val="2B3848"/>
                </a:solidFill>
                <a:latin typeface="Aptos"/>
              </a:defRPr>
            </a:pPr>
            <a:r>
              <a:rPr sz="930"/>
              <a:t>• Training: 50 epochs, batch size 32.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8534" y="3960715"/>
            <a:ext cx="3136826" cy="6802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23" name="TextBox 22"/>
          <p:cNvSpPr txBox="1"/>
          <p:nvPr/>
        </p:nvSpPr>
        <p:spPr>
          <a:xfrm>
            <a:off x="4624589" y="4029841"/>
            <a:ext cx="1095999" cy="164092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l"/>
            <a:r>
              <a:rPr sz="868" b="1">
                <a:solidFill>
                  <a:srgbClr val="142D4E"/>
                </a:solidFill>
                <a:latin typeface="Aptos"/>
              </a:rPr>
              <a:t>Latent dimension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07816" y="3980958"/>
            <a:ext cx="468634" cy="246742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r"/>
            <a:r>
              <a:rPr sz="1405" b="1">
                <a:solidFill>
                  <a:srgbClr val="D24D7C"/>
                </a:solidFill>
                <a:latin typeface="Aptos"/>
              </a:rPr>
              <a:t>32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24589" y="4286834"/>
            <a:ext cx="793655" cy="164092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l"/>
            <a:r>
              <a:rPr sz="868" b="1">
                <a:solidFill>
                  <a:srgbClr val="142D4E"/>
                </a:solidFill>
                <a:latin typeface="Aptos"/>
              </a:rPr>
              <a:t>Parameters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4105" y="4253788"/>
            <a:ext cx="1232055" cy="215067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r"/>
            <a:r>
              <a:rPr sz="1199" b="1">
                <a:solidFill>
                  <a:srgbClr val="142D4E"/>
                </a:solidFill>
                <a:latin typeface="Aptos"/>
              </a:rPr>
              <a:t>2,047,532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73057" y="1451254"/>
            <a:ext cx="2894950" cy="3439171"/>
          </a:xfrm>
          <a:prstGeom prst="roundRect">
            <a:avLst/>
          </a:prstGeom>
          <a:solidFill>
            <a:srgbClr val="D3C7E5"/>
          </a:solidFill>
          <a:ln w="12700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28" name="Rounded Rectangle 27"/>
          <p:cNvSpPr/>
          <p:nvPr/>
        </p:nvSpPr>
        <p:spPr>
          <a:xfrm>
            <a:off x="8071319" y="1549515"/>
            <a:ext cx="2698426" cy="317462"/>
          </a:xfrm>
          <a:prstGeom prst="roundRect">
            <a:avLst/>
          </a:prstGeom>
          <a:solidFill>
            <a:srgbClr val="D3C7E5"/>
          </a:solidFill>
          <a:ln w="12700">
            <a:solidFill>
              <a:srgbClr val="D3C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29" name="Oval 28"/>
          <p:cNvSpPr/>
          <p:nvPr/>
        </p:nvSpPr>
        <p:spPr>
          <a:xfrm>
            <a:off x="8131787" y="1606206"/>
            <a:ext cx="181407" cy="181407"/>
          </a:xfrm>
          <a:prstGeom prst="ellipse">
            <a:avLst/>
          </a:prstGeom>
          <a:solidFill>
            <a:srgbClr val="7D4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30" name="TextBox 29"/>
          <p:cNvSpPr txBox="1"/>
          <p:nvPr/>
        </p:nvSpPr>
        <p:spPr>
          <a:xfrm>
            <a:off x="8366105" y="1573537"/>
            <a:ext cx="2358288" cy="246742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l"/>
            <a:r>
              <a:rPr sz="1405" b="1">
                <a:solidFill>
                  <a:srgbClr val="142D4E"/>
                </a:solidFill>
                <a:latin typeface="Aptos"/>
              </a:rPr>
              <a:t>Training result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54463" y="1935006"/>
            <a:ext cx="2532137" cy="84656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32" name="TextBox 31"/>
          <p:cNvSpPr txBox="1"/>
          <p:nvPr/>
        </p:nvSpPr>
        <p:spPr>
          <a:xfrm>
            <a:off x="8275401" y="2005447"/>
            <a:ext cx="1020413" cy="161463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l"/>
            <a:r>
              <a:rPr sz="851" b="0">
                <a:solidFill>
                  <a:srgbClr val="2B3848"/>
                </a:solidFill>
                <a:latin typeface="Aptos"/>
              </a:rPr>
              <a:t>Final train loss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60366" y="1958390"/>
            <a:ext cx="846565" cy="240459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r"/>
            <a:r>
              <a:rPr sz="1364" b="1">
                <a:solidFill>
                  <a:srgbClr val="142D4E"/>
                </a:solidFill>
                <a:latin typeface="Aptos"/>
              </a:rPr>
              <a:t>0.5014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401" y="2300233"/>
            <a:ext cx="1020413" cy="161463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l"/>
            <a:r>
              <a:rPr sz="851" b="0">
                <a:solidFill>
                  <a:srgbClr val="2B3848"/>
                </a:solidFill>
                <a:latin typeface="Aptos"/>
              </a:rPr>
              <a:t>Final val. loss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60366" y="2253176"/>
            <a:ext cx="846565" cy="240459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r"/>
            <a:r>
              <a:rPr sz="1364" b="1">
                <a:solidFill>
                  <a:srgbClr val="142D4E"/>
                </a:solidFill>
                <a:latin typeface="Aptos"/>
              </a:rPr>
              <a:t>0.5018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54463" y="2947860"/>
            <a:ext cx="2532137" cy="1572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pic>
        <p:nvPicPr>
          <p:cNvPr id="37" name="Picture 36" descr="q6_loss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4255" y="3061239"/>
            <a:ext cx="1832551" cy="1232055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275401" y="4240372"/>
            <a:ext cx="2305378" cy="272134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ctr"/>
            <a:r>
              <a:rPr sz="785" b="0">
                <a:solidFill>
                  <a:srgbClr val="525D6D"/>
                </a:solidFill>
                <a:latin typeface="Aptos"/>
              </a:rPr>
              <a:t>Train and validation loss converge quickly and remain close.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321474" y="5109625"/>
            <a:ext cx="9546533" cy="347696"/>
          </a:xfrm>
          <a:prstGeom prst="roundRect">
            <a:avLst/>
          </a:prstGeom>
          <a:solidFill>
            <a:srgbClr val="ECD9A5"/>
          </a:solidFill>
          <a:ln w="12700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40" name="TextBox 39"/>
          <p:cNvSpPr txBox="1"/>
          <p:nvPr/>
        </p:nvSpPr>
        <p:spPr>
          <a:xfrm>
            <a:off x="1472646" y="5172372"/>
            <a:ext cx="944827" cy="176851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l"/>
            <a:r>
              <a:rPr sz="951" b="1">
                <a:solidFill>
                  <a:srgbClr val="142D4E"/>
                </a:solidFill>
                <a:latin typeface="Aptos"/>
              </a:rPr>
              <a:t>Key takeaway: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41887" y="5164240"/>
            <a:ext cx="8314478" cy="170439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l"/>
            <a:r>
              <a:rPr sz="909" b="0">
                <a:solidFill>
                  <a:srgbClr val="2B3848"/>
                </a:solidFill>
                <a:latin typeface="Aptos"/>
              </a:rPr>
              <a:t>The network compresses each 31,500-value image to only 32 latent values and reconstructs it with similar train/validation behaviour.</a:t>
            </a:r>
          </a:p>
        </p:txBody>
      </p:sp>
    </p:spTree>
    <p:extLst>
      <p:ext uri="{BB962C8B-B14F-4D97-AF65-F5344CB8AC3E}">
        <p14:creationId xmlns:p14="http://schemas.microsoft.com/office/powerpoint/2010/main" val="19030287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59267" y="134867"/>
            <a:ext cx="9486064" cy="380305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ctr"/>
            <a:r>
              <a:rPr sz="2273" b="1">
                <a:solidFill>
                  <a:srgbClr val="142D4E"/>
                </a:solidFill>
                <a:latin typeface="Aptos"/>
              </a:rPr>
              <a:t>Q6(a–c)  Original → Latent Vector → Reconstruction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48232" y="595629"/>
            <a:ext cx="9070340" cy="176851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ctr"/>
            <a:r>
              <a:rPr sz="951" b="0">
                <a:solidFill>
                  <a:srgbClr val="525D6D"/>
                </a:solidFill>
                <a:latin typeface="Aptos"/>
              </a:rPr>
              <a:t>10 random test images are sampled from each class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21474" y="831448"/>
            <a:ext cx="9546533" cy="529103"/>
          </a:xfrm>
          <a:prstGeom prst="roundRect">
            <a:avLst/>
          </a:prstGeom>
          <a:solidFill>
            <a:srgbClr val="C6D8ED"/>
          </a:solidFill>
          <a:ln w="12700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5" name="TextBox 4"/>
          <p:cNvSpPr txBox="1"/>
          <p:nvPr/>
        </p:nvSpPr>
        <p:spPr>
          <a:xfrm>
            <a:off x="1472646" y="899758"/>
            <a:ext cx="695393" cy="195959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l"/>
            <a:r>
              <a:rPr sz="1075" b="1">
                <a:solidFill>
                  <a:srgbClr val="142D4E"/>
                </a:solidFill>
                <a:latin typeface="Aptos"/>
              </a:rPr>
              <a:t>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68039" y="860799"/>
            <a:ext cx="8314478" cy="492194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l"/>
            <a:r>
              <a:rPr sz="1000" b="0" dirty="0">
                <a:solidFill>
                  <a:srgbClr val="2B3848"/>
                </a:solidFill>
                <a:latin typeface="Aptos"/>
              </a:rPr>
              <a:t>For each class: sample 10 images → encode to 32 latent values → decode back to 60 × 175 × 3 → display original, latent representation and reconstruction.</a:t>
            </a:r>
            <a:endParaRPr lang="nb-NO" sz="1000" b="0" dirty="0">
              <a:solidFill>
                <a:srgbClr val="2B3848"/>
              </a:solidFill>
              <a:latin typeface="Aptos"/>
            </a:endParaRPr>
          </a:p>
          <a:p>
            <a:pPr algn="l"/>
            <a:r>
              <a:rPr lang="nb-NO" sz="1000" dirty="0" err="1">
                <a:solidFill>
                  <a:srgbClr val="2B3848"/>
                </a:solidFill>
                <a:latin typeface="Aptos"/>
              </a:rPr>
              <a:t>Squeeze</a:t>
            </a:r>
            <a:r>
              <a:rPr lang="nb-NO" sz="1000" dirty="0">
                <a:solidFill>
                  <a:srgbClr val="2B3848"/>
                </a:solidFill>
                <a:latin typeface="Aptos"/>
              </a:rPr>
              <a:t> </a:t>
            </a:r>
            <a:r>
              <a:rPr lang="nb-NO" sz="1000" dirty="0" err="1">
                <a:solidFill>
                  <a:srgbClr val="2B3848"/>
                </a:solidFill>
                <a:latin typeface="Aptos"/>
              </a:rPr>
              <a:t>down</a:t>
            </a:r>
            <a:r>
              <a:rPr lang="nb-NO" sz="1000" dirty="0">
                <a:solidFill>
                  <a:srgbClr val="2B3848"/>
                </a:solidFill>
                <a:latin typeface="Aptos"/>
              </a:rPr>
              <a:t> an image </a:t>
            </a:r>
            <a:r>
              <a:rPr lang="nb-NO" sz="1000" dirty="0" err="1">
                <a:solidFill>
                  <a:srgbClr val="2B3848"/>
                </a:solidFill>
                <a:latin typeface="Aptos"/>
              </a:rPr>
              <a:t>into</a:t>
            </a:r>
            <a:r>
              <a:rPr lang="nb-NO" sz="1000" dirty="0">
                <a:solidFill>
                  <a:srgbClr val="2B3848"/>
                </a:solidFill>
                <a:latin typeface="Aptos"/>
              </a:rPr>
              <a:t> a </a:t>
            </a:r>
            <a:r>
              <a:rPr lang="nb-NO" sz="1000" dirty="0" err="1">
                <a:solidFill>
                  <a:srgbClr val="2B3848"/>
                </a:solidFill>
                <a:latin typeface="Aptos"/>
              </a:rPr>
              <a:t>few</a:t>
            </a:r>
            <a:r>
              <a:rPr lang="nb-NO" sz="1000" dirty="0">
                <a:solidFill>
                  <a:srgbClr val="2B3848"/>
                </a:solidFill>
                <a:latin typeface="Aptos"/>
              </a:rPr>
              <a:t> </a:t>
            </a:r>
            <a:r>
              <a:rPr lang="nb-NO" sz="1000" dirty="0" err="1">
                <a:solidFill>
                  <a:srgbClr val="2B3848"/>
                </a:solidFill>
                <a:latin typeface="Aptos"/>
              </a:rPr>
              <a:t>numbser</a:t>
            </a:r>
            <a:r>
              <a:rPr lang="nb-NO" sz="1000" dirty="0">
                <a:solidFill>
                  <a:srgbClr val="2B3848"/>
                </a:solidFill>
                <a:latin typeface="Aptos"/>
              </a:rPr>
              <a:t> </a:t>
            </a:r>
            <a:r>
              <a:rPr lang="nb-NO" sz="1000" dirty="0" err="1">
                <a:solidFill>
                  <a:srgbClr val="2B3848"/>
                </a:solidFill>
                <a:latin typeface="Aptos"/>
              </a:rPr>
              <a:t>then</a:t>
            </a:r>
            <a:r>
              <a:rPr lang="nb-NO" sz="1000" dirty="0">
                <a:solidFill>
                  <a:srgbClr val="2B3848"/>
                </a:solidFill>
                <a:latin typeface="Aptos"/>
              </a:rPr>
              <a:t> </a:t>
            </a:r>
            <a:r>
              <a:rPr lang="nb-NO" sz="1000" dirty="0" err="1">
                <a:solidFill>
                  <a:srgbClr val="2B3848"/>
                </a:solidFill>
                <a:latin typeface="Aptos"/>
              </a:rPr>
              <a:t>rebuild</a:t>
            </a:r>
            <a:r>
              <a:rPr lang="nb-NO" sz="1000" dirty="0">
                <a:solidFill>
                  <a:srgbClr val="2B3848"/>
                </a:solidFill>
                <a:latin typeface="Aptos"/>
              </a:rPr>
              <a:t> it. ( </a:t>
            </a:r>
            <a:r>
              <a:rPr lang="nb-NO" sz="1000" dirty="0" err="1">
                <a:solidFill>
                  <a:srgbClr val="2B3848"/>
                </a:solidFill>
                <a:latin typeface="Aptos"/>
              </a:rPr>
              <a:t>how</a:t>
            </a:r>
            <a:r>
              <a:rPr lang="nb-NO" sz="1000" dirty="0">
                <a:solidFill>
                  <a:srgbClr val="2B3848"/>
                </a:solidFill>
                <a:latin typeface="Aptos"/>
              </a:rPr>
              <a:t> </a:t>
            </a:r>
            <a:r>
              <a:rPr lang="nb-NO" sz="1000" dirty="0" err="1">
                <a:solidFill>
                  <a:srgbClr val="2B3848"/>
                </a:solidFill>
                <a:latin typeface="Aptos"/>
              </a:rPr>
              <a:t>well</a:t>
            </a:r>
            <a:r>
              <a:rPr lang="nb-NO" sz="1000" dirty="0">
                <a:solidFill>
                  <a:srgbClr val="2B3848"/>
                </a:solidFill>
                <a:latin typeface="Aptos"/>
              </a:rPr>
              <a:t> </a:t>
            </a:r>
            <a:r>
              <a:rPr lang="nb-NO" sz="1000" dirty="0" err="1">
                <a:solidFill>
                  <a:srgbClr val="2B3848"/>
                </a:solidFill>
                <a:latin typeface="Aptos"/>
              </a:rPr>
              <a:t>can</a:t>
            </a:r>
            <a:r>
              <a:rPr lang="nb-NO" sz="1000" dirty="0">
                <a:solidFill>
                  <a:srgbClr val="2B3848"/>
                </a:solidFill>
                <a:latin typeface="Aptos"/>
              </a:rPr>
              <a:t> </a:t>
            </a:r>
            <a:r>
              <a:rPr lang="nb-NO" sz="1000" dirty="0" err="1">
                <a:solidFill>
                  <a:srgbClr val="2B3848"/>
                </a:solidFill>
                <a:latin typeface="Aptos"/>
              </a:rPr>
              <a:t>our</a:t>
            </a:r>
            <a:r>
              <a:rPr lang="nb-NO" sz="1000" dirty="0">
                <a:solidFill>
                  <a:srgbClr val="2B3848"/>
                </a:solidFill>
                <a:latin typeface="Aptos"/>
              </a:rPr>
              <a:t> </a:t>
            </a:r>
            <a:r>
              <a:rPr lang="nb-NO" sz="1000" dirty="0" err="1">
                <a:solidFill>
                  <a:srgbClr val="2B3848"/>
                </a:solidFill>
                <a:latin typeface="Aptos"/>
              </a:rPr>
              <a:t>model</a:t>
            </a:r>
            <a:r>
              <a:rPr lang="nb-NO" sz="1000" dirty="0">
                <a:solidFill>
                  <a:srgbClr val="2B3848"/>
                </a:solidFill>
                <a:latin typeface="Aptos"/>
              </a:rPr>
              <a:t> «</a:t>
            </a:r>
            <a:r>
              <a:rPr lang="nb-NO" sz="1000" dirty="0" err="1">
                <a:solidFill>
                  <a:srgbClr val="2B3848"/>
                </a:solidFill>
                <a:latin typeface="Aptos"/>
              </a:rPr>
              <a:t>redraw</a:t>
            </a:r>
            <a:r>
              <a:rPr lang="nb-NO" sz="1000" dirty="0">
                <a:solidFill>
                  <a:srgbClr val="2B3848"/>
                </a:solidFill>
                <a:latin typeface="Aptos"/>
              </a:rPr>
              <a:t>» an image.</a:t>
            </a:r>
            <a:endParaRPr sz="1000" b="0" dirty="0">
              <a:solidFill>
                <a:srgbClr val="2B3848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321474" y="1496606"/>
            <a:ext cx="9546533" cy="1647778"/>
          </a:xfrm>
          <a:prstGeom prst="roundRect">
            <a:avLst/>
          </a:prstGeom>
          <a:solidFill>
            <a:srgbClr val="C2DED1"/>
          </a:solidFill>
          <a:ln w="12700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8" name="Rounded Rectangle 7"/>
          <p:cNvSpPr/>
          <p:nvPr/>
        </p:nvSpPr>
        <p:spPr>
          <a:xfrm>
            <a:off x="1419736" y="1572192"/>
            <a:ext cx="9350009" cy="317462"/>
          </a:xfrm>
          <a:prstGeom prst="roundRect">
            <a:avLst/>
          </a:prstGeom>
          <a:solidFill>
            <a:srgbClr val="C2DED1"/>
          </a:solidFill>
          <a:ln w="12700">
            <a:solidFill>
              <a:srgbClr val="C2D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9" name="Oval 8"/>
          <p:cNvSpPr/>
          <p:nvPr/>
        </p:nvSpPr>
        <p:spPr>
          <a:xfrm>
            <a:off x="1480204" y="1628882"/>
            <a:ext cx="181407" cy="181407"/>
          </a:xfrm>
          <a:prstGeom prst="ellipse">
            <a:avLst/>
          </a:prstGeom>
          <a:solidFill>
            <a:srgbClr val="2B8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10" name="TextBox 9"/>
          <p:cNvSpPr txBox="1"/>
          <p:nvPr/>
        </p:nvSpPr>
        <p:spPr>
          <a:xfrm>
            <a:off x="1714522" y="1596214"/>
            <a:ext cx="9009871" cy="246742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l"/>
            <a:r>
              <a:rPr sz="1405" b="1">
                <a:solidFill>
                  <a:srgbClr val="142D4E"/>
                </a:solidFill>
                <a:latin typeface="Aptos"/>
              </a:rPr>
              <a:t>Healthy class (00_15)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72646" y="1942564"/>
            <a:ext cx="9236630" cy="101285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13" name="Rounded Rectangle 12"/>
          <p:cNvSpPr/>
          <p:nvPr/>
        </p:nvSpPr>
        <p:spPr>
          <a:xfrm>
            <a:off x="1321474" y="3287997"/>
            <a:ext cx="9546533" cy="1647778"/>
          </a:xfrm>
          <a:prstGeom prst="roundRect">
            <a:avLst/>
          </a:prstGeom>
          <a:solidFill>
            <a:srgbClr val="E8C1D0"/>
          </a:solidFill>
          <a:ln w="12700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14" name="Rounded Rectangle 13"/>
          <p:cNvSpPr/>
          <p:nvPr/>
        </p:nvSpPr>
        <p:spPr>
          <a:xfrm>
            <a:off x="1419736" y="3363584"/>
            <a:ext cx="9350009" cy="317462"/>
          </a:xfrm>
          <a:prstGeom prst="roundRect">
            <a:avLst/>
          </a:prstGeom>
          <a:solidFill>
            <a:srgbClr val="E8C1D0"/>
          </a:solidFill>
          <a:ln w="12700">
            <a:solidFill>
              <a:srgbClr val="E8C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15" name="Oval 14"/>
          <p:cNvSpPr/>
          <p:nvPr/>
        </p:nvSpPr>
        <p:spPr>
          <a:xfrm>
            <a:off x="1480204" y="3420274"/>
            <a:ext cx="181407" cy="181407"/>
          </a:xfrm>
          <a:prstGeom prst="ellipse">
            <a:avLst/>
          </a:prstGeom>
          <a:solidFill>
            <a:srgbClr val="D24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16" name="TextBox 15"/>
          <p:cNvSpPr txBox="1"/>
          <p:nvPr/>
        </p:nvSpPr>
        <p:spPr>
          <a:xfrm>
            <a:off x="1714522" y="3387606"/>
            <a:ext cx="9009871" cy="246742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l"/>
            <a:r>
              <a:rPr sz="1405" b="1">
                <a:solidFill>
                  <a:srgbClr val="142D4E"/>
                </a:solidFill>
                <a:latin typeface="Aptos"/>
              </a:rPr>
              <a:t>Faulty class (10_15)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72646" y="3733956"/>
            <a:ext cx="9236630" cy="101285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19" name="Rounded Rectangle 18"/>
          <p:cNvSpPr/>
          <p:nvPr/>
        </p:nvSpPr>
        <p:spPr>
          <a:xfrm>
            <a:off x="1321474" y="5109625"/>
            <a:ext cx="9546533" cy="347696"/>
          </a:xfrm>
          <a:prstGeom prst="roundRect">
            <a:avLst/>
          </a:prstGeom>
          <a:solidFill>
            <a:srgbClr val="D3C7E5"/>
          </a:solidFill>
          <a:ln w="12700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20" name="TextBox 19"/>
          <p:cNvSpPr txBox="1"/>
          <p:nvPr/>
        </p:nvSpPr>
        <p:spPr>
          <a:xfrm>
            <a:off x="1472646" y="5172372"/>
            <a:ext cx="846565" cy="176851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l"/>
            <a:r>
              <a:rPr sz="951" b="1">
                <a:solidFill>
                  <a:srgbClr val="142D4E"/>
                </a:solidFill>
                <a:latin typeface="Aptos"/>
              </a:rPr>
              <a:t>Observation: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96536" y="5164240"/>
            <a:ext cx="8314478" cy="170439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l"/>
            <a:r>
              <a:rPr sz="909" b="0">
                <a:solidFill>
                  <a:srgbClr val="2B3848"/>
                </a:solidFill>
                <a:latin typeface="Aptos"/>
              </a:rPr>
              <a:t>The 32-value bottleneck retains the main horizontal/periodic structure, but fine detail is smoothed in the reconstructed images.</a:t>
            </a:r>
          </a:p>
        </p:txBody>
      </p:sp>
      <p:pic>
        <p:nvPicPr>
          <p:cNvPr id="25" name="Bilde 24">
            <a:extLst>
              <a:ext uri="{FF2B5EF4-FFF2-40B4-BE49-F238E27FC236}">
                <a16:creationId xmlns:a16="http://schemas.microsoft.com/office/drawing/2014/main" id="{D13494C4-EA93-C0F5-20A0-0BBA19BED9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738" y="1498866"/>
            <a:ext cx="7294138" cy="1517207"/>
          </a:xfrm>
          <a:prstGeom prst="rect">
            <a:avLst/>
          </a:prstGeom>
        </p:spPr>
      </p:pic>
      <p:pic>
        <p:nvPicPr>
          <p:cNvPr id="27" name="Bilde 26">
            <a:extLst>
              <a:ext uri="{FF2B5EF4-FFF2-40B4-BE49-F238E27FC236}">
                <a16:creationId xmlns:a16="http://schemas.microsoft.com/office/drawing/2014/main" id="{7038D1AF-A50A-0763-05F9-78820DEDAF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6075" y="3297352"/>
            <a:ext cx="7294138" cy="1744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1877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59267" y="134867"/>
            <a:ext cx="9486064" cy="380305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ctr"/>
            <a:r>
              <a:rPr sz="2273" b="1">
                <a:solidFill>
                  <a:srgbClr val="142D4E"/>
                </a:solidFill>
                <a:latin typeface="Aptos"/>
              </a:rPr>
              <a:t>Q6(d)  Reconstruction Error by Class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48232" y="595629"/>
            <a:ext cx="9070340" cy="176851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ctr"/>
            <a:r>
              <a:rPr sz="951" b="0">
                <a:solidFill>
                  <a:srgbClr val="525D6D"/>
                </a:solidFill>
                <a:latin typeface="Aptos"/>
              </a:rPr>
              <a:t>Individual reconstruction error for 10 random images and mean performance for each class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21474" y="831447"/>
            <a:ext cx="2705985" cy="1587310"/>
          </a:xfrm>
          <a:prstGeom prst="roundRect">
            <a:avLst/>
          </a:prstGeom>
          <a:solidFill>
            <a:srgbClr val="C6D8ED"/>
          </a:solidFill>
          <a:ln w="12700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5" name="Rounded Rectangle 4"/>
          <p:cNvSpPr/>
          <p:nvPr/>
        </p:nvSpPr>
        <p:spPr>
          <a:xfrm>
            <a:off x="1419736" y="907034"/>
            <a:ext cx="2509461" cy="317462"/>
          </a:xfrm>
          <a:prstGeom prst="roundRect">
            <a:avLst/>
          </a:prstGeom>
          <a:solidFill>
            <a:srgbClr val="C6D8ED"/>
          </a:solidFill>
          <a:ln w="12700">
            <a:solidFill>
              <a:srgbClr val="C6D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6" name="Oval 5"/>
          <p:cNvSpPr/>
          <p:nvPr/>
        </p:nvSpPr>
        <p:spPr>
          <a:xfrm>
            <a:off x="1480204" y="963723"/>
            <a:ext cx="181407" cy="181407"/>
          </a:xfrm>
          <a:prstGeom prst="ellipse">
            <a:avLst/>
          </a:prstGeom>
          <a:solidFill>
            <a:srgbClr val="37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7" name="TextBox 6"/>
          <p:cNvSpPr txBox="1"/>
          <p:nvPr/>
        </p:nvSpPr>
        <p:spPr>
          <a:xfrm>
            <a:off x="1714522" y="931056"/>
            <a:ext cx="2169322" cy="246742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l"/>
            <a:r>
              <a:rPr sz="1405" b="1">
                <a:solidFill>
                  <a:srgbClr val="142D4E"/>
                </a:solidFill>
                <a:latin typeface="Aptos"/>
              </a:rPr>
              <a:t>Evaluation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5556" y="1300082"/>
            <a:ext cx="2305378" cy="1085682"/>
          </a:xfrm>
          <a:prstGeom prst="rect">
            <a:avLst/>
          </a:prstGeom>
          <a:noFill/>
        </p:spPr>
        <p:txBody>
          <a:bodyPr wrap="square" lIns="15117" rIns="15117">
            <a:spAutoFit/>
          </a:bodyPr>
          <a:lstStyle/>
          <a:p>
            <a:pPr>
              <a:spcAft>
                <a:spcPts val="413"/>
              </a:spcAft>
              <a:defRPr sz="1100">
                <a:solidFill>
                  <a:srgbClr val="2B3848"/>
                </a:solidFill>
                <a:latin typeface="Aptos"/>
              </a:defRPr>
            </a:pPr>
            <a:r>
              <a:rPr sz="909"/>
              <a:t>• MSE – lower is better.</a:t>
            </a:r>
          </a:p>
          <a:p>
            <a:pPr>
              <a:spcAft>
                <a:spcPts val="413"/>
              </a:spcAft>
              <a:defRPr sz="1100">
                <a:solidFill>
                  <a:srgbClr val="2B3848"/>
                </a:solidFill>
                <a:latin typeface="Aptos"/>
              </a:defRPr>
            </a:pPr>
            <a:r>
              <a:rPr sz="909"/>
              <a:t>• MAE – lower is better.</a:t>
            </a:r>
          </a:p>
          <a:p>
            <a:pPr>
              <a:spcAft>
                <a:spcPts val="413"/>
              </a:spcAft>
              <a:defRPr sz="1100">
                <a:solidFill>
                  <a:srgbClr val="2B3848"/>
                </a:solidFill>
                <a:latin typeface="Aptos"/>
              </a:defRPr>
            </a:pPr>
            <a:r>
              <a:rPr sz="909"/>
              <a:t>• SSIM – higher means greater structural similarity.</a:t>
            </a:r>
          </a:p>
          <a:p>
            <a:pPr>
              <a:spcAft>
                <a:spcPts val="413"/>
              </a:spcAft>
              <a:defRPr sz="1100">
                <a:solidFill>
                  <a:srgbClr val="2B3848"/>
                </a:solidFill>
                <a:latin typeface="Aptos"/>
              </a:defRPr>
            </a:pPr>
            <a:r>
              <a:rPr sz="909"/>
              <a:t>• PSNR – higher indicates better reconstruction quality.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71072" y="831447"/>
            <a:ext cx="6696934" cy="1587310"/>
          </a:xfrm>
          <a:prstGeom prst="roundRect">
            <a:avLst/>
          </a:prstGeom>
          <a:solidFill>
            <a:srgbClr val="D3C7E5"/>
          </a:solidFill>
          <a:ln w="12700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10" name="Rounded Rectangle 9"/>
          <p:cNvSpPr/>
          <p:nvPr/>
        </p:nvSpPr>
        <p:spPr>
          <a:xfrm>
            <a:off x="4269334" y="907034"/>
            <a:ext cx="6500410" cy="317462"/>
          </a:xfrm>
          <a:prstGeom prst="roundRect">
            <a:avLst/>
          </a:prstGeom>
          <a:solidFill>
            <a:srgbClr val="D3C7E5"/>
          </a:solidFill>
          <a:ln w="12700">
            <a:solidFill>
              <a:srgbClr val="D3C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11" name="Oval 10"/>
          <p:cNvSpPr/>
          <p:nvPr/>
        </p:nvSpPr>
        <p:spPr>
          <a:xfrm>
            <a:off x="4329803" y="963723"/>
            <a:ext cx="181407" cy="181407"/>
          </a:xfrm>
          <a:prstGeom prst="ellipse">
            <a:avLst/>
          </a:prstGeom>
          <a:solidFill>
            <a:srgbClr val="7D4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12" name="TextBox 11"/>
          <p:cNvSpPr txBox="1"/>
          <p:nvPr/>
        </p:nvSpPr>
        <p:spPr>
          <a:xfrm>
            <a:off x="4564120" y="931056"/>
            <a:ext cx="6160273" cy="246742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l"/>
            <a:r>
              <a:rPr sz="1405" b="1">
                <a:solidFill>
                  <a:srgbClr val="142D4E"/>
                </a:solidFill>
                <a:latin typeface="Aptos"/>
              </a:rPr>
              <a:t>Mean reconstruction quality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2713" y="1284964"/>
            <a:ext cx="1171586" cy="302345"/>
          </a:xfrm>
          <a:prstGeom prst="roundRect">
            <a:avLst/>
          </a:prstGeom>
          <a:solidFill>
            <a:srgbClr val="C6D8ED"/>
          </a:solidFill>
          <a:ln w="12700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14" name="TextBox 13"/>
          <p:cNvSpPr txBox="1"/>
          <p:nvPr/>
        </p:nvSpPr>
        <p:spPr>
          <a:xfrm>
            <a:off x="4397831" y="1348520"/>
            <a:ext cx="1141351" cy="160117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ctr"/>
            <a:r>
              <a:rPr sz="842" b="1">
                <a:solidFill>
                  <a:srgbClr val="142D4E"/>
                </a:solidFill>
                <a:latin typeface="Aptos"/>
              </a:rPr>
              <a:t>Class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54299" y="1284964"/>
            <a:ext cx="1073324" cy="302345"/>
          </a:xfrm>
          <a:prstGeom prst="roundRect">
            <a:avLst/>
          </a:prstGeom>
          <a:solidFill>
            <a:srgbClr val="C6D8ED"/>
          </a:solidFill>
          <a:ln w="12700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16" name="TextBox 15"/>
          <p:cNvSpPr txBox="1"/>
          <p:nvPr/>
        </p:nvSpPr>
        <p:spPr>
          <a:xfrm>
            <a:off x="5569416" y="1348520"/>
            <a:ext cx="1043089" cy="160117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ctr"/>
            <a:r>
              <a:rPr sz="842" b="1">
                <a:solidFill>
                  <a:srgbClr val="142D4E"/>
                </a:solidFill>
                <a:latin typeface="Aptos"/>
              </a:rPr>
              <a:t>MSE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27622" y="1284964"/>
            <a:ext cx="1073324" cy="302345"/>
          </a:xfrm>
          <a:prstGeom prst="roundRect">
            <a:avLst/>
          </a:prstGeom>
          <a:solidFill>
            <a:srgbClr val="C6D8ED"/>
          </a:solidFill>
          <a:ln w="12700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18" name="TextBox 17"/>
          <p:cNvSpPr txBox="1"/>
          <p:nvPr/>
        </p:nvSpPr>
        <p:spPr>
          <a:xfrm>
            <a:off x="6642740" y="1348520"/>
            <a:ext cx="1043089" cy="160117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ctr"/>
            <a:r>
              <a:rPr sz="842" b="1">
                <a:solidFill>
                  <a:srgbClr val="142D4E"/>
                </a:solidFill>
                <a:latin typeface="Aptos"/>
              </a:rPr>
              <a:t>MAE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00945" y="1284964"/>
            <a:ext cx="1073324" cy="302345"/>
          </a:xfrm>
          <a:prstGeom prst="roundRect">
            <a:avLst/>
          </a:prstGeom>
          <a:solidFill>
            <a:srgbClr val="C6D8ED"/>
          </a:solidFill>
          <a:ln w="12700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20" name="TextBox 19"/>
          <p:cNvSpPr txBox="1"/>
          <p:nvPr/>
        </p:nvSpPr>
        <p:spPr>
          <a:xfrm>
            <a:off x="7716063" y="1348520"/>
            <a:ext cx="1043089" cy="160117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ctr"/>
            <a:r>
              <a:rPr sz="842" b="1">
                <a:solidFill>
                  <a:srgbClr val="142D4E"/>
                </a:solidFill>
                <a:latin typeface="Aptos"/>
              </a:rPr>
              <a:t>SSIM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74270" y="1284964"/>
            <a:ext cx="1209379" cy="302345"/>
          </a:xfrm>
          <a:prstGeom prst="roundRect">
            <a:avLst/>
          </a:prstGeom>
          <a:solidFill>
            <a:srgbClr val="C6D8ED"/>
          </a:solidFill>
          <a:ln w="12700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22" name="TextBox 21"/>
          <p:cNvSpPr txBox="1"/>
          <p:nvPr/>
        </p:nvSpPr>
        <p:spPr>
          <a:xfrm>
            <a:off x="8789386" y="1348520"/>
            <a:ext cx="1179144" cy="160117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ctr"/>
            <a:r>
              <a:rPr sz="842" b="1">
                <a:solidFill>
                  <a:srgbClr val="142D4E"/>
                </a:solidFill>
                <a:latin typeface="Aptos"/>
              </a:rPr>
              <a:t>PSNR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2713" y="1617544"/>
            <a:ext cx="1171586" cy="302345"/>
          </a:xfrm>
          <a:prstGeom prst="roundRect">
            <a:avLst/>
          </a:prstGeom>
          <a:solidFill>
            <a:srgbClr val="C2DED1"/>
          </a:solidFill>
          <a:ln w="12700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24" name="TextBox 23"/>
          <p:cNvSpPr txBox="1"/>
          <p:nvPr/>
        </p:nvSpPr>
        <p:spPr>
          <a:xfrm>
            <a:off x="4397831" y="1679721"/>
            <a:ext cx="1141351" cy="162873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ctr"/>
            <a:r>
              <a:rPr sz="860" b="1">
                <a:solidFill>
                  <a:srgbClr val="142D4E"/>
                </a:solidFill>
                <a:latin typeface="Aptos"/>
              </a:rPr>
              <a:t>Healthy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554299" y="1617544"/>
            <a:ext cx="1073324" cy="302345"/>
          </a:xfrm>
          <a:prstGeom prst="roundRect">
            <a:avLst/>
          </a:prstGeom>
          <a:solidFill>
            <a:srgbClr val="C2DED1"/>
          </a:solidFill>
          <a:ln w="12700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26" name="TextBox 25"/>
          <p:cNvSpPr txBox="1"/>
          <p:nvPr/>
        </p:nvSpPr>
        <p:spPr>
          <a:xfrm>
            <a:off x="5569416" y="1679721"/>
            <a:ext cx="1043089" cy="162873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ctr"/>
            <a:r>
              <a:rPr sz="860" b="0">
                <a:solidFill>
                  <a:srgbClr val="142D4E"/>
                </a:solidFill>
                <a:latin typeface="Aptos"/>
              </a:rPr>
              <a:t>0.0040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27622" y="1617544"/>
            <a:ext cx="1073324" cy="302345"/>
          </a:xfrm>
          <a:prstGeom prst="roundRect">
            <a:avLst/>
          </a:prstGeom>
          <a:solidFill>
            <a:srgbClr val="C2DED1"/>
          </a:solidFill>
          <a:ln w="12700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28" name="TextBox 27"/>
          <p:cNvSpPr txBox="1"/>
          <p:nvPr/>
        </p:nvSpPr>
        <p:spPr>
          <a:xfrm>
            <a:off x="6642740" y="1679721"/>
            <a:ext cx="1043089" cy="162873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ctr"/>
            <a:r>
              <a:rPr sz="860" b="0">
                <a:solidFill>
                  <a:srgbClr val="142D4E"/>
                </a:solidFill>
                <a:latin typeface="Aptos"/>
              </a:rPr>
              <a:t>0.0377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00945" y="1617544"/>
            <a:ext cx="1073324" cy="302345"/>
          </a:xfrm>
          <a:prstGeom prst="roundRect">
            <a:avLst/>
          </a:prstGeom>
          <a:solidFill>
            <a:srgbClr val="C2DED1"/>
          </a:solidFill>
          <a:ln w="12700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30" name="TextBox 29"/>
          <p:cNvSpPr txBox="1"/>
          <p:nvPr/>
        </p:nvSpPr>
        <p:spPr>
          <a:xfrm>
            <a:off x="7716063" y="1679721"/>
            <a:ext cx="1043089" cy="162873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ctr"/>
            <a:r>
              <a:rPr sz="860" b="0">
                <a:solidFill>
                  <a:srgbClr val="142D4E"/>
                </a:solidFill>
                <a:latin typeface="Aptos"/>
              </a:rPr>
              <a:t>0.8545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774270" y="1617544"/>
            <a:ext cx="1209379" cy="302345"/>
          </a:xfrm>
          <a:prstGeom prst="roundRect">
            <a:avLst/>
          </a:prstGeom>
          <a:solidFill>
            <a:srgbClr val="C2DED1"/>
          </a:solidFill>
          <a:ln w="12700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32" name="TextBox 31"/>
          <p:cNvSpPr txBox="1"/>
          <p:nvPr/>
        </p:nvSpPr>
        <p:spPr>
          <a:xfrm>
            <a:off x="8789386" y="1679721"/>
            <a:ext cx="1179144" cy="162873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ctr"/>
            <a:r>
              <a:rPr sz="860" b="0">
                <a:solidFill>
                  <a:srgbClr val="142D4E"/>
                </a:solidFill>
                <a:latin typeface="Aptos"/>
              </a:rPr>
              <a:t>24.7869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82713" y="1965240"/>
            <a:ext cx="1171586" cy="302345"/>
          </a:xfrm>
          <a:prstGeom prst="roundRect">
            <a:avLst/>
          </a:prstGeom>
          <a:solidFill>
            <a:srgbClr val="E8C1D0"/>
          </a:solidFill>
          <a:ln w="12700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34" name="TextBox 33"/>
          <p:cNvSpPr txBox="1"/>
          <p:nvPr/>
        </p:nvSpPr>
        <p:spPr>
          <a:xfrm>
            <a:off x="4397831" y="2027417"/>
            <a:ext cx="1141351" cy="162873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ctr"/>
            <a:r>
              <a:rPr sz="860" b="1">
                <a:solidFill>
                  <a:srgbClr val="142D4E"/>
                </a:solidFill>
                <a:latin typeface="Aptos"/>
              </a:rPr>
              <a:t>Faulty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554299" y="1965240"/>
            <a:ext cx="1073324" cy="302345"/>
          </a:xfrm>
          <a:prstGeom prst="roundRect">
            <a:avLst/>
          </a:prstGeom>
          <a:solidFill>
            <a:srgbClr val="E8C1D0"/>
          </a:solidFill>
          <a:ln w="12700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36" name="TextBox 35"/>
          <p:cNvSpPr txBox="1"/>
          <p:nvPr/>
        </p:nvSpPr>
        <p:spPr>
          <a:xfrm>
            <a:off x="5569416" y="2027417"/>
            <a:ext cx="1043089" cy="162873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ctr"/>
            <a:r>
              <a:rPr sz="860" b="0">
                <a:solidFill>
                  <a:srgbClr val="142D4E"/>
                </a:solidFill>
                <a:latin typeface="Aptos"/>
              </a:rPr>
              <a:t>0.0047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27622" y="1965240"/>
            <a:ext cx="1073324" cy="302345"/>
          </a:xfrm>
          <a:prstGeom prst="roundRect">
            <a:avLst/>
          </a:prstGeom>
          <a:solidFill>
            <a:srgbClr val="E8C1D0"/>
          </a:solidFill>
          <a:ln w="12700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38" name="TextBox 37"/>
          <p:cNvSpPr txBox="1"/>
          <p:nvPr/>
        </p:nvSpPr>
        <p:spPr>
          <a:xfrm>
            <a:off x="6642740" y="2027417"/>
            <a:ext cx="1043089" cy="162873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ctr"/>
            <a:r>
              <a:rPr sz="860" b="0">
                <a:solidFill>
                  <a:srgbClr val="142D4E"/>
                </a:solidFill>
                <a:latin typeface="Aptos"/>
              </a:rPr>
              <a:t>0.0418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00945" y="1965240"/>
            <a:ext cx="1073324" cy="302345"/>
          </a:xfrm>
          <a:prstGeom prst="roundRect">
            <a:avLst/>
          </a:prstGeom>
          <a:solidFill>
            <a:srgbClr val="E8C1D0"/>
          </a:solidFill>
          <a:ln w="12700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40" name="TextBox 39"/>
          <p:cNvSpPr txBox="1"/>
          <p:nvPr/>
        </p:nvSpPr>
        <p:spPr>
          <a:xfrm>
            <a:off x="7716063" y="2027417"/>
            <a:ext cx="1043089" cy="162873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ctr"/>
            <a:r>
              <a:rPr sz="860" b="0">
                <a:solidFill>
                  <a:srgbClr val="142D4E"/>
                </a:solidFill>
                <a:latin typeface="Aptos"/>
              </a:rPr>
              <a:t>0.7939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774270" y="1965240"/>
            <a:ext cx="1209379" cy="302345"/>
          </a:xfrm>
          <a:prstGeom prst="roundRect">
            <a:avLst/>
          </a:prstGeom>
          <a:solidFill>
            <a:srgbClr val="E8C1D0"/>
          </a:solidFill>
          <a:ln w="12700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42" name="TextBox 41"/>
          <p:cNvSpPr txBox="1"/>
          <p:nvPr/>
        </p:nvSpPr>
        <p:spPr>
          <a:xfrm>
            <a:off x="8789386" y="2027417"/>
            <a:ext cx="1179144" cy="162873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ctr"/>
            <a:r>
              <a:rPr sz="860" b="0">
                <a:solidFill>
                  <a:srgbClr val="142D4E"/>
                </a:solidFill>
                <a:latin typeface="Aptos"/>
              </a:rPr>
              <a:t>23.3723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321474" y="2585047"/>
            <a:ext cx="9546533" cy="22071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44" name="Rounded Rectangle 43"/>
          <p:cNvSpPr/>
          <p:nvPr/>
        </p:nvSpPr>
        <p:spPr>
          <a:xfrm>
            <a:off x="1419736" y="2660633"/>
            <a:ext cx="9350009" cy="317462"/>
          </a:xfrm>
          <a:prstGeom prst="roundRect">
            <a:avLst/>
          </a:prstGeom>
          <a:solidFill>
            <a:srgbClr val="ECD9A5"/>
          </a:solidFill>
          <a:ln w="12700">
            <a:solidFill>
              <a:srgbClr val="ECD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45" name="Oval 44"/>
          <p:cNvSpPr/>
          <p:nvPr/>
        </p:nvSpPr>
        <p:spPr>
          <a:xfrm>
            <a:off x="1480204" y="2717322"/>
            <a:ext cx="181407" cy="181407"/>
          </a:xfrm>
          <a:prstGeom prst="ellipse">
            <a:avLst/>
          </a:prstGeom>
          <a:solidFill>
            <a:srgbClr val="B7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46" name="TextBox 45"/>
          <p:cNvSpPr txBox="1"/>
          <p:nvPr/>
        </p:nvSpPr>
        <p:spPr>
          <a:xfrm>
            <a:off x="1714522" y="2684655"/>
            <a:ext cx="9009871" cy="246742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l"/>
            <a:r>
              <a:rPr sz="1405" b="1">
                <a:solidFill>
                  <a:srgbClr val="142D4E"/>
                </a:solidFill>
                <a:latin typeface="Aptos"/>
              </a:rPr>
              <a:t>Individual error values and class means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321474" y="4935776"/>
            <a:ext cx="9546533" cy="521545"/>
          </a:xfrm>
          <a:prstGeom prst="roundRect">
            <a:avLst/>
          </a:prstGeom>
          <a:solidFill>
            <a:srgbClr val="C2DED1"/>
          </a:solidFill>
          <a:ln w="12700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88"/>
          </a:p>
        </p:txBody>
      </p:sp>
      <p:sp>
        <p:nvSpPr>
          <p:cNvPr id="49" name="TextBox 48"/>
          <p:cNvSpPr txBox="1"/>
          <p:nvPr/>
        </p:nvSpPr>
        <p:spPr>
          <a:xfrm>
            <a:off x="1472646" y="5036317"/>
            <a:ext cx="589572" cy="176851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l"/>
            <a:r>
              <a:rPr sz="951" b="1">
                <a:solidFill>
                  <a:srgbClr val="142D4E"/>
                </a:solidFill>
                <a:latin typeface="Aptos"/>
              </a:rPr>
              <a:t>RESULT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024425" y="4988531"/>
            <a:ext cx="8654616" cy="302655"/>
          </a:xfrm>
          <a:prstGeom prst="rect">
            <a:avLst/>
          </a:prstGeom>
          <a:noFill/>
        </p:spPr>
        <p:txBody>
          <a:bodyPr wrap="square" lIns="37793" tIns="15117" rIns="37793" bIns="15117" anchor="ctr">
            <a:spAutoFit/>
          </a:bodyPr>
          <a:lstStyle/>
          <a:p>
            <a:pPr algn="l"/>
            <a:r>
              <a:rPr sz="884" b="0">
                <a:solidFill>
                  <a:srgbClr val="2B3848"/>
                </a:solidFill>
                <a:latin typeface="Aptos"/>
              </a:rPr>
              <a:t>Healthy images were reconstructed slightly better overall: lower MSE/MAE and higher SSIM/PSNR. This indicates that the autoencoder preserves Healthy-class structure more accurately than Faulty-class structure for the sampled images.</a:t>
            </a:r>
          </a:p>
        </p:txBody>
      </p:sp>
      <p:pic>
        <p:nvPicPr>
          <p:cNvPr id="52" name="Bilde 51">
            <a:extLst>
              <a:ext uri="{FF2B5EF4-FFF2-40B4-BE49-F238E27FC236}">
                <a16:creationId xmlns:a16="http://schemas.microsoft.com/office/drawing/2014/main" id="{58266D5B-0969-8B8F-0307-522235B201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1474" y="2946515"/>
            <a:ext cx="9754880" cy="1916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7546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9a50db0-214f-4c4e-8b92-a032d7d5f374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2B13B554DC97C47960D706749AC362A" ma:contentTypeVersion="13" ma:contentTypeDescription="Create a new document." ma:contentTypeScope="" ma:versionID="4b0d2d009cabf04db25ff83888905e1c">
  <xsd:schema xmlns:xsd="http://www.w3.org/2001/XMLSchema" xmlns:xs="http://www.w3.org/2001/XMLSchema" xmlns:p="http://schemas.microsoft.com/office/2006/metadata/properties" xmlns:ns3="e9a50db0-214f-4c4e-8b92-a032d7d5f374" xmlns:ns4="e68b6220-2c7c-42ff-b27f-9e0207ef630b" targetNamespace="http://schemas.microsoft.com/office/2006/metadata/properties" ma:root="true" ma:fieldsID="fdd805a5209ec87dd3fe3139c0b4cc20" ns3:_="" ns4:_="">
    <xsd:import namespace="e9a50db0-214f-4c4e-8b92-a032d7d5f374"/>
    <xsd:import namespace="e68b6220-2c7c-42ff-b27f-9e0207ef630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a50db0-214f-4c4e-8b92-a032d7d5f37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68b6220-2c7c-42ff-b27f-9e0207ef630b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F05771F-0C49-4126-A621-E21714D794BA}">
  <ds:schemaRefs>
    <ds:schemaRef ds:uri="e9a50db0-214f-4c4e-8b92-a032d7d5f374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86BE3491-5358-41D2-BDBE-03931B2482E5}">
  <ds:schemaRefs>
    <ds:schemaRef ds:uri="e68b6220-2c7c-42ff-b27f-9e0207ef630b"/>
    <ds:schemaRef ds:uri="e9a50db0-214f-4c4e-8b92-a032d7d5f37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CC8DA41-57A1-4712-8255-D504CF2AE0B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2551</Words>
  <Application>Microsoft Office PowerPoint</Application>
  <PresentationFormat>Egendefinert</PresentationFormat>
  <Paragraphs>458</Paragraphs>
  <Slides>18</Slides>
  <Notes>6</Notes>
  <HiddenSlides>0</HiddenSlides>
  <MMClips>0</MMClips>
  <ScaleCrop>false</ScaleCrop>
  <HeadingPairs>
    <vt:vector size="6" baseType="variant">
      <vt:variant>
        <vt:lpstr>Brukte skrifter</vt:lpstr>
      </vt:variant>
      <vt:variant>
        <vt:i4>6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18</vt:i4>
      </vt:variant>
    </vt:vector>
  </HeadingPairs>
  <TitlesOfParts>
    <vt:vector size="25" baseType="lpstr">
      <vt:lpstr>Aptos</vt:lpstr>
      <vt:lpstr>Aptos Display</vt:lpstr>
      <vt:lpstr>Aptos Mono</vt:lpstr>
      <vt:lpstr>Arial</vt:lpstr>
      <vt:lpstr>Calibri</vt:lpstr>
      <vt:lpstr>Consolas</vt:lpstr>
      <vt:lpstr>Office Theme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Renwa Hamid</cp:lastModifiedBy>
  <cp:revision>521</cp:revision>
  <dcterms:created xsi:type="dcterms:W3CDTF">2026-09-24T00:30:55Z</dcterms:created>
  <dcterms:modified xsi:type="dcterms:W3CDTF">2026-10-02T11:28:07Z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95cf23d-70b0-4a80-9221-1d774ac27fb2_Enabled">
    <vt:lpwstr>true</vt:lpwstr>
  </property>
  <property fmtid="{D5CDD505-2E9C-101B-9397-08002B2CF9AE}" pid="3" name="MSIP_Label_695cf23d-70b0-4a80-9221-1d774ac27fb2_SetDate">
    <vt:lpwstr>2026-09-24T02:18:09Z</vt:lpwstr>
  </property>
  <property fmtid="{D5CDD505-2E9C-101B-9397-08002B2CF9AE}" pid="4" name="MSIP_Label_695cf23d-70b0-4a80-9221-1d774ac27fb2_Method">
    <vt:lpwstr>Standard</vt:lpwstr>
  </property>
  <property fmtid="{D5CDD505-2E9C-101B-9397-08002B2CF9AE}" pid="5" name="MSIP_Label_695cf23d-70b0-4a80-9221-1d774ac27fb2_Name">
    <vt:lpwstr>Document internal</vt:lpwstr>
  </property>
  <property fmtid="{D5CDD505-2E9C-101B-9397-08002B2CF9AE}" pid="6" name="MSIP_Label_695cf23d-70b0-4a80-9221-1d774ac27fb2_SiteId">
    <vt:lpwstr>8482881e-3699-4b3f-b135-cf4800bc1efb</vt:lpwstr>
  </property>
  <property fmtid="{D5CDD505-2E9C-101B-9397-08002B2CF9AE}" pid="7" name="MSIP_Label_695cf23d-70b0-4a80-9221-1d774ac27fb2_ActionId">
    <vt:lpwstr>8776f8da-33a2-4d73-ab8c-02496a9f9c14</vt:lpwstr>
  </property>
  <property fmtid="{D5CDD505-2E9C-101B-9397-08002B2CF9AE}" pid="8" name="MSIP_Label_695cf23d-70b0-4a80-9221-1d774ac27fb2_ContentBits">
    <vt:lpwstr>0</vt:lpwstr>
  </property>
  <property fmtid="{D5CDD505-2E9C-101B-9397-08002B2CF9AE}" pid="9" name="MSIP_Label_695cf23d-70b0-4a80-9221-1d774ac27fb2_Tag">
    <vt:lpwstr>10, 3, 0, 1</vt:lpwstr>
  </property>
  <property fmtid="{D5CDD505-2E9C-101B-9397-08002B2CF9AE}" pid="10" name="ContentTypeId">
    <vt:lpwstr>0x01010062B13B554DC97C47960D706749AC362A</vt:lpwstr>
  </property>
</Properties>
</file>